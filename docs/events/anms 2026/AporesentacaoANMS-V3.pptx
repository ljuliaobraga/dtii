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8" r:id="rId3"/>
    <p:sldId id="290" r:id="rId4"/>
    <p:sldId id="269" r:id="rId5"/>
    <p:sldId id="263" r:id="rId6"/>
    <p:sldId id="270" r:id="rId7"/>
    <p:sldId id="271" r:id="rId8"/>
    <p:sldId id="287" r:id="rId9"/>
    <p:sldId id="260" r:id="rId10"/>
    <p:sldId id="264" r:id="rId11"/>
    <p:sldId id="265" r:id="rId12"/>
    <p:sldId id="266" r:id="rId13"/>
    <p:sldId id="267" r:id="rId14"/>
    <p:sldId id="272" r:id="rId15"/>
    <p:sldId id="261" r:id="rId16"/>
    <p:sldId id="277" r:id="rId17"/>
    <p:sldId id="289" r:id="rId18"/>
    <p:sldId id="257" r:id="rId19"/>
    <p:sldId id="291" r:id="rId20"/>
    <p:sldId id="292" r:id="rId21"/>
    <p:sldId id="258" r:id="rId22"/>
    <p:sldId id="286" r:id="rId23"/>
    <p:sldId id="276" r:id="rId24"/>
    <p:sldId id="278" r:id="rId2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p:cViewPr varScale="1">
        <p:scale>
          <a:sx n="81" d="100"/>
          <a:sy n="81" d="100"/>
        </p:scale>
        <p:origin x="120" y="4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535144-7C10-4E90-973A-18F0031EE1E0}" type="datetimeFigureOut">
              <a:rPr lang="pt-BR" smtClean="0"/>
              <a:t>21/10/2026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8FBECB-438F-4C64-8989-0AEF75539731}" type="slidenum">
              <a:rPr lang="pt-BR" smtClean="0"/>
              <a:t>‹nº›</a:t>
            </a:fld>
            <a:endParaRPr lang="pt-BR"/>
          </a:p>
        </p:txBody>
      </p:sp>
    </p:spTree>
    <p:extLst>
      <p:ext uri="{BB962C8B-B14F-4D97-AF65-F5344CB8AC3E}">
        <p14:creationId xmlns:p14="http://schemas.microsoft.com/office/powerpoint/2010/main" val="1496119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compliance follows meaning, not geography. Walk the audience along the path: a hospital in São Paulo sends health data to Europe through three Autonomous Systems. The rule comes from LGPD and GDPR. The knowledge base has three parts: TBox holds the rules, RBox says how obligations propagate along relations, ABox holds the current facts fed by the Digital Twin.</a:t>
            </a:r>
          </a:p>
          <a:p>
            <a:endParaRPr lang="en-US" dirty="0"/>
          </a:p>
          <a:p>
            <a:r>
              <a:rPr lang="pt-BR" dirty="0"/>
              <a:t>Ideia central: a conformidade segue o significado, não a geografia. Vamos acompanhar o percurso: um hospital em São Paulo envia dados de saúde para a Europa por meio de três Sistemas Autônomos. A regra deriva da LGPD e do GDPR. A base de conhecimento é composta por três partes: a TBox contém as regras; a RBox define como as obrigações se propagam ao longo das relações; e a ABox armazena os fatos atuais, alimentados pelo Gêmeo Digital (Digital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how raw telemetry becomes meaning. Semantic Elevation turns gNMI, YANG-Push and SNMP data into ABox facts the reasoner can use. Bottom: a BGP failure diverts flow F. Monitor sees the new route; Analyse finds the violation; Plan finds a compliant route via AS-D; Execute pushes it with NETCONF only after the reasoner confirms it satisfies the rules. All four stages share the ontology as their knowledge base.</a:t>
            </a:r>
          </a:p>
          <a:p>
            <a:endParaRPr lang="en-US" dirty="0"/>
          </a:p>
          <a:p>
            <a:r>
              <a:rPr lang="pt-BR" dirty="0"/>
              <a:t>Linha superior: como a telemetria bruta se transforma em significado. A "Elevação Semântica" (Semantic </a:t>
            </a:r>
            <a:r>
              <a:rPr lang="pt-BR" dirty="0" err="1"/>
              <a:t>Elevation</a:t>
            </a:r>
            <a:r>
              <a:rPr lang="pt-BR" dirty="0"/>
              <a:t>) converte dados de gNMI, YANG-</a:t>
            </a:r>
            <a:r>
              <a:rPr lang="pt-BR" dirty="0" err="1"/>
              <a:t>Push</a:t>
            </a:r>
            <a:r>
              <a:rPr lang="pt-BR" dirty="0"/>
              <a:t> e SNMP em fatos ABox que o mecanismo de raciocínio (</a:t>
            </a:r>
            <a:r>
              <a:rPr lang="pt-BR" dirty="0" err="1"/>
              <a:t>reasoner</a:t>
            </a:r>
            <a:r>
              <a:rPr lang="pt-BR" dirty="0"/>
              <a:t>) pode utilizar. Parte inferior: uma falha no BGP desvia o fluxo F. O monitor detecta a nova rota; o módulo de análise identifica a violação; o módulo de planejamento encontra uma rota em conformidade via AS-D; o módulo de execução aplica essa rota via NETCONF, mas apenas após o mecanismo de raciocínio confirmar que ela atende às regras. As quatro etapas compartilham a ontologia como sua base de conhecimento.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botnet floods the edge link Link_01, which carries the critical DNS service. Walk through the MAPE-K loop: Monitor turns telemetry into facts; Analyse uses the RBox to infer that DNS is at risk, without anyone stating it; Plan applies a TBox rule that prescribes edge mitigation; Execute pushes a filter via NETCONF and records the new state, closing the loop. The step numbers refer to the sequence diagram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numbered arrow belongs to one MAPE-K stage, shown in the coloured chips below. The whole loop runs without human intervention; the decision is made in the logical core and only then turned into a router configuration.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RBox property chain in action. Saturates followed by supports implies threatens, so the reasoner infers that DNS is at risk. Right: four advantages over plain IP blocking. Context awareness uses agreements modelled as relators; mereological resilience uses the part-whole structure of the network; traceability comes from the axioms; compliance links back to Use Case 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2CD4AF-BCED-5B09-336A-A054A26731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D839D921-C5A3-BD42-CA1C-0EE30801D2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8DDE442B-D937-4CF0-22E8-F325B341DF2D}"/>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740D39DC-A549-0D77-417A-66B22357609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C737BB8-D09F-9632-A59F-7AE0775A2A7F}"/>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1214491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AA4FD5-F6AE-488C-D2C7-60A57D50252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FE96E22-2412-9DB8-9EF7-5104F677D60C}"/>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C400172-1A4E-36DB-E43C-DDBEF0022995}"/>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5FF78F38-90AF-77B2-DB00-844D032CBB77}"/>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38BDC79-8C5F-9E85-1C32-6A4768903E9E}"/>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92234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33496B-901E-8F3F-57D7-2CC629F57A6B}"/>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D35C5907-867C-780E-D65C-5D3216DD50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76D8B629-6968-F797-FA32-3B3920EC2576}"/>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EE78508D-1C8F-4F5C-CD60-15AFEFD3453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E75ED96-B923-C41B-CFA0-76A0518A86EE}"/>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3227136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6A01AB-B013-8E01-84A2-3006039C0B92}"/>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9C1AE1E3-908A-B51A-39DC-8E368CE5FCDB}"/>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BDA8E9DA-5BAF-8C29-B112-230D3A75E17A}"/>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64A5A8C1-CEDB-B8C2-5F35-B13DEB6DAB0A}"/>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6" name="Espaço Reservado para Rodapé 5">
            <a:extLst>
              <a:ext uri="{FF2B5EF4-FFF2-40B4-BE49-F238E27FC236}">
                <a16:creationId xmlns:a16="http://schemas.microsoft.com/office/drawing/2014/main" id="{9169505C-187C-F993-E2E2-95C0FB61486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3768FE4-8A22-4148-2C71-5314AECEC064}"/>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2344066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3B1B7F-B0B3-B899-86CC-041AF3DC833C}"/>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CB88325-B86E-1456-C911-058A1B3360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3A2E685F-E39C-63E4-838D-E08B74BB1362}"/>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3D9E5B6F-6B43-874A-63D0-62B5C096F4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FAA8AA2-EA84-8F9C-536D-41C3EF03AA4E}"/>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1A37373B-FE2E-4C45-AB34-17A658D89A66}"/>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8" name="Espaço Reservado para Rodapé 7">
            <a:extLst>
              <a:ext uri="{FF2B5EF4-FFF2-40B4-BE49-F238E27FC236}">
                <a16:creationId xmlns:a16="http://schemas.microsoft.com/office/drawing/2014/main" id="{CCDBECEC-166D-FBBB-BA23-5D943375B878}"/>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C7B235BE-2A50-BA71-F4AD-2228DE6A2123}"/>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905203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A94F20-B1FC-A81E-CD0D-FC7759F65FA2}"/>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822A1D0D-7E87-AB1F-5199-535AB4E5B1DF}"/>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4" name="Espaço Reservado para Rodapé 3">
            <a:extLst>
              <a:ext uri="{FF2B5EF4-FFF2-40B4-BE49-F238E27FC236}">
                <a16:creationId xmlns:a16="http://schemas.microsoft.com/office/drawing/2014/main" id="{C8C3289F-134F-57D9-E6B5-92F30F1EC6A3}"/>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AC1364B6-7AAF-BAD4-D6F7-BD2BEC5DFF58}"/>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3687172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01D3966C-FC5E-802A-26BA-C6808C5F3363}"/>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3" name="Espaço Reservado para Rodapé 2">
            <a:extLst>
              <a:ext uri="{FF2B5EF4-FFF2-40B4-BE49-F238E27FC236}">
                <a16:creationId xmlns:a16="http://schemas.microsoft.com/office/drawing/2014/main" id="{6BF0B68A-0F54-39F8-E986-5A6D16148ED0}"/>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51084BFD-EBF0-7E69-3B23-9A530E66AB18}"/>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880912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AFDB77-4B9F-2981-7784-F4CE36419586}"/>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21A16F50-837D-0341-A009-542AD68090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561B4B09-C346-0472-9AE7-DDDCF7E263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13F7FAB-9074-3E2F-C1AB-1286709EB0D6}"/>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6" name="Espaço Reservado para Rodapé 5">
            <a:extLst>
              <a:ext uri="{FF2B5EF4-FFF2-40B4-BE49-F238E27FC236}">
                <a16:creationId xmlns:a16="http://schemas.microsoft.com/office/drawing/2014/main" id="{299489C2-0A77-B38C-C4D6-C40DCD95F4C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E74B91DA-3294-5A15-47F6-F8051CB33653}"/>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3438637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1CC1A6-474E-0FAB-17DE-ECF8861E4C43}"/>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E4CDE0DD-EC4A-C5B4-5310-AFC2B1BDF27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004F13A0-9011-E55C-44FC-B20CB7E01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EB720D20-451B-8310-F9F7-7C2F740593A1}"/>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6" name="Espaço Reservado para Rodapé 5">
            <a:extLst>
              <a:ext uri="{FF2B5EF4-FFF2-40B4-BE49-F238E27FC236}">
                <a16:creationId xmlns:a16="http://schemas.microsoft.com/office/drawing/2014/main" id="{CD9AFB10-C283-7933-6B89-C8519B4BA0C0}"/>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BF5A8FC-B11A-2E90-692F-9A01B522F1C2}"/>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3237302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085F3D-8543-C49B-9E43-6D3E567F4DA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D42D29D-2DEC-E540-8DDE-9550D17084E2}"/>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D40490E-1F4A-7924-BCB7-AB44F16B5926}"/>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9FE3B8B4-937B-DEF6-9952-47E6938A9DC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31D3DFA-FCB2-506C-7A2A-69680ADEF744}"/>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4964287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5175726-35EF-ECCE-72FC-FFBFA69480CB}"/>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7DFEADA1-A6C5-6519-9B0B-15008F0746AE}"/>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0E00F13-76DB-DFD7-4A7D-7C9BF2A5F304}"/>
              </a:ext>
            </a:extLst>
          </p:cNvPr>
          <p:cNvSpPr>
            <a:spLocks noGrp="1"/>
          </p:cNvSpPr>
          <p:nvPr>
            <p:ph type="dt" sz="half" idx="10"/>
          </p:nvPr>
        </p:nvSpPr>
        <p:spPr/>
        <p:txBody>
          <a:body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E3717B31-B607-AF86-2ECE-6A2D9D648AB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601902E-428D-E353-1E6F-EBA12984915E}"/>
              </a:ext>
            </a:extLst>
          </p:cNvPr>
          <p:cNvSpPr>
            <a:spLocks noGrp="1"/>
          </p:cNvSpPr>
          <p:nvPr>
            <p:ph type="sldNum" sz="quarter" idx="12"/>
          </p:nvPr>
        </p:nvSpPr>
        <p:spPr/>
        <p:txBody>
          <a:bodyPr/>
          <a:lstStyle/>
          <a:p>
            <a:fld id="{42B78B9F-FD3B-44D5-9A7E-7D0646E5D2D1}" type="slidenum">
              <a:rPr lang="pt-BR" smtClean="0"/>
              <a:t>‹nº›</a:t>
            </a:fld>
            <a:endParaRPr lang="pt-BR"/>
          </a:p>
        </p:txBody>
      </p:sp>
    </p:spTree>
    <p:extLst>
      <p:ext uri="{BB962C8B-B14F-4D97-AF65-F5344CB8AC3E}">
        <p14:creationId xmlns:p14="http://schemas.microsoft.com/office/powerpoint/2010/main" val="990040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_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11274552" cy="685800"/>
          </a:xfrm>
          <a:prstGeom prst="rect">
            <a:avLst/>
          </a:prstGeom>
          <a:noFill/>
          <a:ln/>
        </p:spPr>
        <p:txBody>
          <a:bodyPr wrap="square" rtlCol="0"/>
          <a:lstStyle>
            <a:lvl1pPr marL="0" indent="0">
              <a:buNone/>
              <a:defRPr lang="en-US" sz="3400" b="1" dirty="0">
                <a:solidFill>
                  <a:schemeClr val="tx2"/>
                </a:solidFill>
              </a:defRPr>
            </a:lvl1pPr>
          </a:lstStyle>
          <a:p>
            <a:pPr marL="0" indent="0">
              <a:buNone/>
            </a:pPr>
            <a:endParaRPr lang="en-US" sz="3400" dirty="0"/>
          </a:p>
        </p:txBody>
      </p:sp>
      <p:sp>
        <p:nvSpPr>
          <p:cNvPr id="25" name="Slide Number Placeholder 0"/>
          <p:cNvSpPr>
            <a:spLocks noGrp="1"/>
          </p:cNvSpPr>
          <p:nvPr>
            <p:ph type="sldNum" sz="quarter" idx="4294967295"/>
          </p:nvPr>
        </p:nvSpPr>
        <p:spPr>
          <a:xfrm>
            <a:off x="11338560" y="644652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‹nº›</a:t>
            </a:fld>
            <a:endParaRPr lang="en-US"/>
          </a:p>
        </p:txBody>
      </p:sp>
    </p:spTree>
    <p:extLst>
      <p:ext uri="{BB962C8B-B14F-4D97-AF65-F5344CB8AC3E}">
        <p14:creationId xmlns:p14="http://schemas.microsoft.com/office/powerpoint/2010/main" val="571384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ABD5D2A0-0CC8-9FDF-B51D-DFB4791D47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8D848D12-CE46-A32B-F3BA-D8BEDDBC2E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D4DC822-8AAC-BE4A-E034-58BA8B5455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FB120A-D6E6-4D9F-85E7-7E1BF209D1DA}" type="datetimeFigureOut">
              <a:rPr lang="pt-BR" smtClean="0"/>
              <a:t>18/10/2026</a:t>
            </a:fld>
            <a:endParaRPr lang="pt-BR"/>
          </a:p>
        </p:txBody>
      </p:sp>
      <p:sp>
        <p:nvSpPr>
          <p:cNvPr id="5" name="Espaço Reservado para Rodapé 4">
            <a:extLst>
              <a:ext uri="{FF2B5EF4-FFF2-40B4-BE49-F238E27FC236}">
                <a16:creationId xmlns:a16="http://schemas.microsoft.com/office/drawing/2014/main" id="{9DCA5930-4656-093D-9A1B-710A35A3C0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5E6886BD-B706-7DF8-479F-B87BB9596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B78B9F-FD3B-44D5-9A7E-7D0646E5D2D1}" type="slidenum">
              <a:rPr lang="pt-BR" smtClean="0"/>
              <a:t>‹nº›</a:t>
            </a:fld>
            <a:endParaRPr lang="pt-BR"/>
          </a:p>
        </p:txBody>
      </p:sp>
    </p:spTree>
    <p:extLst>
      <p:ext uri="{BB962C8B-B14F-4D97-AF65-F5344CB8AC3E}">
        <p14:creationId xmlns:p14="http://schemas.microsoft.com/office/powerpoint/2010/main" val="1631443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LJuliaoBraga/dtii"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github.com/LJuliaoBraga/dtii/blob/main/docs/events/anms%202026/2027_anms.pdf" TargetMode="External"/><Relationship Id="rId5" Type="http://schemas.openxmlformats.org/officeDocument/2006/relationships/hyperlink" Target="https://github.com/LJuliaoBraga/dtii/blob/main/docs/pt-br/2026-ProjectDT-II-PT.pdf" TargetMode="External"/><Relationship Id="rId4" Type="http://schemas.openxmlformats.org/officeDocument/2006/relationships/hyperlink" Target="https://github.com/LJuliaoBraga/dtii/blob/main/docs/en-us/2026-ProjectDT-II-EN.pdf"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8636BE7A-12A9-DE72-FB44-09F7223091B3}"/>
              </a:ext>
            </a:extLst>
          </p:cNvPr>
          <p:cNvPicPr>
            <a:picLocks noChangeAspect="1"/>
          </p:cNvPicPr>
          <p:nvPr/>
        </p:nvPicPr>
        <p:blipFill>
          <a:blip r:embed="rId2"/>
          <a:stretch>
            <a:fillRect/>
          </a:stretch>
        </p:blipFill>
        <p:spPr>
          <a:xfrm>
            <a:off x="504044" y="569466"/>
            <a:ext cx="11183911" cy="3439005"/>
          </a:xfrm>
          <a:prstGeom prst="rect">
            <a:avLst/>
          </a:prstGeom>
        </p:spPr>
      </p:pic>
      <p:sp>
        <p:nvSpPr>
          <p:cNvPr id="6" name="CaixaDeTexto 5">
            <a:extLst>
              <a:ext uri="{FF2B5EF4-FFF2-40B4-BE49-F238E27FC236}">
                <a16:creationId xmlns:a16="http://schemas.microsoft.com/office/drawing/2014/main" id="{EEE123BE-E8A7-0689-7088-2B29D316D6ED}"/>
              </a:ext>
            </a:extLst>
          </p:cNvPr>
          <p:cNvSpPr txBox="1"/>
          <p:nvPr/>
        </p:nvSpPr>
        <p:spPr>
          <a:xfrm>
            <a:off x="1547959" y="4987636"/>
            <a:ext cx="9208290" cy="523220"/>
          </a:xfrm>
          <a:prstGeom prst="rect">
            <a:avLst/>
          </a:prstGeom>
          <a:solidFill>
            <a:schemeClr val="bg1">
              <a:lumMod val="85000"/>
            </a:schemeClr>
          </a:solidFill>
          <a:ln w="28575">
            <a:solidFill>
              <a:schemeClr val="tx1"/>
            </a:solidFill>
          </a:ln>
        </p:spPr>
        <p:txBody>
          <a:bodyPr wrap="none" rtlCol="0">
            <a:spAutoFit/>
          </a:bodyPr>
          <a:lstStyle/>
          <a:p>
            <a:r>
              <a:rPr lang="pt-BR" sz="2800" b="1" dirty="0">
                <a:solidFill>
                  <a:srgbClr val="002060"/>
                </a:solidFill>
              </a:rPr>
              <a:t>IFSPe (PE), ITA (SP), UFABC (SP), UFRGS(RS), </a:t>
            </a:r>
            <a:r>
              <a:rPr lang="pt-BR" sz="2800" b="1" dirty="0" err="1">
                <a:solidFill>
                  <a:srgbClr val="002060"/>
                </a:solidFill>
              </a:rPr>
              <a:t>and</a:t>
            </a:r>
            <a:r>
              <a:rPr lang="pt-BR" sz="2800" b="1" dirty="0">
                <a:solidFill>
                  <a:srgbClr val="002060"/>
                </a:solidFill>
              </a:rPr>
              <a:t> UNICAP (PE)</a:t>
            </a:r>
          </a:p>
        </p:txBody>
      </p:sp>
      <p:pic>
        <p:nvPicPr>
          <p:cNvPr id="7" name="Imagem 6" descr="Logo CGI.br">
            <a:extLst>
              <a:ext uri="{FF2B5EF4-FFF2-40B4-BE49-F238E27FC236}">
                <a16:creationId xmlns:a16="http://schemas.microsoft.com/office/drawing/2014/main" id="{FFE3F2AB-2710-A619-1C8A-6EB66C446BCE}"/>
              </a:ext>
            </a:extLst>
          </p:cNvPr>
          <p:cNvPicPr>
            <a:picLocks noChangeAspect="1"/>
          </p:cNvPicPr>
          <p:nvPr/>
        </p:nvPicPr>
        <p:blipFill>
          <a:blip r:embed="rId3"/>
          <a:stretch>
            <a:fillRect/>
          </a:stretch>
        </p:blipFill>
        <p:spPr>
          <a:xfrm>
            <a:off x="10756249" y="6084125"/>
            <a:ext cx="1057275" cy="609600"/>
          </a:xfrm>
          <a:prstGeom prst="rect">
            <a:avLst/>
          </a:prstGeom>
        </p:spPr>
      </p:pic>
    </p:spTree>
    <p:extLst>
      <p:ext uri="{BB962C8B-B14F-4D97-AF65-F5344CB8AC3E}">
        <p14:creationId xmlns:p14="http://schemas.microsoft.com/office/powerpoint/2010/main" val="1589020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8BB15-0C01-DAA3-7B12-65B44D9BD3B0}"/>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1DAEE8E2-6E0E-6897-E39F-0E6F13A3948D}"/>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4" name="CaixaDeTexto 3">
            <a:extLst>
              <a:ext uri="{FF2B5EF4-FFF2-40B4-BE49-F238E27FC236}">
                <a16:creationId xmlns:a16="http://schemas.microsoft.com/office/drawing/2014/main" id="{8F1CE8F9-30D3-4F3A-5911-51E2D25D13B2}"/>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6" name="Retângulo 5">
            <a:extLst>
              <a:ext uri="{FF2B5EF4-FFF2-40B4-BE49-F238E27FC236}">
                <a16:creationId xmlns:a16="http://schemas.microsoft.com/office/drawing/2014/main" id="{113683E3-13C6-2DEF-0F90-5F646CAA7EE9}"/>
              </a:ext>
            </a:extLst>
          </p:cNvPr>
          <p:cNvSpPr/>
          <p:nvPr/>
        </p:nvSpPr>
        <p:spPr>
          <a:xfrm>
            <a:off x="1638787" y="116729"/>
            <a:ext cx="9053899" cy="610594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8" name="CaixaDeTexto 7">
            <a:extLst>
              <a:ext uri="{FF2B5EF4-FFF2-40B4-BE49-F238E27FC236}">
                <a16:creationId xmlns:a16="http://schemas.microsoft.com/office/drawing/2014/main" id="{B86B95E4-ADFE-1D87-88CC-19CCF0B0FCE3}"/>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10" name="CaixaDeTexto 9">
            <a:extLst>
              <a:ext uri="{FF2B5EF4-FFF2-40B4-BE49-F238E27FC236}">
                <a16:creationId xmlns:a16="http://schemas.microsoft.com/office/drawing/2014/main" id="{81555FA8-0A51-D8B5-7327-EAF48E296F0B}"/>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2" name="Slide Number Placeholder 0">
            <a:extLst>
              <a:ext uri="{FF2B5EF4-FFF2-40B4-BE49-F238E27FC236}">
                <a16:creationId xmlns:a16="http://schemas.microsoft.com/office/drawing/2014/main" id="{FC7E9676-E999-6314-3DC6-FEE64F0D9A91}"/>
              </a:ext>
            </a:extLst>
          </p:cNvPr>
          <p:cNvSpPr txBox="1">
            <a:spLocks/>
          </p:cNvSpPr>
          <p:nvPr/>
        </p:nvSpPr>
        <p:spPr>
          <a:xfrm>
            <a:off x="138001" y="6348143"/>
            <a:ext cx="457200" cy="27432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2</a:t>
            </a:fld>
            <a:endParaRPr lang="en-US" dirty="0">
              <a:solidFill>
                <a:srgbClr val="0070C0"/>
              </a:solidFill>
            </a:endParaRPr>
          </a:p>
        </p:txBody>
      </p:sp>
    </p:spTree>
    <p:extLst>
      <p:ext uri="{BB962C8B-B14F-4D97-AF65-F5344CB8AC3E}">
        <p14:creationId xmlns:p14="http://schemas.microsoft.com/office/powerpoint/2010/main" val="2628903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19FA4-3FDB-3190-2DF2-98EB0DC217A5}"/>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970D260D-2AB0-12AC-DA93-701728282A48}"/>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6" name="Retângulo 5">
            <a:extLst>
              <a:ext uri="{FF2B5EF4-FFF2-40B4-BE49-F238E27FC236}">
                <a16:creationId xmlns:a16="http://schemas.microsoft.com/office/drawing/2014/main" id="{0D5E8D7E-A393-45FE-3E8C-3E742300DBE9}"/>
              </a:ext>
            </a:extLst>
          </p:cNvPr>
          <p:cNvSpPr/>
          <p:nvPr/>
        </p:nvSpPr>
        <p:spPr>
          <a:xfrm>
            <a:off x="1638787" y="116729"/>
            <a:ext cx="9053899" cy="610594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8" name="CaixaDeTexto 7">
            <a:extLst>
              <a:ext uri="{FF2B5EF4-FFF2-40B4-BE49-F238E27FC236}">
                <a16:creationId xmlns:a16="http://schemas.microsoft.com/office/drawing/2014/main" id="{257E57D1-6E29-DF2E-E843-DED56108FB9B}"/>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10" name="CaixaDeTexto 9">
            <a:extLst>
              <a:ext uri="{FF2B5EF4-FFF2-40B4-BE49-F238E27FC236}">
                <a16:creationId xmlns:a16="http://schemas.microsoft.com/office/drawing/2014/main" id="{2EEAD6A2-7396-9109-6AE3-F3FECCD73E0F}"/>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5" name="CaixaDeTexto 4">
            <a:extLst>
              <a:ext uri="{FF2B5EF4-FFF2-40B4-BE49-F238E27FC236}">
                <a16:creationId xmlns:a16="http://schemas.microsoft.com/office/drawing/2014/main" id="{17AAA463-2A87-BBBF-FB0D-AEE01E0B398A}"/>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9" name="Slide Number Placeholder 0">
            <a:extLst>
              <a:ext uri="{FF2B5EF4-FFF2-40B4-BE49-F238E27FC236}">
                <a16:creationId xmlns:a16="http://schemas.microsoft.com/office/drawing/2014/main" id="{889CE6CD-F311-0860-3585-8678B84850F0}"/>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3</a:t>
            </a:fld>
            <a:endParaRPr lang="en-US" dirty="0">
              <a:solidFill>
                <a:srgbClr val="0070C0"/>
              </a:solidFill>
            </a:endParaRPr>
          </a:p>
        </p:txBody>
      </p:sp>
    </p:spTree>
    <p:extLst>
      <p:ext uri="{BB962C8B-B14F-4D97-AF65-F5344CB8AC3E}">
        <p14:creationId xmlns:p14="http://schemas.microsoft.com/office/powerpoint/2010/main" val="2202048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B3943-868B-1CAD-3BE1-45D4DDBEE405}"/>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B71E7FAC-7A3B-04C1-F9DE-00BB9FE95D50}"/>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6" name="Retângulo 5">
            <a:extLst>
              <a:ext uri="{FF2B5EF4-FFF2-40B4-BE49-F238E27FC236}">
                <a16:creationId xmlns:a16="http://schemas.microsoft.com/office/drawing/2014/main" id="{C866C20E-697D-DAC1-3BAD-0C7331BEA514}"/>
              </a:ext>
            </a:extLst>
          </p:cNvPr>
          <p:cNvSpPr/>
          <p:nvPr/>
        </p:nvSpPr>
        <p:spPr>
          <a:xfrm>
            <a:off x="1638787" y="116729"/>
            <a:ext cx="9053899" cy="610594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8" name="Retângulo 7">
            <a:extLst>
              <a:ext uri="{FF2B5EF4-FFF2-40B4-BE49-F238E27FC236}">
                <a16:creationId xmlns:a16="http://schemas.microsoft.com/office/drawing/2014/main" id="{63E997A7-28A9-9F2C-CC28-7C1DB1CBF2D9}"/>
              </a:ext>
            </a:extLst>
          </p:cNvPr>
          <p:cNvSpPr/>
          <p:nvPr/>
        </p:nvSpPr>
        <p:spPr>
          <a:xfrm>
            <a:off x="2123769" y="943126"/>
            <a:ext cx="8083931" cy="5104566"/>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10" name="CaixaDeTexto 9">
            <a:extLst>
              <a:ext uri="{FF2B5EF4-FFF2-40B4-BE49-F238E27FC236}">
                <a16:creationId xmlns:a16="http://schemas.microsoft.com/office/drawing/2014/main" id="{9A477091-2AB2-4072-5010-7A61146667C4}"/>
              </a:ext>
            </a:extLst>
          </p:cNvPr>
          <p:cNvSpPr txBox="1"/>
          <p:nvPr/>
        </p:nvSpPr>
        <p:spPr>
          <a:xfrm>
            <a:off x="3757472" y="1010764"/>
            <a:ext cx="4254498" cy="608062"/>
          </a:xfrm>
          <a:prstGeom prst="rect">
            <a:avLst/>
          </a:prstGeom>
          <a:noFill/>
        </p:spPr>
        <p:txBody>
          <a:bodyPr wrap="none" rtlCol="0">
            <a:spAutoFit/>
          </a:bodyPr>
          <a:lstStyle/>
          <a:p>
            <a:r>
              <a:rPr lang="pt-BR" sz="3200" b="1" dirty="0">
                <a:solidFill>
                  <a:schemeClr val="tx2">
                    <a:lumMod val="50000"/>
                  </a:schemeClr>
                </a:solidFill>
              </a:rPr>
              <a:t>Description Logic (OWL)</a:t>
            </a:r>
          </a:p>
          <a:p>
            <a:endParaRPr lang="pt-BR" sz="3200" dirty="0"/>
          </a:p>
        </p:txBody>
      </p:sp>
      <p:sp>
        <p:nvSpPr>
          <p:cNvPr id="12" name="CaixaDeTexto 11">
            <a:extLst>
              <a:ext uri="{FF2B5EF4-FFF2-40B4-BE49-F238E27FC236}">
                <a16:creationId xmlns:a16="http://schemas.microsoft.com/office/drawing/2014/main" id="{1390EBF0-B68B-782D-5B12-05C741335552}"/>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14" name="CaixaDeTexto 13">
            <a:extLst>
              <a:ext uri="{FF2B5EF4-FFF2-40B4-BE49-F238E27FC236}">
                <a16:creationId xmlns:a16="http://schemas.microsoft.com/office/drawing/2014/main" id="{6A0F049D-83F4-242C-BEDA-475EAF4BB52D}"/>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5" name="CaixaDeTexto 4">
            <a:extLst>
              <a:ext uri="{FF2B5EF4-FFF2-40B4-BE49-F238E27FC236}">
                <a16:creationId xmlns:a16="http://schemas.microsoft.com/office/drawing/2014/main" id="{B647BA07-9D50-4FBC-9B3D-3FC38EF81FBE}"/>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9" name="Slide Number Placeholder 0">
            <a:extLst>
              <a:ext uri="{FF2B5EF4-FFF2-40B4-BE49-F238E27FC236}">
                <a16:creationId xmlns:a16="http://schemas.microsoft.com/office/drawing/2014/main" id="{1C45892D-BFC0-2428-1898-60F4F06062D2}"/>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4</a:t>
            </a:fld>
            <a:endParaRPr lang="en-US" dirty="0">
              <a:solidFill>
                <a:srgbClr val="0070C0"/>
              </a:solidFill>
            </a:endParaRPr>
          </a:p>
        </p:txBody>
      </p:sp>
    </p:spTree>
    <p:extLst>
      <p:ext uri="{BB962C8B-B14F-4D97-AF65-F5344CB8AC3E}">
        <p14:creationId xmlns:p14="http://schemas.microsoft.com/office/powerpoint/2010/main" val="2444894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60144-F976-AFC6-F5A3-ABFE2D70DB73}"/>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6772F839-A656-5EFD-6B27-C51E1E161F7E}"/>
              </a:ext>
            </a:extLst>
          </p:cNvPr>
          <p:cNvPicPr>
            <a:picLocks noChangeAspect="1"/>
          </p:cNvPicPr>
          <p:nvPr/>
        </p:nvPicPr>
        <p:blipFill>
          <a:blip r:embed="rId2"/>
          <a:stretch>
            <a:fillRect/>
          </a:stretch>
        </p:blipFill>
        <p:spPr>
          <a:xfrm>
            <a:off x="10877766" y="6096000"/>
            <a:ext cx="1057275" cy="609600"/>
          </a:xfrm>
          <a:prstGeom prst="rect">
            <a:avLst/>
          </a:prstGeom>
        </p:spPr>
      </p:pic>
      <p:sp>
        <p:nvSpPr>
          <p:cNvPr id="20" name="Retângulo 19">
            <a:extLst>
              <a:ext uri="{FF2B5EF4-FFF2-40B4-BE49-F238E27FC236}">
                <a16:creationId xmlns:a16="http://schemas.microsoft.com/office/drawing/2014/main" id="{F0DD5971-A2EC-44BF-CDAC-D928834F6772}"/>
              </a:ext>
            </a:extLst>
          </p:cNvPr>
          <p:cNvSpPr/>
          <p:nvPr/>
        </p:nvSpPr>
        <p:spPr>
          <a:xfrm>
            <a:off x="1638787" y="116729"/>
            <a:ext cx="9053899" cy="6207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22" name="Retângulo 21">
            <a:extLst>
              <a:ext uri="{FF2B5EF4-FFF2-40B4-BE49-F238E27FC236}">
                <a16:creationId xmlns:a16="http://schemas.microsoft.com/office/drawing/2014/main" id="{78DBB8FF-1511-D38C-3036-ADE3657AED3B}"/>
              </a:ext>
            </a:extLst>
          </p:cNvPr>
          <p:cNvSpPr/>
          <p:nvPr/>
        </p:nvSpPr>
        <p:spPr>
          <a:xfrm>
            <a:off x="2123769" y="943126"/>
            <a:ext cx="8083931" cy="5189606"/>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24" name="Retângulo 23">
            <a:extLst>
              <a:ext uri="{FF2B5EF4-FFF2-40B4-BE49-F238E27FC236}">
                <a16:creationId xmlns:a16="http://schemas.microsoft.com/office/drawing/2014/main" id="{799BA09B-1114-5522-3E75-1B405BAD32E7}"/>
              </a:ext>
            </a:extLst>
          </p:cNvPr>
          <p:cNvSpPr/>
          <p:nvPr/>
        </p:nvSpPr>
        <p:spPr>
          <a:xfrm>
            <a:off x="4928741" y="1736250"/>
            <a:ext cx="2434370" cy="215133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6" name="Retângulo 25">
            <a:extLst>
              <a:ext uri="{FF2B5EF4-FFF2-40B4-BE49-F238E27FC236}">
                <a16:creationId xmlns:a16="http://schemas.microsoft.com/office/drawing/2014/main" id="{335A1739-34F0-DF00-E066-DEDB7B786CF2}"/>
              </a:ext>
            </a:extLst>
          </p:cNvPr>
          <p:cNvSpPr/>
          <p:nvPr/>
        </p:nvSpPr>
        <p:spPr>
          <a:xfrm>
            <a:off x="7513188" y="1736250"/>
            <a:ext cx="2434370" cy="2151337"/>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8" name="CaixaDeTexto 27">
            <a:extLst>
              <a:ext uri="{FF2B5EF4-FFF2-40B4-BE49-F238E27FC236}">
                <a16:creationId xmlns:a16="http://schemas.microsoft.com/office/drawing/2014/main" id="{29AEFEC7-26BB-13C6-2834-1E228DBAF1BE}"/>
              </a:ext>
            </a:extLst>
          </p:cNvPr>
          <p:cNvSpPr txBox="1"/>
          <p:nvPr/>
        </p:nvSpPr>
        <p:spPr>
          <a:xfrm>
            <a:off x="5667194" y="1871097"/>
            <a:ext cx="843757" cy="461665"/>
          </a:xfrm>
          <a:prstGeom prst="rect">
            <a:avLst/>
          </a:prstGeom>
          <a:noFill/>
        </p:spPr>
        <p:txBody>
          <a:bodyPr wrap="none" rtlCol="0">
            <a:spAutoFit/>
          </a:bodyPr>
          <a:lstStyle/>
          <a:p>
            <a:r>
              <a:rPr lang="pt-BR" sz="2400" b="1" dirty="0"/>
              <a:t>ABox</a:t>
            </a:r>
          </a:p>
        </p:txBody>
      </p:sp>
      <p:sp>
        <p:nvSpPr>
          <p:cNvPr id="30" name="CaixaDeTexto 29">
            <a:extLst>
              <a:ext uri="{FF2B5EF4-FFF2-40B4-BE49-F238E27FC236}">
                <a16:creationId xmlns:a16="http://schemas.microsoft.com/office/drawing/2014/main" id="{452AC194-2F25-A86C-BDE7-44A0B9D20311}"/>
              </a:ext>
            </a:extLst>
          </p:cNvPr>
          <p:cNvSpPr txBox="1"/>
          <p:nvPr/>
        </p:nvSpPr>
        <p:spPr>
          <a:xfrm>
            <a:off x="8308494" y="1871097"/>
            <a:ext cx="830933" cy="461665"/>
          </a:xfrm>
          <a:prstGeom prst="rect">
            <a:avLst/>
          </a:prstGeom>
          <a:noFill/>
        </p:spPr>
        <p:txBody>
          <a:bodyPr wrap="none" rtlCol="0">
            <a:spAutoFit/>
          </a:bodyPr>
          <a:lstStyle/>
          <a:p>
            <a:r>
              <a:rPr lang="pt-BR" sz="2400" b="1" dirty="0"/>
              <a:t>RBox</a:t>
            </a:r>
          </a:p>
        </p:txBody>
      </p:sp>
      <p:sp>
        <p:nvSpPr>
          <p:cNvPr id="32" name="CaixaDeTexto 31">
            <a:extLst>
              <a:ext uri="{FF2B5EF4-FFF2-40B4-BE49-F238E27FC236}">
                <a16:creationId xmlns:a16="http://schemas.microsoft.com/office/drawing/2014/main" id="{5BC23FC4-5FD4-ADF9-BF0B-D005848795EA}"/>
              </a:ext>
            </a:extLst>
          </p:cNvPr>
          <p:cNvSpPr txBox="1"/>
          <p:nvPr/>
        </p:nvSpPr>
        <p:spPr>
          <a:xfrm>
            <a:off x="5362306" y="2285989"/>
            <a:ext cx="1494512" cy="369332"/>
          </a:xfrm>
          <a:prstGeom prst="rect">
            <a:avLst/>
          </a:prstGeom>
          <a:noFill/>
        </p:spPr>
        <p:txBody>
          <a:bodyPr wrap="none" rtlCol="0">
            <a:spAutoFit/>
          </a:bodyPr>
          <a:lstStyle/>
          <a:p>
            <a:r>
              <a:rPr lang="pt-BR" b="1" dirty="0"/>
              <a:t>Assertion Box</a:t>
            </a:r>
          </a:p>
        </p:txBody>
      </p:sp>
      <p:sp>
        <p:nvSpPr>
          <p:cNvPr id="34" name="CaixaDeTexto 33">
            <a:extLst>
              <a:ext uri="{FF2B5EF4-FFF2-40B4-BE49-F238E27FC236}">
                <a16:creationId xmlns:a16="http://schemas.microsoft.com/office/drawing/2014/main" id="{90EB5FFB-8CAD-15E2-D8EA-6C4112E13B1E}"/>
              </a:ext>
            </a:extLst>
          </p:cNvPr>
          <p:cNvSpPr txBox="1"/>
          <p:nvPr/>
        </p:nvSpPr>
        <p:spPr>
          <a:xfrm>
            <a:off x="8217571" y="2297959"/>
            <a:ext cx="1012778" cy="369332"/>
          </a:xfrm>
          <a:prstGeom prst="rect">
            <a:avLst/>
          </a:prstGeom>
          <a:noFill/>
        </p:spPr>
        <p:txBody>
          <a:bodyPr wrap="none" rtlCol="0">
            <a:spAutoFit/>
          </a:bodyPr>
          <a:lstStyle/>
          <a:p>
            <a:r>
              <a:rPr lang="pt-BR" b="1" dirty="0"/>
              <a:t>Role Box</a:t>
            </a:r>
          </a:p>
        </p:txBody>
      </p:sp>
      <p:sp>
        <p:nvSpPr>
          <p:cNvPr id="36" name="CaixaDeTexto 35">
            <a:extLst>
              <a:ext uri="{FF2B5EF4-FFF2-40B4-BE49-F238E27FC236}">
                <a16:creationId xmlns:a16="http://schemas.microsoft.com/office/drawing/2014/main" id="{006070EC-7628-9E05-B8F3-436BCCC122DA}"/>
              </a:ext>
            </a:extLst>
          </p:cNvPr>
          <p:cNvSpPr txBox="1"/>
          <p:nvPr/>
        </p:nvSpPr>
        <p:spPr>
          <a:xfrm>
            <a:off x="3757472" y="1010764"/>
            <a:ext cx="4254498" cy="608062"/>
          </a:xfrm>
          <a:prstGeom prst="rect">
            <a:avLst/>
          </a:prstGeom>
          <a:noFill/>
        </p:spPr>
        <p:txBody>
          <a:bodyPr wrap="none" rtlCol="0">
            <a:spAutoFit/>
          </a:bodyPr>
          <a:lstStyle/>
          <a:p>
            <a:r>
              <a:rPr lang="pt-BR" sz="3200" b="1" dirty="0">
                <a:solidFill>
                  <a:schemeClr val="tx2">
                    <a:lumMod val="50000"/>
                  </a:schemeClr>
                </a:solidFill>
              </a:rPr>
              <a:t>Description Logic (OWL)</a:t>
            </a:r>
          </a:p>
          <a:p>
            <a:endParaRPr lang="pt-BR" sz="3200" dirty="0"/>
          </a:p>
        </p:txBody>
      </p:sp>
      <p:sp>
        <p:nvSpPr>
          <p:cNvPr id="38" name="Retângulo 37">
            <a:extLst>
              <a:ext uri="{FF2B5EF4-FFF2-40B4-BE49-F238E27FC236}">
                <a16:creationId xmlns:a16="http://schemas.microsoft.com/office/drawing/2014/main" id="{727C0E86-D94A-EA9B-F06D-3771B73687FC}"/>
              </a:ext>
            </a:extLst>
          </p:cNvPr>
          <p:cNvSpPr/>
          <p:nvPr/>
        </p:nvSpPr>
        <p:spPr>
          <a:xfrm>
            <a:off x="2336501" y="1691219"/>
            <a:ext cx="2434370" cy="2151337"/>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CaixaDeTexto 39">
            <a:extLst>
              <a:ext uri="{FF2B5EF4-FFF2-40B4-BE49-F238E27FC236}">
                <a16:creationId xmlns:a16="http://schemas.microsoft.com/office/drawing/2014/main" id="{921A0150-361F-92AC-F01D-AE2F5F68DC1D}"/>
              </a:ext>
            </a:extLst>
          </p:cNvPr>
          <p:cNvSpPr txBox="1"/>
          <p:nvPr/>
        </p:nvSpPr>
        <p:spPr>
          <a:xfrm>
            <a:off x="3026920" y="1871097"/>
            <a:ext cx="810094" cy="461665"/>
          </a:xfrm>
          <a:prstGeom prst="rect">
            <a:avLst/>
          </a:prstGeom>
          <a:noFill/>
        </p:spPr>
        <p:txBody>
          <a:bodyPr wrap="none" rtlCol="0">
            <a:spAutoFit/>
          </a:bodyPr>
          <a:lstStyle/>
          <a:p>
            <a:r>
              <a:rPr lang="pt-BR" sz="2400" b="1" dirty="0"/>
              <a:t>TBox</a:t>
            </a:r>
          </a:p>
        </p:txBody>
      </p:sp>
      <p:sp>
        <p:nvSpPr>
          <p:cNvPr id="42" name="CaixaDeTexto 41">
            <a:extLst>
              <a:ext uri="{FF2B5EF4-FFF2-40B4-BE49-F238E27FC236}">
                <a16:creationId xmlns:a16="http://schemas.microsoft.com/office/drawing/2014/main" id="{45BD233A-2F19-4CBD-26B6-67913A872C76}"/>
              </a:ext>
            </a:extLst>
          </p:cNvPr>
          <p:cNvSpPr txBox="1"/>
          <p:nvPr/>
        </p:nvSpPr>
        <p:spPr>
          <a:xfrm>
            <a:off x="2440477" y="2297959"/>
            <a:ext cx="1982979" cy="369332"/>
          </a:xfrm>
          <a:prstGeom prst="rect">
            <a:avLst/>
          </a:prstGeom>
          <a:noFill/>
        </p:spPr>
        <p:txBody>
          <a:bodyPr wrap="none" rtlCol="0">
            <a:spAutoFit/>
          </a:bodyPr>
          <a:lstStyle/>
          <a:p>
            <a:r>
              <a:rPr lang="pt-BR" b="1" dirty="0"/>
              <a:t>Terminological Box</a:t>
            </a:r>
          </a:p>
        </p:txBody>
      </p:sp>
      <p:sp>
        <p:nvSpPr>
          <p:cNvPr id="44" name="CaixaDeTexto 43">
            <a:extLst>
              <a:ext uri="{FF2B5EF4-FFF2-40B4-BE49-F238E27FC236}">
                <a16:creationId xmlns:a16="http://schemas.microsoft.com/office/drawing/2014/main" id="{66A85464-7312-A50D-3AA1-502404C6D63B}"/>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46" name="CaixaDeTexto 45">
            <a:extLst>
              <a:ext uri="{FF2B5EF4-FFF2-40B4-BE49-F238E27FC236}">
                <a16:creationId xmlns:a16="http://schemas.microsoft.com/office/drawing/2014/main" id="{3119AFD9-BC03-DA1C-062C-EFF2A638CF86}"/>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4" name="CaixaDeTexto 3">
            <a:extLst>
              <a:ext uri="{FF2B5EF4-FFF2-40B4-BE49-F238E27FC236}">
                <a16:creationId xmlns:a16="http://schemas.microsoft.com/office/drawing/2014/main" id="{51DDCC6D-5A50-3AD0-1AC1-CEF3ABBED662}"/>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6" name="Slide Number Placeholder 0">
            <a:extLst>
              <a:ext uri="{FF2B5EF4-FFF2-40B4-BE49-F238E27FC236}">
                <a16:creationId xmlns:a16="http://schemas.microsoft.com/office/drawing/2014/main" id="{C10EF6CC-77CF-1934-8E3B-7AE4B15379D4}"/>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5</a:t>
            </a:fld>
            <a:endParaRPr lang="en-US" dirty="0">
              <a:solidFill>
                <a:srgbClr val="0070C0"/>
              </a:solidFill>
            </a:endParaRPr>
          </a:p>
        </p:txBody>
      </p:sp>
    </p:spTree>
    <p:extLst>
      <p:ext uri="{BB962C8B-B14F-4D97-AF65-F5344CB8AC3E}">
        <p14:creationId xmlns:p14="http://schemas.microsoft.com/office/powerpoint/2010/main" val="1630021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042DC-B8A5-727C-D1DC-386820AB4D68}"/>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898A1AFA-00D4-002A-13FE-32F56ABF325A}"/>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5" name="Retângulo 4">
            <a:extLst>
              <a:ext uri="{FF2B5EF4-FFF2-40B4-BE49-F238E27FC236}">
                <a16:creationId xmlns:a16="http://schemas.microsoft.com/office/drawing/2014/main" id="{14568F9A-327B-91FE-C633-9BBA2E136F6C}"/>
              </a:ext>
            </a:extLst>
          </p:cNvPr>
          <p:cNvSpPr/>
          <p:nvPr/>
        </p:nvSpPr>
        <p:spPr>
          <a:xfrm>
            <a:off x="1638787" y="116729"/>
            <a:ext cx="9053899" cy="6207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7" name="Retângulo 6">
            <a:extLst>
              <a:ext uri="{FF2B5EF4-FFF2-40B4-BE49-F238E27FC236}">
                <a16:creationId xmlns:a16="http://schemas.microsoft.com/office/drawing/2014/main" id="{21751AF1-9DE4-3BF2-E0D2-AF08552D7FF0}"/>
              </a:ext>
            </a:extLst>
          </p:cNvPr>
          <p:cNvSpPr/>
          <p:nvPr/>
        </p:nvSpPr>
        <p:spPr>
          <a:xfrm>
            <a:off x="2123769" y="943126"/>
            <a:ext cx="8083931" cy="5189606"/>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9" name="Retângulo 8">
            <a:extLst>
              <a:ext uri="{FF2B5EF4-FFF2-40B4-BE49-F238E27FC236}">
                <a16:creationId xmlns:a16="http://schemas.microsoft.com/office/drawing/2014/main" id="{DCA0F796-DDFA-77E6-BE08-A92A119D4257}"/>
              </a:ext>
            </a:extLst>
          </p:cNvPr>
          <p:cNvSpPr/>
          <p:nvPr/>
        </p:nvSpPr>
        <p:spPr>
          <a:xfrm>
            <a:off x="4928741" y="1736250"/>
            <a:ext cx="2434370" cy="215133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CaixaDeTexto 10">
            <a:extLst>
              <a:ext uri="{FF2B5EF4-FFF2-40B4-BE49-F238E27FC236}">
                <a16:creationId xmlns:a16="http://schemas.microsoft.com/office/drawing/2014/main" id="{A58FA91D-3A32-6A04-F34A-EBF2EDDA45E7}"/>
              </a:ext>
            </a:extLst>
          </p:cNvPr>
          <p:cNvSpPr txBox="1"/>
          <p:nvPr/>
        </p:nvSpPr>
        <p:spPr>
          <a:xfrm>
            <a:off x="4980200" y="3128950"/>
            <a:ext cx="1876618" cy="646331"/>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Mary is a Person</a:t>
            </a:r>
          </a:p>
          <a:p>
            <a:pPr marL="171450" indent="-171450">
              <a:buFont typeface="Arial" panose="020B0604020202020204" pitchFamily="34" charset="0"/>
              <a:buChar char="•"/>
            </a:pPr>
            <a:r>
              <a:rPr lang="pt-BR" sz="1200" b="1" dirty="0">
                <a:solidFill>
                  <a:schemeClr val="tx2">
                    <a:lumMod val="50000"/>
                  </a:schemeClr>
                </a:solidFill>
              </a:rPr>
              <a:t>Fiat is a Car</a:t>
            </a:r>
          </a:p>
          <a:p>
            <a:pPr marL="171450" indent="-171450">
              <a:buFont typeface="Arial" panose="020B0604020202020204" pitchFamily="34" charset="0"/>
              <a:buChar char="•"/>
            </a:pPr>
            <a:r>
              <a:rPr lang="pt-BR" sz="1200" b="1" dirty="0">
                <a:solidFill>
                  <a:schemeClr val="tx2">
                    <a:lumMod val="50000"/>
                  </a:schemeClr>
                </a:solidFill>
              </a:rPr>
              <a:t>Mary drivex Fiat</a:t>
            </a:r>
          </a:p>
        </p:txBody>
      </p:sp>
      <p:sp>
        <p:nvSpPr>
          <p:cNvPr id="13" name="Retângulo 12">
            <a:extLst>
              <a:ext uri="{FF2B5EF4-FFF2-40B4-BE49-F238E27FC236}">
                <a16:creationId xmlns:a16="http://schemas.microsoft.com/office/drawing/2014/main" id="{A1475B0C-90D6-5314-7BB4-C8085E2AB14B}"/>
              </a:ext>
            </a:extLst>
          </p:cNvPr>
          <p:cNvSpPr/>
          <p:nvPr/>
        </p:nvSpPr>
        <p:spPr>
          <a:xfrm>
            <a:off x="7513188" y="1736250"/>
            <a:ext cx="2434370" cy="2151337"/>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CaixaDeTexto 14">
            <a:extLst>
              <a:ext uri="{FF2B5EF4-FFF2-40B4-BE49-F238E27FC236}">
                <a16:creationId xmlns:a16="http://schemas.microsoft.com/office/drawing/2014/main" id="{F4D07AF2-BD8E-9D50-C23D-6CAE5A40AA40}"/>
              </a:ext>
            </a:extLst>
          </p:cNvPr>
          <p:cNvSpPr txBox="1"/>
          <p:nvPr/>
        </p:nvSpPr>
        <p:spPr>
          <a:xfrm>
            <a:off x="7605874" y="3024741"/>
            <a:ext cx="2033409" cy="830997"/>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drives ⊑ interactsWith</a:t>
            </a:r>
            <a:r>
              <a:rPr lang="pt-BR" sz="1200" b="1" baseline="30000" dirty="0">
                <a:solidFill>
                  <a:srgbClr val="7030A0"/>
                </a:solidFill>
              </a:rPr>
              <a:t>(3)</a:t>
            </a:r>
            <a:r>
              <a:rPr lang="pt-BR" sz="1200" b="1" dirty="0">
                <a:solidFill>
                  <a:schemeClr val="tx2">
                    <a:lumMod val="50000"/>
                  </a:schemeClr>
                </a:solidFill>
              </a:rPr>
              <a:t> </a:t>
            </a:r>
          </a:p>
          <a:p>
            <a:pPr marL="171450" indent="-171450">
              <a:buFont typeface="Arial" panose="020B0604020202020204" pitchFamily="34" charset="0"/>
              <a:buChar char="•"/>
            </a:pPr>
            <a:r>
              <a:rPr lang="pt-BR" sz="1200" b="1" dirty="0">
                <a:solidFill>
                  <a:schemeClr val="tx2">
                    <a:lumMod val="50000"/>
                  </a:schemeClr>
                </a:solidFill>
              </a:rPr>
              <a:t>hasFather ⊑ hasParent</a:t>
            </a:r>
          </a:p>
          <a:p>
            <a:pPr marL="171450" indent="-171450">
              <a:buFont typeface="Arial" panose="020B0604020202020204" pitchFamily="34" charset="0"/>
              <a:buChar char="•"/>
            </a:pPr>
            <a:r>
              <a:rPr lang="pt-BR" sz="1200" b="1" dirty="0">
                <a:solidFill>
                  <a:schemeClr val="tx2">
                    <a:lumMod val="50000"/>
                  </a:schemeClr>
                </a:solidFill>
              </a:rPr>
              <a:t>hasBrother is symmetric</a:t>
            </a:r>
            <a:r>
              <a:rPr lang="pt-BR" sz="1200" b="1" baseline="30000" dirty="0">
                <a:solidFill>
                  <a:srgbClr val="7030A0"/>
                </a:solidFill>
              </a:rPr>
              <a:t>(4)</a:t>
            </a:r>
          </a:p>
          <a:p>
            <a:pPr marL="171450" indent="-171450">
              <a:buFont typeface="Arial" panose="020B0604020202020204" pitchFamily="34" charset="0"/>
              <a:buChar char="•"/>
            </a:pPr>
            <a:r>
              <a:rPr lang="pt-BR" sz="1200" b="1" dirty="0">
                <a:solidFill>
                  <a:schemeClr val="tx2">
                    <a:lumMod val="50000"/>
                  </a:schemeClr>
                </a:solidFill>
              </a:rPr>
              <a:t>married is functional</a:t>
            </a:r>
            <a:r>
              <a:rPr lang="pt-BR" sz="1200" b="1" baseline="30000" dirty="0">
                <a:solidFill>
                  <a:srgbClr val="7030A0"/>
                </a:solidFill>
              </a:rPr>
              <a:t>(5)</a:t>
            </a:r>
            <a:r>
              <a:rPr lang="pt-BR" sz="1200" b="1" dirty="0">
                <a:solidFill>
                  <a:srgbClr val="7030A0"/>
                </a:solidFill>
              </a:rPr>
              <a:t> </a:t>
            </a:r>
          </a:p>
        </p:txBody>
      </p:sp>
      <p:sp>
        <p:nvSpPr>
          <p:cNvPr id="17" name="CaixaDeTexto 16">
            <a:extLst>
              <a:ext uri="{FF2B5EF4-FFF2-40B4-BE49-F238E27FC236}">
                <a16:creationId xmlns:a16="http://schemas.microsoft.com/office/drawing/2014/main" id="{C5ED63A5-3C70-38E6-4835-EC95E0803F54}"/>
              </a:ext>
            </a:extLst>
          </p:cNvPr>
          <p:cNvSpPr txBox="1"/>
          <p:nvPr/>
        </p:nvSpPr>
        <p:spPr>
          <a:xfrm>
            <a:off x="5667194" y="1871097"/>
            <a:ext cx="843757" cy="461665"/>
          </a:xfrm>
          <a:prstGeom prst="rect">
            <a:avLst/>
          </a:prstGeom>
          <a:noFill/>
        </p:spPr>
        <p:txBody>
          <a:bodyPr wrap="none" rtlCol="0">
            <a:spAutoFit/>
          </a:bodyPr>
          <a:lstStyle/>
          <a:p>
            <a:r>
              <a:rPr lang="pt-BR" sz="2400" b="1" dirty="0"/>
              <a:t>ABox</a:t>
            </a:r>
          </a:p>
        </p:txBody>
      </p:sp>
      <p:sp>
        <p:nvSpPr>
          <p:cNvPr id="19" name="CaixaDeTexto 18">
            <a:extLst>
              <a:ext uri="{FF2B5EF4-FFF2-40B4-BE49-F238E27FC236}">
                <a16:creationId xmlns:a16="http://schemas.microsoft.com/office/drawing/2014/main" id="{DBDCD5C0-CD6B-6A4C-30B7-A34FDC37B22F}"/>
              </a:ext>
            </a:extLst>
          </p:cNvPr>
          <p:cNvSpPr txBox="1"/>
          <p:nvPr/>
        </p:nvSpPr>
        <p:spPr>
          <a:xfrm>
            <a:off x="8308494" y="1871097"/>
            <a:ext cx="830933" cy="461665"/>
          </a:xfrm>
          <a:prstGeom prst="rect">
            <a:avLst/>
          </a:prstGeom>
          <a:noFill/>
        </p:spPr>
        <p:txBody>
          <a:bodyPr wrap="none" rtlCol="0">
            <a:spAutoFit/>
          </a:bodyPr>
          <a:lstStyle/>
          <a:p>
            <a:r>
              <a:rPr lang="pt-BR" sz="2400" b="1" dirty="0"/>
              <a:t>RBox</a:t>
            </a:r>
          </a:p>
        </p:txBody>
      </p:sp>
      <p:sp>
        <p:nvSpPr>
          <p:cNvPr id="21" name="CaixaDeTexto 20">
            <a:extLst>
              <a:ext uri="{FF2B5EF4-FFF2-40B4-BE49-F238E27FC236}">
                <a16:creationId xmlns:a16="http://schemas.microsoft.com/office/drawing/2014/main" id="{5AC33590-CD4E-8559-9BE9-F5E3E2BF3716}"/>
              </a:ext>
            </a:extLst>
          </p:cNvPr>
          <p:cNvSpPr txBox="1"/>
          <p:nvPr/>
        </p:nvSpPr>
        <p:spPr>
          <a:xfrm>
            <a:off x="5362306" y="2285989"/>
            <a:ext cx="1494512" cy="369332"/>
          </a:xfrm>
          <a:prstGeom prst="rect">
            <a:avLst/>
          </a:prstGeom>
          <a:noFill/>
        </p:spPr>
        <p:txBody>
          <a:bodyPr wrap="none" rtlCol="0">
            <a:spAutoFit/>
          </a:bodyPr>
          <a:lstStyle/>
          <a:p>
            <a:r>
              <a:rPr lang="pt-BR" b="1" dirty="0"/>
              <a:t>Assertion Box</a:t>
            </a:r>
          </a:p>
        </p:txBody>
      </p:sp>
      <p:sp>
        <p:nvSpPr>
          <p:cNvPr id="23" name="CaixaDeTexto 22">
            <a:extLst>
              <a:ext uri="{FF2B5EF4-FFF2-40B4-BE49-F238E27FC236}">
                <a16:creationId xmlns:a16="http://schemas.microsoft.com/office/drawing/2014/main" id="{C88D009A-45F8-6CBE-C997-E7F9842D72A4}"/>
              </a:ext>
            </a:extLst>
          </p:cNvPr>
          <p:cNvSpPr txBox="1"/>
          <p:nvPr/>
        </p:nvSpPr>
        <p:spPr>
          <a:xfrm>
            <a:off x="8217571" y="2297959"/>
            <a:ext cx="1012778" cy="369332"/>
          </a:xfrm>
          <a:prstGeom prst="rect">
            <a:avLst/>
          </a:prstGeom>
          <a:noFill/>
        </p:spPr>
        <p:txBody>
          <a:bodyPr wrap="none" rtlCol="0">
            <a:spAutoFit/>
          </a:bodyPr>
          <a:lstStyle/>
          <a:p>
            <a:r>
              <a:rPr lang="pt-BR" b="1" dirty="0"/>
              <a:t>Role Box</a:t>
            </a:r>
          </a:p>
        </p:txBody>
      </p:sp>
      <p:sp>
        <p:nvSpPr>
          <p:cNvPr id="25" name="CaixaDeTexto 24">
            <a:extLst>
              <a:ext uri="{FF2B5EF4-FFF2-40B4-BE49-F238E27FC236}">
                <a16:creationId xmlns:a16="http://schemas.microsoft.com/office/drawing/2014/main" id="{F6B5DE9B-AFC6-5FC3-4D2A-65BD80A2078E}"/>
              </a:ext>
            </a:extLst>
          </p:cNvPr>
          <p:cNvSpPr txBox="1"/>
          <p:nvPr/>
        </p:nvSpPr>
        <p:spPr>
          <a:xfrm>
            <a:off x="5324895" y="2707079"/>
            <a:ext cx="1648785" cy="276999"/>
          </a:xfrm>
          <a:prstGeom prst="rect">
            <a:avLst/>
          </a:prstGeom>
          <a:noFill/>
        </p:spPr>
        <p:txBody>
          <a:bodyPr wrap="none" rtlCol="0">
            <a:spAutoFit/>
          </a:bodyPr>
          <a:lstStyle/>
          <a:p>
            <a:r>
              <a:rPr lang="pt-BR" sz="1200" b="1" dirty="0">
                <a:solidFill>
                  <a:srgbClr val="FF0000"/>
                </a:solidFill>
              </a:rPr>
              <a:t>Facts about individuals</a:t>
            </a:r>
          </a:p>
        </p:txBody>
      </p:sp>
      <p:sp>
        <p:nvSpPr>
          <p:cNvPr id="27" name="CaixaDeTexto 26">
            <a:extLst>
              <a:ext uri="{FF2B5EF4-FFF2-40B4-BE49-F238E27FC236}">
                <a16:creationId xmlns:a16="http://schemas.microsoft.com/office/drawing/2014/main" id="{DD54FCE6-ADC8-1FA1-CA34-C51D5198D267}"/>
              </a:ext>
            </a:extLst>
          </p:cNvPr>
          <p:cNvSpPr txBox="1"/>
          <p:nvPr/>
        </p:nvSpPr>
        <p:spPr>
          <a:xfrm>
            <a:off x="7939250" y="2683949"/>
            <a:ext cx="1397498" cy="276999"/>
          </a:xfrm>
          <a:prstGeom prst="rect">
            <a:avLst/>
          </a:prstGeom>
          <a:noFill/>
        </p:spPr>
        <p:txBody>
          <a:bodyPr wrap="none" rtlCol="0">
            <a:spAutoFit/>
          </a:bodyPr>
          <a:lstStyle/>
          <a:p>
            <a:r>
              <a:rPr lang="pt-BR" sz="1200" b="1" dirty="0">
                <a:solidFill>
                  <a:srgbClr val="FF0000"/>
                </a:solidFill>
              </a:rPr>
              <a:t>Relationship Rules</a:t>
            </a:r>
          </a:p>
        </p:txBody>
      </p:sp>
      <p:sp>
        <p:nvSpPr>
          <p:cNvPr id="29" name="CaixaDeTexto 28">
            <a:extLst>
              <a:ext uri="{FF2B5EF4-FFF2-40B4-BE49-F238E27FC236}">
                <a16:creationId xmlns:a16="http://schemas.microsoft.com/office/drawing/2014/main" id="{40858230-0625-04EB-86D8-D0B3BC8D860B}"/>
              </a:ext>
            </a:extLst>
          </p:cNvPr>
          <p:cNvSpPr txBox="1"/>
          <p:nvPr/>
        </p:nvSpPr>
        <p:spPr>
          <a:xfrm>
            <a:off x="3757472" y="1010764"/>
            <a:ext cx="4254498" cy="608062"/>
          </a:xfrm>
          <a:prstGeom prst="rect">
            <a:avLst/>
          </a:prstGeom>
          <a:noFill/>
        </p:spPr>
        <p:txBody>
          <a:bodyPr wrap="none" rtlCol="0">
            <a:spAutoFit/>
          </a:bodyPr>
          <a:lstStyle/>
          <a:p>
            <a:r>
              <a:rPr lang="pt-BR" sz="3200" b="1" dirty="0">
                <a:solidFill>
                  <a:schemeClr val="tx2">
                    <a:lumMod val="50000"/>
                  </a:schemeClr>
                </a:solidFill>
              </a:rPr>
              <a:t>Description Logic (OWL)</a:t>
            </a:r>
          </a:p>
          <a:p>
            <a:endParaRPr lang="pt-BR" sz="3200" dirty="0"/>
          </a:p>
        </p:txBody>
      </p:sp>
      <p:sp>
        <p:nvSpPr>
          <p:cNvPr id="31" name="Retângulo 30">
            <a:extLst>
              <a:ext uri="{FF2B5EF4-FFF2-40B4-BE49-F238E27FC236}">
                <a16:creationId xmlns:a16="http://schemas.microsoft.com/office/drawing/2014/main" id="{1A158947-7A55-379F-A9DB-DD371897421F}"/>
              </a:ext>
            </a:extLst>
          </p:cNvPr>
          <p:cNvSpPr/>
          <p:nvPr/>
        </p:nvSpPr>
        <p:spPr>
          <a:xfrm>
            <a:off x="2336501" y="1691219"/>
            <a:ext cx="2434370" cy="2151337"/>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CaixaDeTexto 32">
            <a:extLst>
              <a:ext uri="{FF2B5EF4-FFF2-40B4-BE49-F238E27FC236}">
                <a16:creationId xmlns:a16="http://schemas.microsoft.com/office/drawing/2014/main" id="{AC7FFFBC-CFD9-C79B-0A85-FE77B87290F9}"/>
              </a:ext>
            </a:extLst>
          </p:cNvPr>
          <p:cNvSpPr txBox="1"/>
          <p:nvPr/>
        </p:nvSpPr>
        <p:spPr>
          <a:xfrm>
            <a:off x="2338342" y="3058113"/>
            <a:ext cx="2434369" cy="830997"/>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Person ⊑ Mammal</a:t>
            </a:r>
            <a:r>
              <a:rPr lang="pt-BR" sz="1200" b="1" baseline="30000" dirty="0">
                <a:solidFill>
                  <a:srgbClr val="7030A0"/>
                </a:solidFill>
              </a:rPr>
              <a:t>(1)</a:t>
            </a:r>
          </a:p>
          <a:p>
            <a:pPr marL="171450" indent="-171450">
              <a:buFont typeface="Arial" panose="020B0604020202020204" pitchFamily="34" charset="0"/>
              <a:buChar char="•"/>
            </a:pPr>
            <a:r>
              <a:rPr lang="pt-BR" sz="1200" b="1" dirty="0">
                <a:solidFill>
                  <a:schemeClr val="tx2">
                    <a:lumMod val="50000"/>
                  </a:schemeClr>
                </a:solidFill>
              </a:rPr>
              <a:t>Car ⊑ Vehicle</a:t>
            </a:r>
            <a:r>
              <a:rPr lang="pt-BR" sz="1200" b="1" baseline="30000" dirty="0">
                <a:solidFill>
                  <a:srgbClr val="7030A0"/>
                </a:solidFill>
              </a:rPr>
              <a:t>(2)</a:t>
            </a:r>
            <a:r>
              <a:rPr lang="pt-BR" sz="1200" b="1" baseline="30000" dirty="0">
                <a:solidFill>
                  <a:schemeClr val="tx2">
                    <a:lumMod val="50000"/>
                  </a:schemeClr>
                </a:solidFill>
              </a:rPr>
              <a:t> </a:t>
            </a:r>
          </a:p>
          <a:p>
            <a:pPr marL="171450" indent="-171450">
              <a:buFont typeface="Arial" panose="020B0604020202020204" pitchFamily="34" charset="0"/>
              <a:buChar char="•"/>
            </a:pPr>
            <a:r>
              <a:rPr lang="en-US" sz="1200" b="1" dirty="0">
                <a:solidFill>
                  <a:schemeClr val="tx2">
                    <a:lumMod val="50000"/>
                  </a:schemeClr>
                </a:solidFill>
              </a:rPr>
              <a:t>Driver ≡ Person who drives a vehicle</a:t>
            </a:r>
            <a:endParaRPr lang="pt-BR" sz="1200" b="1" dirty="0">
              <a:solidFill>
                <a:schemeClr val="tx2">
                  <a:lumMod val="50000"/>
                </a:schemeClr>
              </a:solidFill>
            </a:endParaRPr>
          </a:p>
        </p:txBody>
      </p:sp>
      <p:sp>
        <p:nvSpPr>
          <p:cNvPr id="35" name="CaixaDeTexto 34">
            <a:extLst>
              <a:ext uri="{FF2B5EF4-FFF2-40B4-BE49-F238E27FC236}">
                <a16:creationId xmlns:a16="http://schemas.microsoft.com/office/drawing/2014/main" id="{CD69D141-500F-AEC6-8291-CEC0E47A4AE1}"/>
              </a:ext>
            </a:extLst>
          </p:cNvPr>
          <p:cNvSpPr txBox="1"/>
          <p:nvPr/>
        </p:nvSpPr>
        <p:spPr>
          <a:xfrm>
            <a:off x="3026920" y="1871097"/>
            <a:ext cx="810094" cy="461665"/>
          </a:xfrm>
          <a:prstGeom prst="rect">
            <a:avLst/>
          </a:prstGeom>
          <a:noFill/>
        </p:spPr>
        <p:txBody>
          <a:bodyPr wrap="none" rtlCol="0">
            <a:spAutoFit/>
          </a:bodyPr>
          <a:lstStyle/>
          <a:p>
            <a:r>
              <a:rPr lang="pt-BR" sz="2400" b="1" dirty="0"/>
              <a:t>TBox</a:t>
            </a:r>
          </a:p>
        </p:txBody>
      </p:sp>
      <p:sp>
        <p:nvSpPr>
          <p:cNvPr id="37" name="CaixaDeTexto 36">
            <a:extLst>
              <a:ext uri="{FF2B5EF4-FFF2-40B4-BE49-F238E27FC236}">
                <a16:creationId xmlns:a16="http://schemas.microsoft.com/office/drawing/2014/main" id="{935F4959-C0BC-F686-9DF5-A9B3A0397AD8}"/>
              </a:ext>
            </a:extLst>
          </p:cNvPr>
          <p:cNvSpPr txBox="1"/>
          <p:nvPr/>
        </p:nvSpPr>
        <p:spPr>
          <a:xfrm>
            <a:off x="2440477" y="2297959"/>
            <a:ext cx="1982979" cy="369332"/>
          </a:xfrm>
          <a:prstGeom prst="rect">
            <a:avLst/>
          </a:prstGeom>
          <a:noFill/>
        </p:spPr>
        <p:txBody>
          <a:bodyPr wrap="none" rtlCol="0">
            <a:spAutoFit/>
          </a:bodyPr>
          <a:lstStyle/>
          <a:p>
            <a:r>
              <a:rPr lang="pt-BR" b="1" dirty="0"/>
              <a:t>Terminological Box</a:t>
            </a:r>
          </a:p>
        </p:txBody>
      </p:sp>
      <p:sp>
        <p:nvSpPr>
          <p:cNvPr id="39" name="CaixaDeTexto 38">
            <a:extLst>
              <a:ext uri="{FF2B5EF4-FFF2-40B4-BE49-F238E27FC236}">
                <a16:creationId xmlns:a16="http://schemas.microsoft.com/office/drawing/2014/main" id="{FD94A174-597B-C14D-88E6-3B69F2F01155}"/>
              </a:ext>
            </a:extLst>
          </p:cNvPr>
          <p:cNvSpPr txBox="1"/>
          <p:nvPr/>
        </p:nvSpPr>
        <p:spPr>
          <a:xfrm>
            <a:off x="2768291" y="2771492"/>
            <a:ext cx="1446102" cy="276999"/>
          </a:xfrm>
          <a:prstGeom prst="rect">
            <a:avLst/>
          </a:prstGeom>
          <a:noFill/>
        </p:spPr>
        <p:txBody>
          <a:bodyPr wrap="none" rtlCol="0">
            <a:spAutoFit/>
          </a:bodyPr>
          <a:lstStyle/>
          <a:p>
            <a:r>
              <a:rPr lang="pt-BR" sz="1200" b="1" dirty="0">
                <a:solidFill>
                  <a:srgbClr val="FF0000"/>
                </a:solidFill>
              </a:rPr>
              <a:t>Concept Definitions</a:t>
            </a:r>
          </a:p>
        </p:txBody>
      </p:sp>
      <p:sp>
        <p:nvSpPr>
          <p:cNvPr id="41" name="CaixaDeTexto 40">
            <a:extLst>
              <a:ext uri="{FF2B5EF4-FFF2-40B4-BE49-F238E27FC236}">
                <a16:creationId xmlns:a16="http://schemas.microsoft.com/office/drawing/2014/main" id="{8C2530C2-F68F-D912-B2D6-2C4ADA5702B7}"/>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43" name="CaixaDeTexto 42">
            <a:extLst>
              <a:ext uri="{FF2B5EF4-FFF2-40B4-BE49-F238E27FC236}">
                <a16:creationId xmlns:a16="http://schemas.microsoft.com/office/drawing/2014/main" id="{179A1DB0-18A3-B285-6804-F7E76D2DD25C}"/>
              </a:ext>
            </a:extLst>
          </p:cNvPr>
          <p:cNvSpPr txBox="1"/>
          <p:nvPr/>
        </p:nvSpPr>
        <p:spPr>
          <a:xfrm>
            <a:off x="2152439" y="5031098"/>
            <a:ext cx="2677807" cy="1015663"/>
          </a:xfrm>
          <a:prstGeom prst="rect">
            <a:avLst/>
          </a:prstGeom>
          <a:solidFill>
            <a:srgbClr val="7030A0"/>
          </a:solidFill>
          <a:ln>
            <a:solidFill>
              <a:schemeClr val="tx1"/>
            </a:solidFill>
          </a:ln>
        </p:spPr>
        <p:txBody>
          <a:bodyPr wrap="square">
            <a:spAutoFit/>
          </a:bodyPr>
          <a:lstStyle/>
          <a:p>
            <a:pPr marL="228600" indent="-228600">
              <a:buAutoNum type="arabicParenBoth"/>
            </a:pPr>
            <a:r>
              <a:rPr lang="pt-BR" sz="1000" b="1" dirty="0">
                <a:solidFill>
                  <a:schemeClr val="bg1"/>
                </a:solidFill>
              </a:rPr>
              <a:t>    </a:t>
            </a:r>
            <a:r>
              <a:rPr lang="en-US" sz="1000" b="1" dirty="0">
                <a:solidFill>
                  <a:schemeClr val="bg1"/>
                </a:solidFill>
              </a:rPr>
              <a:t>Every person is a mammal</a:t>
            </a:r>
            <a:endParaRPr lang="pt-BR" sz="1000" b="1" dirty="0">
              <a:solidFill>
                <a:schemeClr val="bg1"/>
              </a:solidFill>
            </a:endParaRPr>
          </a:p>
          <a:p>
            <a:pPr marL="342900" indent="-342900">
              <a:buAutoNum type="arabicParenBoth"/>
            </a:pPr>
            <a:r>
              <a:rPr lang="en-US" sz="1000" b="1" dirty="0">
                <a:solidFill>
                  <a:schemeClr val="bg1"/>
                </a:solidFill>
              </a:rPr>
              <a:t>Every car is a vehicle</a:t>
            </a:r>
          </a:p>
          <a:p>
            <a:pPr marL="342900" indent="-342900">
              <a:buAutoNum type="arabicParenBoth"/>
            </a:pPr>
            <a:r>
              <a:rPr lang="en-US" sz="1000" b="1" dirty="0">
                <a:solidFill>
                  <a:schemeClr val="bg1"/>
                </a:solidFill>
              </a:rPr>
              <a:t>Driving is a type of interaction</a:t>
            </a:r>
          </a:p>
          <a:p>
            <a:pPr marL="342900" indent="-342900">
              <a:buAutoNum type="arabicParenBoth"/>
            </a:pPr>
            <a:r>
              <a:rPr lang="en-US" sz="1000" b="1" dirty="0">
                <a:solidFill>
                  <a:schemeClr val="bg1"/>
                </a:solidFill>
              </a:rPr>
              <a:t>If A is B's brother, then B is A's brother</a:t>
            </a:r>
            <a:endParaRPr lang="pt-BR" sz="1000" b="1" dirty="0">
              <a:solidFill>
                <a:schemeClr val="bg1"/>
              </a:solidFill>
            </a:endParaRPr>
          </a:p>
          <a:p>
            <a:pPr marL="342900" indent="-342900">
              <a:buAutoNum type="arabicParenBoth"/>
            </a:pPr>
            <a:r>
              <a:rPr lang="en-US" sz="1000" b="1" dirty="0">
                <a:solidFill>
                  <a:schemeClr val="bg1"/>
                </a:solidFill>
              </a:rPr>
              <a:t>Each person is married to at most one other person</a:t>
            </a:r>
            <a:endParaRPr lang="pt-BR" sz="1000" dirty="0">
              <a:solidFill>
                <a:schemeClr val="bg1"/>
              </a:solidFill>
            </a:endParaRPr>
          </a:p>
        </p:txBody>
      </p:sp>
      <p:sp>
        <p:nvSpPr>
          <p:cNvPr id="45" name="CaixaDeTexto 44">
            <a:extLst>
              <a:ext uri="{FF2B5EF4-FFF2-40B4-BE49-F238E27FC236}">
                <a16:creationId xmlns:a16="http://schemas.microsoft.com/office/drawing/2014/main" id="{4D7C209A-7416-4A2C-A0EA-D3E79E84D7FF}"/>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6" name="CaixaDeTexto 5">
            <a:extLst>
              <a:ext uri="{FF2B5EF4-FFF2-40B4-BE49-F238E27FC236}">
                <a16:creationId xmlns:a16="http://schemas.microsoft.com/office/drawing/2014/main" id="{EE99CE5D-A55B-CF5D-E8FE-2586F5351B52}"/>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0" name="Slide Number Placeholder 0">
            <a:extLst>
              <a:ext uri="{FF2B5EF4-FFF2-40B4-BE49-F238E27FC236}">
                <a16:creationId xmlns:a16="http://schemas.microsoft.com/office/drawing/2014/main" id="{57EE0BFB-B1B0-9D11-B563-A98C35971796}"/>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6</a:t>
            </a:fld>
            <a:endParaRPr lang="en-US" dirty="0">
              <a:solidFill>
                <a:srgbClr val="0070C0"/>
              </a:solidFill>
            </a:endParaRPr>
          </a:p>
        </p:txBody>
      </p:sp>
    </p:spTree>
    <p:extLst>
      <p:ext uri="{BB962C8B-B14F-4D97-AF65-F5344CB8AC3E}">
        <p14:creationId xmlns:p14="http://schemas.microsoft.com/office/powerpoint/2010/main" val="3571569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5B58B-75B2-556A-8294-5DCEFE47762A}"/>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DE954877-5253-9F3E-62E3-33829DC5A44A}"/>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5" name="Retângulo 4">
            <a:extLst>
              <a:ext uri="{FF2B5EF4-FFF2-40B4-BE49-F238E27FC236}">
                <a16:creationId xmlns:a16="http://schemas.microsoft.com/office/drawing/2014/main" id="{C391EB18-6441-F2E2-D8EE-48AE6935A65B}"/>
              </a:ext>
            </a:extLst>
          </p:cNvPr>
          <p:cNvSpPr/>
          <p:nvPr/>
        </p:nvSpPr>
        <p:spPr>
          <a:xfrm>
            <a:off x="1638787" y="116729"/>
            <a:ext cx="9053899" cy="620766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7" name="Retângulo 6">
            <a:extLst>
              <a:ext uri="{FF2B5EF4-FFF2-40B4-BE49-F238E27FC236}">
                <a16:creationId xmlns:a16="http://schemas.microsoft.com/office/drawing/2014/main" id="{FA5363D4-9234-C4C7-1C1A-4BFC014C95A8}"/>
              </a:ext>
            </a:extLst>
          </p:cNvPr>
          <p:cNvSpPr/>
          <p:nvPr/>
        </p:nvSpPr>
        <p:spPr>
          <a:xfrm>
            <a:off x="2123769" y="943126"/>
            <a:ext cx="8083931" cy="5189606"/>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2400" b="1" dirty="0">
              <a:solidFill>
                <a:schemeClr val="tx2">
                  <a:lumMod val="50000"/>
                </a:schemeClr>
              </a:solidFill>
            </a:endParaRPr>
          </a:p>
        </p:txBody>
      </p:sp>
      <p:sp>
        <p:nvSpPr>
          <p:cNvPr id="9" name="Retângulo 8">
            <a:extLst>
              <a:ext uri="{FF2B5EF4-FFF2-40B4-BE49-F238E27FC236}">
                <a16:creationId xmlns:a16="http://schemas.microsoft.com/office/drawing/2014/main" id="{2D5A04AE-B470-D6F9-AE6B-ADA05CE86B64}"/>
              </a:ext>
            </a:extLst>
          </p:cNvPr>
          <p:cNvSpPr/>
          <p:nvPr/>
        </p:nvSpPr>
        <p:spPr>
          <a:xfrm>
            <a:off x="4928741" y="1736250"/>
            <a:ext cx="2434370" cy="215133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CaixaDeTexto 10">
            <a:extLst>
              <a:ext uri="{FF2B5EF4-FFF2-40B4-BE49-F238E27FC236}">
                <a16:creationId xmlns:a16="http://schemas.microsoft.com/office/drawing/2014/main" id="{9B1522A9-AABF-52CB-4AC7-F0A3F99FF605}"/>
              </a:ext>
            </a:extLst>
          </p:cNvPr>
          <p:cNvSpPr txBox="1"/>
          <p:nvPr/>
        </p:nvSpPr>
        <p:spPr>
          <a:xfrm>
            <a:off x="4980200" y="3128950"/>
            <a:ext cx="1876618" cy="646331"/>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Mary is a Person</a:t>
            </a:r>
          </a:p>
          <a:p>
            <a:pPr marL="171450" indent="-171450">
              <a:buFont typeface="Arial" panose="020B0604020202020204" pitchFamily="34" charset="0"/>
              <a:buChar char="•"/>
            </a:pPr>
            <a:r>
              <a:rPr lang="pt-BR" sz="1200" b="1" dirty="0">
                <a:solidFill>
                  <a:schemeClr val="tx2">
                    <a:lumMod val="50000"/>
                  </a:schemeClr>
                </a:solidFill>
              </a:rPr>
              <a:t>Fiat is a Car</a:t>
            </a:r>
          </a:p>
          <a:p>
            <a:pPr marL="171450" indent="-171450">
              <a:buFont typeface="Arial" panose="020B0604020202020204" pitchFamily="34" charset="0"/>
              <a:buChar char="•"/>
            </a:pPr>
            <a:r>
              <a:rPr lang="pt-BR" sz="1200" b="1" dirty="0">
                <a:solidFill>
                  <a:schemeClr val="tx2">
                    <a:lumMod val="50000"/>
                  </a:schemeClr>
                </a:solidFill>
              </a:rPr>
              <a:t>Mary drivex Fiat</a:t>
            </a:r>
          </a:p>
        </p:txBody>
      </p:sp>
      <p:sp>
        <p:nvSpPr>
          <p:cNvPr id="13" name="Retângulo 12">
            <a:extLst>
              <a:ext uri="{FF2B5EF4-FFF2-40B4-BE49-F238E27FC236}">
                <a16:creationId xmlns:a16="http://schemas.microsoft.com/office/drawing/2014/main" id="{815CD849-7EA1-AD27-692F-E58A6AF640A3}"/>
              </a:ext>
            </a:extLst>
          </p:cNvPr>
          <p:cNvSpPr/>
          <p:nvPr/>
        </p:nvSpPr>
        <p:spPr>
          <a:xfrm>
            <a:off x="7513188" y="1736250"/>
            <a:ext cx="2434370" cy="2151337"/>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CaixaDeTexto 14">
            <a:extLst>
              <a:ext uri="{FF2B5EF4-FFF2-40B4-BE49-F238E27FC236}">
                <a16:creationId xmlns:a16="http://schemas.microsoft.com/office/drawing/2014/main" id="{BDD69897-924D-BA43-200D-189B590C26E3}"/>
              </a:ext>
            </a:extLst>
          </p:cNvPr>
          <p:cNvSpPr txBox="1"/>
          <p:nvPr/>
        </p:nvSpPr>
        <p:spPr>
          <a:xfrm>
            <a:off x="7605874" y="3024741"/>
            <a:ext cx="2033409" cy="830997"/>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drives ⊑ interactsWith</a:t>
            </a:r>
            <a:r>
              <a:rPr lang="pt-BR" sz="1200" b="1" baseline="30000" dirty="0">
                <a:solidFill>
                  <a:srgbClr val="7030A0"/>
                </a:solidFill>
              </a:rPr>
              <a:t>(3)</a:t>
            </a:r>
            <a:r>
              <a:rPr lang="pt-BR" sz="1200" b="1" dirty="0">
                <a:solidFill>
                  <a:schemeClr val="tx2">
                    <a:lumMod val="50000"/>
                  </a:schemeClr>
                </a:solidFill>
              </a:rPr>
              <a:t> </a:t>
            </a:r>
          </a:p>
          <a:p>
            <a:pPr marL="171450" indent="-171450">
              <a:buFont typeface="Arial" panose="020B0604020202020204" pitchFamily="34" charset="0"/>
              <a:buChar char="•"/>
            </a:pPr>
            <a:r>
              <a:rPr lang="pt-BR" sz="1200" b="1" dirty="0">
                <a:solidFill>
                  <a:schemeClr val="tx2">
                    <a:lumMod val="50000"/>
                  </a:schemeClr>
                </a:solidFill>
              </a:rPr>
              <a:t>hasFather ⊑ hasParent</a:t>
            </a:r>
          </a:p>
          <a:p>
            <a:pPr marL="171450" indent="-171450">
              <a:buFont typeface="Arial" panose="020B0604020202020204" pitchFamily="34" charset="0"/>
              <a:buChar char="•"/>
            </a:pPr>
            <a:r>
              <a:rPr lang="pt-BR" sz="1200" b="1" dirty="0">
                <a:solidFill>
                  <a:schemeClr val="tx2">
                    <a:lumMod val="50000"/>
                  </a:schemeClr>
                </a:solidFill>
              </a:rPr>
              <a:t>hasBrother is symmetric</a:t>
            </a:r>
            <a:r>
              <a:rPr lang="pt-BR" sz="1200" b="1" baseline="30000" dirty="0">
                <a:solidFill>
                  <a:srgbClr val="7030A0"/>
                </a:solidFill>
              </a:rPr>
              <a:t>(4)</a:t>
            </a:r>
          </a:p>
          <a:p>
            <a:pPr marL="171450" indent="-171450">
              <a:buFont typeface="Arial" panose="020B0604020202020204" pitchFamily="34" charset="0"/>
              <a:buChar char="•"/>
            </a:pPr>
            <a:r>
              <a:rPr lang="pt-BR" sz="1200" b="1" dirty="0">
                <a:solidFill>
                  <a:schemeClr val="tx2">
                    <a:lumMod val="50000"/>
                  </a:schemeClr>
                </a:solidFill>
              </a:rPr>
              <a:t>married is functional</a:t>
            </a:r>
            <a:r>
              <a:rPr lang="pt-BR" sz="1200" b="1" baseline="30000" dirty="0">
                <a:solidFill>
                  <a:srgbClr val="7030A0"/>
                </a:solidFill>
              </a:rPr>
              <a:t>(5)</a:t>
            </a:r>
            <a:r>
              <a:rPr lang="pt-BR" sz="1200" b="1" dirty="0">
                <a:solidFill>
                  <a:srgbClr val="7030A0"/>
                </a:solidFill>
              </a:rPr>
              <a:t> </a:t>
            </a:r>
          </a:p>
        </p:txBody>
      </p:sp>
      <p:sp>
        <p:nvSpPr>
          <p:cNvPr id="17" name="CaixaDeTexto 16">
            <a:extLst>
              <a:ext uri="{FF2B5EF4-FFF2-40B4-BE49-F238E27FC236}">
                <a16:creationId xmlns:a16="http://schemas.microsoft.com/office/drawing/2014/main" id="{5F300394-4C6B-D386-3D1D-D9B375BE6FA8}"/>
              </a:ext>
            </a:extLst>
          </p:cNvPr>
          <p:cNvSpPr txBox="1"/>
          <p:nvPr/>
        </p:nvSpPr>
        <p:spPr>
          <a:xfrm>
            <a:off x="5667194" y="1871097"/>
            <a:ext cx="843757" cy="461665"/>
          </a:xfrm>
          <a:prstGeom prst="rect">
            <a:avLst/>
          </a:prstGeom>
          <a:noFill/>
        </p:spPr>
        <p:txBody>
          <a:bodyPr wrap="none" rtlCol="0">
            <a:spAutoFit/>
          </a:bodyPr>
          <a:lstStyle/>
          <a:p>
            <a:r>
              <a:rPr lang="pt-BR" sz="2400" b="1" dirty="0"/>
              <a:t>ABox</a:t>
            </a:r>
          </a:p>
        </p:txBody>
      </p:sp>
      <p:sp>
        <p:nvSpPr>
          <p:cNvPr id="19" name="CaixaDeTexto 18">
            <a:extLst>
              <a:ext uri="{FF2B5EF4-FFF2-40B4-BE49-F238E27FC236}">
                <a16:creationId xmlns:a16="http://schemas.microsoft.com/office/drawing/2014/main" id="{0F2BF95E-082E-8C32-BCA8-30A1296948F3}"/>
              </a:ext>
            </a:extLst>
          </p:cNvPr>
          <p:cNvSpPr txBox="1"/>
          <p:nvPr/>
        </p:nvSpPr>
        <p:spPr>
          <a:xfrm>
            <a:off x="8308494" y="1871097"/>
            <a:ext cx="830933" cy="461665"/>
          </a:xfrm>
          <a:prstGeom prst="rect">
            <a:avLst/>
          </a:prstGeom>
          <a:noFill/>
        </p:spPr>
        <p:txBody>
          <a:bodyPr wrap="none" rtlCol="0">
            <a:spAutoFit/>
          </a:bodyPr>
          <a:lstStyle/>
          <a:p>
            <a:r>
              <a:rPr lang="pt-BR" sz="2400" b="1" dirty="0"/>
              <a:t>RBox</a:t>
            </a:r>
          </a:p>
        </p:txBody>
      </p:sp>
      <p:sp>
        <p:nvSpPr>
          <p:cNvPr id="21" name="CaixaDeTexto 20">
            <a:extLst>
              <a:ext uri="{FF2B5EF4-FFF2-40B4-BE49-F238E27FC236}">
                <a16:creationId xmlns:a16="http://schemas.microsoft.com/office/drawing/2014/main" id="{65FDE54E-B8B6-2DFE-3545-C63265D18671}"/>
              </a:ext>
            </a:extLst>
          </p:cNvPr>
          <p:cNvSpPr txBox="1"/>
          <p:nvPr/>
        </p:nvSpPr>
        <p:spPr>
          <a:xfrm>
            <a:off x="5362306" y="2285989"/>
            <a:ext cx="1494512" cy="369332"/>
          </a:xfrm>
          <a:prstGeom prst="rect">
            <a:avLst/>
          </a:prstGeom>
          <a:noFill/>
        </p:spPr>
        <p:txBody>
          <a:bodyPr wrap="none" rtlCol="0">
            <a:spAutoFit/>
          </a:bodyPr>
          <a:lstStyle/>
          <a:p>
            <a:r>
              <a:rPr lang="pt-BR" b="1" dirty="0"/>
              <a:t>Assertion Box</a:t>
            </a:r>
          </a:p>
        </p:txBody>
      </p:sp>
      <p:sp>
        <p:nvSpPr>
          <p:cNvPr id="23" name="CaixaDeTexto 22">
            <a:extLst>
              <a:ext uri="{FF2B5EF4-FFF2-40B4-BE49-F238E27FC236}">
                <a16:creationId xmlns:a16="http://schemas.microsoft.com/office/drawing/2014/main" id="{AD81771A-AD04-E512-6CC5-1BBF5802C013}"/>
              </a:ext>
            </a:extLst>
          </p:cNvPr>
          <p:cNvSpPr txBox="1"/>
          <p:nvPr/>
        </p:nvSpPr>
        <p:spPr>
          <a:xfrm>
            <a:off x="8217571" y="2297959"/>
            <a:ext cx="1012778" cy="369332"/>
          </a:xfrm>
          <a:prstGeom prst="rect">
            <a:avLst/>
          </a:prstGeom>
          <a:noFill/>
        </p:spPr>
        <p:txBody>
          <a:bodyPr wrap="none" rtlCol="0">
            <a:spAutoFit/>
          </a:bodyPr>
          <a:lstStyle/>
          <a:p>
            <a:r>
              <a:rPr lang="pt-BR" b="1" dirty="0"/>
              <a:t>Role Box</a:t>
            </a:r>
          </a:p>
        </p:txBody>
      </p:sp>
      <p:sp>
        <p:nvSpPr>
          <p:cNvPr id="25" name="CaixaDeTexto 24">
            <a:extLst>
              <a:ext uri="{FF2B5EF4-FFF2-40B4-BE49-F238E27FC236}">
                <a16:creationId xmlns:a16="http://schemas.microsoft.com/office/drawing/2014/main" id="{5F1F7C5A-9F53-6FE0-9DFD-691296453702}"/>
              </a:ext>
            </a:extLst>
          </p:cNvPr>
          <p:cNvSpPr txBox="1"/>
          <p:nvPr/>
        </p:nvSpPr>
        <p:spPr>
          <a:xfrm>
            <a:off x="5324895" y="2707079"/>
            <a:ext cx="1648785" cy="276999"/>
          </a:xfrm>
          <a:prstGeom prst="rect">
            <a:avLst/>
          </a:prstGeom>
          <a:noFill/>
        </p:spPr>
        <p:txBody>
          <a:bodyPr wrap="none" rtlCol="0">
            <a:spAutoFit/>
          </a:bodyPr>
          <a:lstStyle/>
          <a:p>
            <a:r>
              <a:rPr lang="pt-BR" sz="1200" b="1" dirty="0">
                <a:solidFill>
                  <a:srgbClr val="FF0000"/>
                </a:solidFill>
              </a:rPr>
              <a:t>Facts about individuals</a:t>
            </a:r>
          </a:p>
        </p:txBody>
      </p:sp>
      <p:sp>
        <p:nvSpPr>
          <p:cNvPr id="27" name="CaixaDeTexto 26">
            <a:extLst>
              <a:ext uri="{FF2B5EF4-FFF2-40B4-BE49-F238E27FC236}">
                <a16:creationId xmlns:a16="http://schemas.microsoft.com/office/drawing/2014/main" id="{989E9325-2CB7-5A8A-22CA-096ABB5B7EFD}"/>
              </a:ext>
            </a:extLst>
          </p:cNvPr>
          <p:cNvSpPr txBox="1"/>
          <p:nvPr/>
        </p:nvSpPr>
        <p:spPr>
          <a:xfrm>
            <a:off x="7939250" y="2683949"/>
            <a:ext cx="1397498" cy="276999"/>
          </a:xfrm>
          <a:prstGeom prst="rect">
            <a:avLst/>
          </a:prstGeom>
          <a:noFill/>
        </p:spPr>
        <p:txBody>
          <a:bodyPr wrap="none" rtlCol="0">
            <a:spAutoFit/>
          </a:bodyPr>
          <a:lstStyle/>
          <a:p>
            <a:r>
              <a:rPr lang="pt-BR" sz="1200" b="1" dirty="0">
                <a:solidFill>
                  <a:srgbClr val="FF0000"/>
                </a:solidFill>
              </a:rPr>
              <a:t>Relationship Rules</a:t>
            </a:r>
          </a:p>
        </p:txBody>
      </p:sp>
      <p:sp>
        <p:nvSpPr>
          <p:cNvPr id="29" name="CaixaDeTexto 28">
            <a:extLst>
              <a:ext uri="{FF2B5EF4-FFF2-40B4-BE49-F238E27FC236}">
                <a16:creationId xmlns:a16="http://schemas.microsoft.com/office/drawing/2014/main" id="{9F3F48B1-30CE-2A33-3BE3-1F078DC958E0}"/>
              </a:ext>
            </a:extLst>
          </p:cNvPr>
          <p:cNvSpPr txBox="1"/>
          <p:nvPr/>
        </p:nvSpPr>
        <p:spPr>
          <a:xfrm>
            <a:off x="3757472" y="1010764"/>
            <a:ext cx="4254498" cy="608062"/>
          </a:xfrm>
          <a:prstGeom prst="rect">
            <a:avLst/>
          </a:prstGeom>
          <a:noFill/>
        </p:spPr>
        <p:txBody>
          <a:bodyPr wrap="none" rtlCol="0">
            <a:spAutoFit/>
          </a:bodyPr>
          <a:lstStyle/>
          <a:p>
            <a:r>
              <a:rPr lang="pt-BR" sz="3200" b="1" dirty="0">
                <a:solidFill>
                  <a:schemeClr val="tx2">
                    <a:lumMod val="50000"/>
                  </a:schemeClr>
                </a:solidFill>
              </a:rPr>
              <a:t>Description Logic (OWL)</a:t>
            </a:r>
          </a:p>
          <a:p>
            <a:endParaRPr lang="pt-BR" sz="3200" dirty="0"/>
          </a:p>
        </p:txBody>
      </p:sp>
      <p:sp>
        <p:nvSpPr>
          <p:cNvPr id="31" name="Retângulo 30">
            <a:extLst>
              <a:ext uri="{FF2B5EF4-FFF2-40B4-BE49-F238E27FC236}">
                <a16:creationId xmlns:a16="http://schemas.microsoft.com/office/drawing/2014/main" id="{5A6DC3A0-A6A6-E2FF-A13D-CDE4E1E6C661}"/>
              </a:ext>
            </a:extLst>
          </p:cNvPr>
          <p:cNvSpPr/>
          <p:nvPr/>
        </p:nvSpPr>
        <p:spPr>
          <a:xfrm>
            <a:off x="2336501" y="1691219"/>
            <a:ext cx="2434370" cy="2151337"/>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CaixaDeTexto 32">
            <a:extLst>
              <a:ext uri="{FF2B5EF4-FFF2-40B4-BE49-F238E27FC236}">
                <a16:creationId xmlns:a16="http://schemas.microsoft.com/office/drawing/2014/main" id="{8F7BADB2-F5B9-2A33-0955-80B67938CBB3}"/>
              </a:ext>
            </a:extLst>
          </p:cNvPr>
          <p:cNvSpPr txBox="1"/>
          <p:nvPr/>
        </p:nvSpPr>
        <p:spPr>
          <a:xfrm>
            <a:off x="2338342" y="3058113"/>
            <a:ext cx="2434369" cy="830997"/>
          </a:xfrm>
          <a:prstGeom prst="rect">
            <a:avLst/>
          </a:prstGeom>
          <a:noFill/>
        </p:spPr>
        <p:txBody>
          <a:bodyPr wrap="square">
            <a:spAutoFit/>
          </a:bodyPr>
          <a:lstStyle/>
          <a:p>
            <a:pPr marL="171450" indent="-171450">
              <a:buFont typeface="Arial" panose="020B0604020202020204" pitchFamily="34" charset="0"/>
              <a:buChar char="•"/>
            </a:pPr>
            <a:r>
              <a:rPr lang="pt-BR" sz="1200" b="1" dirty="0">
                <a:solidFill>
                  <a:schemeClr val="tx2">
                    <a:lumMod val="50000"/>
                  </a:schemeClr>
                </a:solidFill>
              </a:rPr>
              <a:t>Person ⊑ Mammal</a:t>
            </a:r>
            <a:r>
              <a:rPr lang="pt-BR" sz="1200" b="1" baseline="30000" dirty="0">
                <a:solidFill>
                  <a:srgbClr val="7030A0"/>
                </a:solidFill>
              </a:rPr>
              <a:t>(1)</a:t>
            </a:r>
          </a:p>
          <a:p>
            <a:pPr marL="171450" indent="-171450">
              <a:buFont typeface="Arial" panose="020B0604020202020204" pitchFamily="34" charset="0"/>
              <a:buChar char="•"/>
            </a:pPr>
            <a:r>
              <a:rPr lang="pt-BR" sz="1200" b="1" dirty="0">
                <a:solidFill>
                  <a:schemeClr val="tx2">
                    <a:lumMod val="50000"/>
                  </a:schemeClr>
                </a:solidFill>
              </a:rPr>
              <a:t>Car ⊑ Vehicle</a:t>
            </a:r>
            <a:r>
              <a:rPr lang="pt-BR" sz="1200" b="1" baseline="30000" dirty="0">
                <a:solidFill>
                  <a:srgbClr val="7030A0"/>
                </a:solidFill>
              </a:rPr>
              <a:t>(2)</a:t>
            </a:r>
            <a:r>
              <a:rPr lang="pt-BR" sz="1200" b="1" baseline="30000" dirty="0">
                <a:solidFill>
                  <a:schemeClr val="tx2">
                    <a:lumMod val="50000"/>
                  </a:schemeClr>
                </a:solidFill>
              </a:rPr>
              <a:t> </a:t>
            </a:r>
          </a:p>
          <a:p>
            <a:pPr marL="171450" indent="-171450">
              <a:buFont typeface="Arial" panose="020B0604020202020204" pitchFamily="34" charset="0"/>
              <a:buChar char="•"/>
            </a:pPr>
            <a:r>
              <a:rPr lang="en-US" sz="1200" b="1" dirty="0">
                <a:solidFill>
                  <a:schemeClr val="tx2">
                    <a:lumMod val="50000"/>
                  </a:schemeClr>
                </a:solidFill>
              </a:rPr>
              <a:t>Driver ≡ Person who drives a vehicle</a:t>
            </a:r>
            <a:endParaRPr lang="pt-BR" sz="1200" b="1" dirty="0">
              <a:solidFill>
                <a:schemeClr val="tx2">
                  <a:lumMod val="50000"/>
                </a:schemeClr>
              </a:solidFill>
            </a:endParaRPr>
          </a:p>
        </p:txBody>
      </p:sp>
      <p:sp>
        <p:nvSpPr>
          <p:cNvPr id="35" name="CaixaDeTexto 34">
            <a:extLst>
              <a:ext uri="{FF2B5EF4-FFF2-40B4-BE49-F238E27FC236}">
                <a16:creationId xmlns:a16="http://schemas.microsoft.com/office/drawing/2014/main" id="{526F0EB3-62B7-4E9B-D33D-3EEA4FE9D10D}"/>
              </a:ext>
            </a:extLst>
          </p:cNvPr>
          <p:cNvSpPr txBox="1"/>
          <p:nvPr/>
        </p:nvSpPr>
        <p:spPr>
          <a:xfrm>
            <a:off x="3026920" y="1871097"/>
            <a:ext cx="810094" cy="461665"/>
          </a:xfrm>
          <a:prstGeom prst="rect">
            <a:avLst/>
          </a:prstGeom>
          <a:noFill/>
        </p:spPr>
        <p:txBody>
          <a:bodyPr wrap="none" rtlCol="0">
            <a:spAutoFit/>
          </a:bodyPr>
          <a:lstStyle/>
          <a:p>
            <a:r>
              <a:rPr lang="pt-BR" sz="2400" b="1" dirty="0"/>
              <a:t>TBox</a:t>
            </a:r>
          </a:p>
        </p:txBody>
      </p:sp>
      <p:sp>
        <p:nvSpPr>
          <p:cNvPr id="37" name="CaixaDeTexto 36">
            <a:extLst>
              <a:ext uri="{FF2B5EF4-FFF2-40B4-BE49-F238E27FC236}">
                <a16:creationId xmlns:a16="http://schemas.microsoft.com/office/drawing/2014/main" id="{D2C0145C-279C-8931-7B19-106F3525E030}"/>
              </a:ext>
            </a:extLst>
          </p:cNvPr>
          <p:cNvSpPr txBox="1"/>
          <p:nvPr/>
        </p:nvSpPr>
        <p:spPr>
          <a:xfrm>
            <a:off x="2440477" y="2297959"/>
            <a:ext cx="1982979" cy="369332"/>
          </a:xfrm>
          <a:prstGeom prst="rect">
            <a:avLst/>
          </a:prstGeom>
          <a:noFill/>
        </p:spPr>
        <p:txBody>
          <a:bodyPr wrap="none" rtlCol="0">
            <a:spAutoFit/>
          </a:bodyPr>
          <a:lstStyle/>
          <a:p>
            <a:r>
              <a:rPr lang="pt-BR" b="1" dirty="0"/>
              <a:t>Terminological Box</a:t>
            </a:r>
          </a:p>
        </p:txBody>
      </p:sp>
      <p:sp>
        <p:nvSpPr>
          <p:cNvPr id="39" name="CaixaDeTexto 38">
            <a:extLst>
              <a:ext uri="{FF2B5EF4-FFF2-40B4-BE49-F238E27FC236}">
                <a16:creationId xmlns:a16="http://schemas.microsoft.com/office/drawing/2014/main" id="{5B5AC183-5F39-0F54-3E15-3E687B826B2D}"/>
              </a:ext>
            </a:extLst>
          </p:cNvPr>
          <p:cNvSpPr txBox="1"/>
          <p:nvPr/>
        </p:nvSpPr>
        <p:spPr>
          <a:xfrm>
            <a:off x="2768291" y="2771492"/>
            <a:ext cx="1446102" cy="276999"/>
          </a:xfrm>
          <a:prstGeom prst="rect">
            <a:avLst/>
          </a:prstGeom>
          <a:noFill/>
        </p:spPr>
        <p:txBody>
          <a:bodyPr wrap="none" rtlCol="0">
            <a:spAutoFit/>
          </a:bodyPr>
          <a:lstStyle/>
          <a:p>
            <a:r>
              <a:rPr lang="pt-BR" sz="1200" b="1" dirty="0">
                <a:solidFill>
                  <a:srgbClr val="FF0000"/>
                </a:solidFill>
              </a:rPr>
              <a:t>Concept Definitions</a:t>
            </a:r>
          </a:p>
        </p:txBody>
      </p:sp>
      <p:sp>
        <p:nvSpPr>
          <p:cNvPr id="41" name="CaixaDeTexto 40">
            <a:extLst>
              <a:ext uri="{FF2B5EF4-FFF2-40B4-BE49-F238E27FC236}">
                <a16:creationId xmlns:a16="http://schemas.microsoft.com/office/drawing/2014/main" id="{DB77F8C9-6A86-9D07-7FE9-25F5EDED370D}"/>
              </a:ext>
            </a:extLst>
          </p:cNvPr>
          <p:cNvSpPr txBox="1"/>
          <p:nvPr/>
        </p:nvSpPr>
        <p:spPr>
          <a:xfrm>
            <a:off x="3773545" y="181320"/>
            <a:ext cx="4992200" cy="552784"/>
          </a:xfrm>
          <a:prstGeom prst="rect">
            <a:avLst/>
          </a:prstGeom>
          <a:noFill/>
        </p:spPr>
        <p:txBody>
          <a:bodyPr wrap="none" rtlCol="0">
            <a:spAutoFit/>
          </a:bodyPr>
          <a:lstStyle/>
          <a:p>
            <a:r>
              <a:rPr lang="pt-BR" sz="3200" b="1" dirty="0">
                <a:solidFill>
                  <a:srgbClr val="00B0F0"/>
                </a:solidFill>
              </a:rPr>
              <a:t>Knowledge Base (Ontology)</a:t>
            </a:r>
          </a:p>
          <a:p>
            <a:endParaRPr lang="pt-BR" sz="3200" dirty="0">
              <a:solidFill>
                <a:srgbClr val="00B0F0"/>
              </a:solidFill>
            </a:endParaRPr>
          </a:p>
        </p:txBody>
      </p:sp>
      <p:sp>
        <p:nvSpPr>
          <p:cNvPr id="43" name="CaixaDeTexto 42">
            <a:extLst>
              <a:ext uri="{FF2B5EF4-FFF2-40B4-BE49-F238E27FC236}">
                <a16:creationId xmlns:a16="http://schemas.microsoft.com/office/drawing/2014/main" id="{A5FB3608-6A5C-FE11-59DC-EE7B5E7FFC7B}"/>
              </a:ext>
            </a:extLst>
          </p:cNvPr>
          <p:cNvSpPr txBox="1"/>
          <p:nvPr/>
        </p:nvSpPr>
        <p:spPr>
          <a:xfrm>
            <a:off x="2152439" y="5031098"/>
            <a:ext cx="2677807" cy="1015663"/>
          </a:xfrm>
          <a:prstGeom prst="rect">
            <a:avLst/>
          </a:prstGeom>
          <a:solidFill>
            <a:srgbClr val="7030A0"/>
          </a:solidFill>
          <a:ln>
            <a:solidFill>
              <a:schemeClr val="tx1"/>
            </a:solidFill>
          </a:ln>
        </p:spPr>
        <p:txBody>
          <a:bodyPr wrap="square">
            <a:spAutoFit/>
          </a:bodyPr>
          <a:lstStyle/>
          <a:p>
            <a:pPr marL="228600" indent="-228600">
              <a:buAutoNum type="arabicParenBoth"/>
            </a:pPr>
            <a:r>
              <a:rPr lang="pt-BR" sz="1000" b="1" dirty="0">
                <a:solidFill>
                  <a:schemeClr val="bg1"/>
                </a:solidFill>
              </a:rPr>
              <a:t>    </a:t>
            </a:r>
            <a:r>
              <a:rPr lang="en-US" sz="1000" b="1" dirty="0">
                <a:solidFill>
                  <a:schemeClr val="bg1"/>
                </a:solidFill>
              </a:rPr>
              <a:t>Every person is a mammal</a:t>
            </a:r>
            <a:endParaRPr lang="pt-BR" sz="1000" b="1" dirty="0">
              <a:solidFill>
                <a:schemeClr val="bg1"/>
              </a:solidFill>
            </a:endParaRPr>
          </a:p>
          <a:p>
            <a:pPr marL="342900" indent="-342900">
              <a:buAutoNum type="arabicParenBoth"/>
            </a:pPr>
            <a:r>
              <a:rPr lang="en-US" sz="1000" b="1" dirty="0">
                <a:solidFill>
                  <a:schemeClr val="bg1"/>
                </a:solidFill>
              </a:rPr>
              <a:t>Every car is a vehicle</a:t>
            </a:r>
          </a:p>
          <a:p>
            <a:pPr marL="342900" indent="-342900">
              <a:buAutoNum type="arabicParenBoth"/>
            </a:pPr>
            <a:r>
              <a:rPr lang="en-US" sz="1000" b="1" dirty="0">
                <a:solidFill>
                  <a:schemeClr val="bg1"/>
                </a:solidFill>
              </a:rPr>
              <a:t>Driving is a type of interaction</a:t>
            </a:r>
          </a:p>
          <a:p>
            <a:pPr marL="342900" indent="-342900">
              <a:buAutoNum type="arabicParenBoth"/>
            </a:pPr>
            <a:r>
              <a:rPr lang="en-US" sz="1000" b="1" dirty="0">
                <a:solidFill>
                  <a:schemeClr val="bg1"/>
                </a:solidFill>
              </a:rPr>
              <a:t>If A is B's brother, then B is A's brother</a:t>
            </a:r>
            <a:endParaRPr lang="pt-BR" sz="1000" b="1" dirty="0">
              <a:solidFill>
                <a:schemeClr val="bg1"/>
              </a:solidFill>
            </a:endParaRPr>
          </a:p>
          <a:p>
            <a:pPr marL="342900" indent="-342900">
              <a:buAutoNum type="arabicParenBoth"/>
            </a:pPr>
            <a:r>
              <a:rPr lang="en-US" sz="1000" b="1" dirty="0">
                <a:solidFill>
                  <a:schemeClr val="bg1"/>
                </a:solidFill>
              </a:rPr>
              <a:t>Each person is married to at most one other person</a:t>
            </a:r>
            <a:endParaRPr lang="pt-BR" sz="1000" dirty="0">
              <a:solidFill>
                <a:schemeClr val="bg1"/>
              </a:solidFill>
            </a:endParaRPr>
          </a:p>
        </p:txBody>
      </p:sp>
      <p:sp>
        <p:nvSpPr>
          <p:cNvPr id="44" name="Retângulo 43">
            <a:extLst>
              <a:ext uri="{FF2B5EF4-FFF2-40B4-BE49-F238E27FC236}">
                <a16:creationId xmlns:a16="http://schemas.microsoft.com/office/drawing/2014/main" id="{A426A4A8-5E89-2516-2B9D-DF36AF2BF823}"/>
              </a:ext>
            </a:extLst>
          </p:cNvPr>
          <p:cNvSpPr/>
          <p:nvPr/>
        </p:nvSpPr>
        <p:spPr>
          <a:xfrm>
            <a:off x="5129326" y="4209762"/>
            <a:ext cx="2032513" cy="74023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Retângulo 44">
            <a:extLst>
              <a:ext uri="{FF2B5EF4-FFF2-40B4-BE49-F238E27FC236}">
                <a16:creationId xmlns:a16="http://schemas.microsoft.com/office/drawing/2014/main" id="{E7C60373-DEE4-2A6D-FF73-F4A031A165BB}"/>
              </a:ext>
            </a:extLst>
          </p:cNvPr>
          <p:cNvSpPr/>
          <p:nvPr/>
        </p:nvSpPr>
        <p:spPr>
          <a:xfrm>
            <a:off x="4895600" y="5516025"/>
            <a:ext cx="2495219" cy="45519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CaixaDeTexto 45">
            <a:extLst>
              <a:ext uri="{FF2B5EF4-FFF2-40B4-BE49-F238E27FC236}">
                <a16:creationId xmlns:a16="http://schemas.microsoft.com/office/drawing/2014/main" id="{8C191178-A625-95AC-EEBA-DE0F2E78D0BD}"/>
              </a:ext>
            </a:extLst>
          </p:cNvPr>
          <p:cNvSpPr txBox="1"/>
          <p:nvPr/>
        </p:nvSpPr>
        <p:spPr>
          <a:xfrm>
            <a:off x="5186074" y="5550361"/>
            <a:ext cx="1973041" cy="369332"/>
          </a:xfrm>
          <a:prstGeom prst="rect">
            <a:avLst/>
          </a:prstGeom>
          <a:noFill/>
        </p:spPr>
        <p:txBody>
          <a:bodyPr wrap="none" rtlCol="0">
            <a:spAutoFit/>
          </a:bodyPr>
          <a:lstStyle/>
          <a:p>
            <a:r>
              <a:rPr lang="pt-BR" b="1" dirty="0">
                <a:solidFill>
                  <a:srgbClr val="FFFF00"/>
                </a:solidFill>
              </a:rPr>
              <a:t>Mary is a Mammal</a:t>
            </a:r>
          </a:p>
        </p:txBody>
      </p:sp>
      <p:sp>
        <p:nvSpPr>
          <p:cNvPr id="47" name="Seta: para Baixo 46">
            <a:extLst>
              <a:ext uri="{FF2B5EF4-FFF2-40B4-BE49-F238E27FC236}">
                <a16:creationId xmlns:a16="http://schemas.microsoft.com/office/drawing/2014/main" id="{7B2CC361-EF6C-F503-264E-54FB93928E0D}"/>
              </a:ext>
            </a:extLst>
          </p:cNvPr>
          <p:cNvSpPr/>
          <p:nvPr/>
        </p:nvSpPr>
        <p:spPr>
          <a:xfrm>
            <a:off x="5971019" y="4952542"/>
            <a:ext cx="344385" cy="522497"/>
          </a:xfrm>
          <a:prstGeom prst="downArrow">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48" name="Conector: Angulado 47">
            <a:extLst>
              <a:ext uri="{FF2B5EF4-FFF2-40B4-BE49-F238E27FC236}">
                <a16:creationId xmlns:a16="http://schemas.microsoft.com/office/drawing/2014/main" id="{163AFEF6-969D-2FB1-D636-3C9394CFFB6E}"/>
              </a:ext>
            </a:extLst>
          </p:cNvPr>
          <p:cNvCxnSpPr>
            <a:cxnSpLocks/>
            <a:stCxn id="33" idx="2"/>
            <a:endCxn id="44" idx="1"/>
          </p:cNvCxnSpPr>
          <p:nvPr/>
        </p:nvCxnSpPr>
        <p:spPr>
          <a:xfrm rot="16200000" flipH="1">
            <a:off x="3997043" y="3447593"/>
            <a:ext cx="690767" cy="1573799"/>
          </a:xfrm>
          <a:prstGeom prst="bentConnector2">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ector: Angulado 48">
            <a:extLst>
              <a:ext uri="{FF2B5EF4-FFF2-40B4-BE49-F238E27FC236}">
                <a16:creationId xmlns:a16="http://schemas.microsoft.com/office/drawing/2014/main" id="{2FB2F149-9EEF-7D92-0795-7493B9DFDF24}"/>
              </a:ext>
            </a:extLst>
          </p:cNvPr>
          <p:cNvCxnSpPr>
            <a:cxnSpLocks/>
            <a:stCxn id="15" idx="2"/>
            <a:endCxn id="44" idx="3"/>
          </p:cNvCxnSpPr>
          <p:nvPr/>
        </p:nvCxnSpPr>
        <p:spPr>
          <a:xfrm rot="5400000">
            <a:off x="7530140" y="3487437"/>
            <a:ext cx="724139" cy="1460740"/>
          </a:xfrm>
          <a:prstGeom prst="bentConnector2">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Conector de Seta Reta 49">
            <a:extLst>
              <a:ext uri="{FF2B5EF4-FFF2-40B4-BE49-F238E27FC236}">
                <a16:creationId xmlns:a16="http://schemas.microsoft.com/office/drawing/2014/main" id="{BD89C5C4-941B-C7CB-A822-6E5E0FE6AD7A}"/>
              </a:ext>
            </a:extLst>
          </p:cNvPr>
          <p:cNvCxnSpPr>
            <a:cxnSpLocks/>
          </p:cNvCxnSpPr>
          <p:nvPr/>
        </p:nvCxnSpPr>
        <p:spPr>
          <a:xfrm flipH="1">
            <a:off x="6145583" y="3887587"/>
            <a:ext cx="343" cy="359699"/>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4" name="CaixaDeTexto 53">
            <a:extLst>
              <a:ext uri="{FF2B5EF4-FFF2-40B4-BE49-F238E27FC236}">
                <a16:creationId xmlns:a16="http://schemas.microsoft.com/office/drawing/2014/main" id="{080C4AAC-E291-CAA4-BA81-11E50E2E271C}"/>
              </a:ext>
            </a:extLst>
          </p:cNvPr>
          <p:cNvSpPr txBox="1"/>
          <p:nvPr/>
        </p:nvSpPr>
        <p:spPr>
          <a:xfrm>
            <a:off x="5155074" y="4394751"/>
            <a:ext cx="2021323" cy="338554"/>
          </a:xfrm>
          <a:prstGeom prst="rect">
            <a:avLst/>
          </a:prstGeom>
          <a:noFill/>
        </p:spPr>
        <p:txBody>
          <a:bodyPr wrap="none" rtlCol="0">
            <a:spAutoFit/>
          </a:bodyPr>
          <a:lstStyle/>
          <a:p>
            <a:r>
              <a:rPr lang="pt-BR" sz="1600" b="1" dirty="0" err="1"/>
              <a:t>Reasoner</a:t>
            </a:r>
            <a:r>
              <a:rPr lang="pt-BR" sz="1600" b="1" dirty="0"/>
              <a:t> (</a:t>
            </a:r>
            <a:r>
              <a:rPr lang="pt-BR" sz="1600" b="1" dirty="0" err="1"/>
              <a:t>Inference</a:t>
            </a:r>
            <a:r>
              <a:rPr lang="pt-BR" sz="1600" b="1" dirty="0"/>
              <a:t>)</a:t>
            </a:r>
          </a:p>
        </p:txBody>
      </p:sp>
      <p:sp>
        <p:nvSpPr>
          <p:cNvPr id="56" name="CaixaDeTexto 55">
            <a:extLst>
              <a:ext uri="{FF2B5EF4-FFF2-40B4-BE49-F238E27FC236}">
                <a16:creationId xmlns:a16="http://schemas.microsoft.com/office/drawing/2014/main" id="{DC758166-C12B-4700-CFA6-F7BA633007A7}"/>
              </a:ext>
            </a:extLst>
          </p:cNvPr>
          <p:cNvSpPr txBox="1"/>
          <p:nvPr/>
        </p:nvSpPr>
        <p:spPr>
          <a:xfrm>
            <a:off x="54677" y="2510518"/>
            <a:ext cx="1602490" cy="1200329"/>
          </a:xfrm>
          <a:prstGeom prst="rect">
            <a:avLst/>
          </a:prstGeom>
          <a:noFill/>
        </p:spPr>
        <p:txBody>
          <a:bodyPr wrap="none" rtlCol="0">
            <a:spAutoFit/>
          </a:bodyPr>
          <a:lstStyle/>
          <a:p>
            <a:pPr algn="ctr"/>
            <a:r>
              <a:rPr lang="pt-BR" sz="2400" b="1" dirty="0">
                <a:solidFill>
                  <a:schemeClr val="accent4">
                    <a:lumMod val="75000"/>
                  </a:schemeClr>
                </a:solidFill>
              </a:rPr>
              <a:t>The </a:t>
            </a:r>
          </a:p>
          <a:p>
            <a:pPr algn="ctr"/>
            <a:r>
              <a:rPr lang="pt-BR" sz="2400" b="1" dirty="0">
                <a:solidFill>
                  <a:schemeClr val="accent4">
                    <a:lumMod val="75000"/>
                  </a:schemeClr>
                </a:solidFill>
              </a:rPr>
              <a:t>Knowledge</a:t>
            </a:r>
            <a:br>
              <a:rPr lang="pt-BR" sz="2400" b="1" dirty="0">
                <a:solidFill>
                  <a:schemeClr val="accent4">
                    <a:lumMod val="75000"/>
                  </a:schemeClr>
                </a:solidFill>
              </a:rPr>
            </a:br>
            <a:r>
              <a:rPr lang="pt-BR" sz="2400" b="1" dirty="0">
                <a:solidFill>
                  <a:schemeClr val="accent4">
                    <a:lumMod val="75000"/>
                  </a:schemeClr>
                </a:solidFill>
              </a:rPr>
              <a:t>Base</a:t>
            </a:r>
          </a:p>
        </p:txBody>
      </p:sp>
      <p:sp>
        <p:nvSpPr>
          <p:cNvPr id="6" name="CaixaDeTexto 5">
            <a:extLst>
              <a:ext uri="{FF2B5EF4-FFF2-40B4-BE49-F238E27FC236}">
                <a16:creationId xmlns:a16="http://schemas.microsoft.com/office/drawing/2014/main" id="{18F03967-AC15-1CB8-717E-63C2C16310EE}"/>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0" name="Slide Number Placeholder 0">
            <a:extLst>
              <a:ext uri="{FF2B5EF4-FFF2-40B4-BE49-F238E27FC236}">
                <a16:creationId xmlns:a16="http://schemas.microsoft.com/office/drawing/2014/main" id="{881ADAE8-7FA9-0948-9DCB-BB7445FE7BB2}"/>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7</a:t>
            </a:fld>
            <a:endParaRPr lang="en-US" dirty="0">
              <a:solidFill>
                <a:srgbClr val="0070C0"/>
              </a:solidFill>
            </a:endParaRPr>
          </a:p>
        </p:txBody>
      </p:sp>
    </p:spTree>
    <p:extLst>
      <p:ext uri="{BB962C8B-B14F-4D97-AF65-F5344CB8AC3E}">
        <p14:creationId xmlns:p14="http://schemas.microsoft.com/office/powerpoint/2010/main" val="2755650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3D420-F010-070D-A8DC-61516F454DF5}"/>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C3DF6C21-52BD-0482-2A9B-31D3C5A446BA}"/>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6" name="CaixaDeTexto 5">
            <a:extLst>
              <a:ext uri="{FF2B5EF4-FFF2-40B4-BE49-F238E27FC236}">
                <a16:creationId xmlns:a16="http://schemas.microsoft.com/office/drawing/2014/main" id="{1E9F3B0E-9593-4AB1-CED2-3D5831744571}"/>
              </a:ext>
            </a:extLst>
          </p:cNvPr>
          <p:cNvSpPr txBox="1"/>
          <p:nvPr/>
        </p:nvSpPr>
        <p:spPr>
          <a:xfrm>
            <a:off x="102408" y="2510518"/>
            <a:ext cx="1792029" cy="954107"/>
          </a:xfrm>
          <a:prstGeom prst="rect">
            <a:avLst/>
          </a:prstGeom>
          <a:noFill/>
        </p:spPr>
        <p:txBody>
          <a:bodyPr wrap="none" rtlCol="0">
            <a:spAutoFit/>
          </a:bodyPr>
          <a:lstStyle/>
          <a:p>
            <a:pPr algn="ctr"/>
            <a:r>
              <a:rPr lang="pt-BR" sz="2800" b="1" dirty="0">
                <a:solidFill>
                  <a:schemeClr val="accent4">
                    <a:lumMod val="75000"/>
                  </a:schemeClr>
                </a:solidFill>
              </a:rPr>
              <a:t>Types of </a:t>
            </a:r>
            <a:br>
              <a:rPr lang="pt-BR" sz="2800" b="1" dirty="0">
                <a:solidFill>
                  <a:schemeClr val="accent4">
                    <a:lumMod val="75000"/>
                  </a:schemeClr>
                </a:solidFill>
              </a:rPr>
            </a:br>
            <a:r>
              <a:rPr lang="pt-BR" sz="2800" b="1" dirty="0">
                <a:solidFill>
                  <a:schemeClr val="accent4">
                    <a:lumMod val="75000"/>
                  </a:schemeClr>
                </a:solidFill>
              </a:rPr>
              <a:t>Ontologies</a:t>
            </a:r>
          </a:p>
        </p:txBody>
      </p:sp>
      <p:graphicFrame>
        <p:nvGraphicFramePr>
          <p:cNvPr id="7" name="Tabela 6">
            <a:extLst>
              <a:ext uri="{FF2B5EF4-FFF2-40B4-BE49-F238E27FC236}">
                <a16:creationId xmlns:a16="http://schemas.microsoft.com/office/drawing/2014/main" id="{F5053463-EFB7-2474-A59E-C9731378FADC}"/>
              </a:ext>
            </a:extLst>
          </p:cNvPr>
          <p:cNvGraphicFramePr>
            <a:graphicFrameLocks noGrp="1"/>
          </p:cNvGraphicFramePr>
          <p:nvPr>
            <p:extLst>
              <p:ext uri="{D42A27DB-BD31-4B8C-83A1-F6EECF244321}">
                <p14:modId xmlns:p14="http://schemas.microsoft.com/office/powerpoint/2010/main" val="1322868003"/>
              </p:ext>
            </p:extLst>
          </p:nvPr>
        </p:nvGraphicFramePr>
        <p:xfrm>
          <a:off x="2249913" y="1052459"/>
          <a:ext cx="9399781" cy="4241800"/>
        </p:xfrm>
        <a:graphic>
          <a:graphicData uri="http://schemas.openxmlformats.org/drawingml/2006/table">
            <a:tbl>
              <a:tblPr firstRow="1" bandRow="1">
                <a:tableStyleId>{5C22544A-7EE6-4342-B048-85BDC9FD1C3A}</a:tableStyleId>
              </a:tblPr>
              <a:tblGrid>
                <a:gridCol w="2108331">
                  <a:extLst>
                    <a:ext uri="{9D8B030D-6E8A-4147-A177-3AD203B41FA5}">
                      <a16:colId xmlns:a16="http://schemas.microsoft.com/office/drawing/2014/main" val="1324817539"/>
                    </a:ext>
                  </a:extLst>
                </a:gridCol>
                <a:gridCol w="3776353">
                  <a:extLst>
                    <a:ext uri="{9D8B030D-6E8A-4147-A177-3AD203B41FA5}">
                      <a16:colId xmlns:a16="http://schemas.microsoft.com/office/drawing/2014/main" val="3819537641"/>
                    </a:ext>
                  </a:extLst>
                </a:gridCol>
                <a:gridCol w="3515097">
                  <a:extLst>
                    <a:ext uri="{9D8B030D-6E8A-4147-A177-3AD203B41FA5}">
                      <a16:colId xmlns:a16="http://schemas.microsoft.com/office/drawing/2014/main" val="1570953016"/>
                    </a:ext>
                  </a:extLst>
                </a:gridCol>
              </a:tblGrid>
              <a:tr h="370840">
                <a:tc gridSpan="3">
                  <a:txBody>
                    <a:bodyPr/>
                    <a:lstStyle/>
                    <a:p>
                      <a:pPr algn="ctr"/>
                      <a:r>
                        <a:rPr lang="pt-BR" sz="2000" dirty="0"/>
                        <a:t>UFO in </a:t>
                      </a:r>
                      <a:r>
                        <a:rPr lang="pt-BR" sz="2000" dirty="0" err="1"/>
                        <a:t>the</a:t>
                      </a:r>
                      <a:r>
                        <a:rPr lang="pt-BR" sz="2000" dirty="0"/>
                        <a:t> </a:t>
                      </a:r>
                      <a:r>
                        <a:rPr lang="pt-BR" sz="2000" dirty="0" err="1"/>
                        <a:t>Development</a:t>
                      </a:r>
                      <a:r>
                        <a:rPr lang="pt-BR" sz="2000" dirty="0"/>
                        <a:t> of Domain Ontologies</a:t>
                      </a:r>
                    </a:p>
                  </a:txBody>
                  <a:tcPr/>
                </a:tc>
                <a:tc hMerge="1">
                  <a:txBody>
                    <a:bodyPr/>
                    <a:lstStyle/>
                    <a:p>
                      <a:endParaRPr lang="pt-BR" dirty="0"/>
                    </a:p>
                  </a:txBody>
                  <a:tcPr/>
                </a:tc>
                <a:tc hMerge="1">
                  <a:txBody>
                    <a:bodyPr/>
                    <a:lstStyle/>
                    <a:p>
                      <a:endParaRPr lang="pt-BR" dirty="0"/>
                    </a:p>
                  </a:txBody>
                  <a:tcPr/>
                </a:tc>
                <a:extLst>
                  <a:ext uri="{0D108BD9-81ED-4DB2-BD59-A6C34878D82A}">
                    <a16:rowId xmlns:a16="http://schemas.microsoft.com/office/drawing/2014/main" val="443761211"/>
                  </a:ext>
                </a:extLst>
              </a:tr>
              <a:tr h="370840">
                <a:tc>
                  <a:txBody>
                    <a:bodyPr/>
                    <a:lstStyle/>
                    <a:p>
                      <a:pPr algn="ctr">
                        <a:buNone/>
                      </a:pPr>
                      <a:r>
                        <a:rPr lang="pt-BR" sz="1400" b="1" dirty="0" err="1">
                          <a:solidFill>
                            <a:srgbClr val="C00000"/>
                          </a:solidFill>
                        </a:rPr>
                        <a:t>Advantages</a:t>
                      </a:r>
                      <a:endParaRPr lang="pt-BR" sz="1400" dirty="0">
                        <a:solidFill>
                          <a:srgbClr val="C00000"/>
                        </a:solidFill>
                      </a:endParaRPr>
                    </a:p>
                  </a:txBody>
                  <a:tcPr anchor="ctr"/>
                </a:tc>
                <a:tc>
                  <a:txBody>
                    <a:bodyPr/>
                    <a:lstStyle/>
                    <a:p>
                      <a:pPr algn="ctr">
                        <a:buNone/>
                      </a:pPr>
                      <a:r>
                        <a:rPr lang="pt-BR" sz="1400" b="1" dirty="0">
                          <a:solidFill>
                            <a:srgbClr val="C00000"/>
                          </a:solidFill>
                        </a:rPr>
                        <a:t>In </a:t>
                      </a:r>
                      <a:r>
                        <a:rPr lang="pt-BR" sz="1400" b="1" dirty="0" err="1">
                          <a:solidFill>
                            <a:srgbClr val="C00000"/>
                          </a:solidFill>
                        </a:rPr>
                        <a:t>the</a:t>
                      </a:r>
                      <a:r>
                        <a:rPr lang="pt-BR" sz="1400" b="1" dirty="0">
                          <a:solidFill>
                            <a:srgbClr val="C00000"/>
                          </a:solidFill>
                        </a:rPr>
                        <a:t> </a:t>
                      </a:r>
                      <a:r>
                        <a:rPr lang="pt-BR" sz="1400" b="1" dirty="0" err="1">
                          <a:solidFill>
                            <a:srgbClr val="C00000"/>
                          </a:solidFill>
                        </a:rPr>
                        <a:t>Generic</a:t>
                      </a:r>
                      <a:r>
                        <a:rPr lang="pt-BR" sz="1400" b="1" dirty="0">
                          <a:solidFill>
                            <a:srgbClr val="C00000"/>
                          </a:solidFill>
                        </a:rPr>
                        <a:t> Domain</a:t>
                      </a:r>
                      <a:endParaRPr lang="pt-BR" sz="1400" dirty="0">
                        <a:solidFill>
                          <a:srgbClr val="C00000"/>
                        </a:solidFill>
                      </a:endParaRPr>
                    </a:p>
                  </a:txBody>
                  <a:tcPr anchor="ctr"/>
                </a:tc>
                <a:tc>
                  <a:txBody>
                    <a:bodyPr/>
                    <a:lstStyle/>
                    <a:p>
                      <a:pPr algn="ctr">
                        <a:buNone/>
                      </a:pPr>
                      <a:r>
                        <a:rPr lang="pt-BR" sz="1400" b="1" dirty="0">
                          <a:solidFill>
                            <a:srgbClr val="C00000"/>
                          </a:solidFill>
                        </a:rPr>
                        <a:t>In </a:t>
                      </a:r>
                      <a:r>
                        <a:rPr lang="pt-BR" sz="1400" b="1" dirty="0" err="1">
                          <a:solidFill>
                            <a:srgbClr val="C00000"/>
                          </a:solidFill>
                        </a:rPr>
                        <a:t>the</a:t>
                      </a:r>
                      <a:r>
                        <a:rPr lang="pt-BR" sz="1400" b="1" dirty="0">
                          <a:solidFill>
                            <a:srgbClr val="C00000"/>
                          </a:solidFill>
                        </a:rPr>
                        <a:t> </a:t>
                      </a:r>
                      <a:r>
                        <a:rPr lang="pt-BR" sz="1400" b="1" dirty="0" err="1">
                          <a:solidFill>
                            <a:srgbClr val="C00000"/>
                          </a:solidFill>
                        </a:rPr>
                        <a:t>Information</a:t>
                      </a:r>
                      <a:r>
                        <a:rPr lang="pt-BR" sz="1400" b="1" dirty="0">
                          <a:solidFill>
                            <a:srgbClr val="C00000"/>
                          </a:solidFill>
                        </a:rPr>
                        <a:t> Infrastructure Domain</a:t>
                      </a:r>
                      <a:endParaRPr lang="pt-BR" sz="1400" dirty="0">
                        <a:solidFill>
                          <a:srgbClr val="C00000"/>
                        </a:solidFill>
                      </a:endParaRPr>
                    </a:p>
                  </a:txBody>
                  <a:tcPr anchor="ctr"/>
                </a:tc>
                <a:extLst>
                  <a:ext uri="{0D108BD9-81ED-4DB2-BD59-A6C34878D82A}">
                    <a16:rowId xmlns:a16="http://schemas.microsoft.com/office/drawing/2014/main" val="581701627"/>
                  </a:ext>
                </a:extLst>
              </a:tr>
              <a:tr h="370840">
                <a:tc>
                  <a:txBody>
                    <a:bodyPr/>
                    <a:lstStyle/>
                    <a:p>
                      <a:pPr algn="l">
                        <a:buNone/>
                      </a:pPr>
                      <a:r>
                        <a:rPr lang="pt-BR" sz="1200" b="1" dirty="0" err="1"/>
                        <a:t>Distinguishing</a:t>
                      </a:r>
                      <a:r>
                        <a:rPr lang="pt-BR" sz="1200" b="1" dirty="0"/>
                        <a:t> </a:t>
                      </a:r>
                      <a:r>
                        <a:rPr lang="pt-BR" sz="1200" b="1" dirty="0" err="1"/>
                        <a:t>what</a:t>
                      </a:r>
                      <a:r>
                        <a:rPr lang="pt-BR" sz="1200" b="1" dirty="0"/>
                        <a:t> </a:t>
                      </a:r>
                      <a:r>
                        <a:rPr lang="pt-BR" sz="1200" b="1" dirty="0" err="1"/>
                        <a:t>something</a:t>
                      </a:r>
                      <a:r>
                        <a:rPr lang="pt-BR" sz="1200" b="1" dirty="0"/>
                        <a:t> is </a:t>
                      </a:r>
                      <a:r>
                        <a:rPr lang="pt-BR" sz="1200" b="1" dirty="0" err="1"/>
                        <a:t>from</a:t>
                      </a:r>
                      <a:r>
                        <a:rPr lang="pt-BR" sz="1200" b="1" dirty="0"/>
                        <a:t> </a:t>
                      </a:r>
                      <a:r>
                        <a:rPr lang="pt-BR" sz="1200" b="1" dirty="0" err="1"/>
                        <a:t>the</a:t>
                      </a:r>
                      <a:r>
                        <a:rPr lang="pt-BR" sz="1200" b="1" dirty="0"/>
                        <a:t> role it plays</a:t>
                      </a:r>
                      <a:endParaRPr lang="pt-BR" sz="1200" dirty="0"/>
                    </a:p>
                  </a:txBody>
                  <a:tcPr anchor="ctr"/>
                </a:tc>
                <a:tc>
                  <a:txBody>
                    <a:bodyPr/>
                    <a:lstStyle/>
                    <a:p>
                      <a:pPr algn="just">
                        <a:buNone/>
                      </a:pPr>
                      <a:r>
                        <a:rPr lang="pt-BR" sz="1200" dirty="0"/>
                        <a:t>A </a:t>
                      </a:r>
                      <a:r>
                        <a:rPr lang="pt-BR" sz="1200" dirty="0" err="1"/>
                        <a:t>person</a:t>
                      </a:r>
                      <a:r>
                        <a:rPr lang="pt-BR" sz="1200" dirty="0"/>
                        <a:t> </a:t>
                      </a:r>
                      <a:r>
                        <a:rPr lang="pt-BR" sz="1200" dirty="0" err="1"/>
                        <a:t>remains</a:t>
                      </a:r>
                      <a:r>
                        <a:rPr lang="pt-BR" sz="1200" dirty="0"/>
                        <a:t> a </a:t>
                      </a:r>
                      <a:r>
                        <a:rPr lang="pt-BR" sz="1200" dirty="0" err="1"/>
                        <a:t>person</a:t>
                      </a:r>
                      <a:r>
                        <a:rPr lang="pt-BR" sz="1200" dirty="0"/>
                        <a:t> </a:t>
                      </a:r>
                      <a:r>
                        <a:rPr lang="pt-BR" sz="1200" dirty="0" err="1"/>
                        <a:t>throughout</a:t>
                      </a:r>
                      <a:r>
                        <a:rPr lang="pt-BR" sz="1200" dirty="0"/>
                        <a:t> </a:t>
                      </a:r>
                      <a:r>
                        <a:rPr lang="pt-BR" sz="1200" dirty="0" err="1"/>
                        <a:t>their</a:t>
                      </a:r>
                      <a:r>
                        <a:rPr lang="pt-BR" sz="1200" dirty="0"/>
                        <a:t> </a:t>
                      </a:r>
                      <a:r>
                        <a:rPr lang="pt-BR" sz="1200" dirty="0" err="1"/>
                        <a:t>life</a:t>
                      </a:r>
                      <a:r>
                        <a:rPr lang="pt-BR" sz="1200" dirty="0"/>
                        <a:t>, </a:t>
                      </a:r>
                      <a:r>
                        <a:rPr lang="pt-BR" sz="1200" dirty="0" err="1"/>
                        <a:t>but</a:t>
                      </a:r>
                      <a:r>
                        <a:rPr lang="pt-BR" sz="1200" dirty="0"/>
                        <a:t> is a </a:t>
                      </a:r>
                      <a:r>
                        <a:rPr lang="pt-BR" sz="1200" dirty="0" err="1"/>
                        <a:t>student</a:t>
                      </a:r>
                      <a:r>
                        <a:rPr lang="pt-BR" sz="1200" dirty="0"/>
                        <a:t> </a:t>
                      </a:r>
                      <a:r>
                        <a:rPr lang="pt-BR" sz="1200" dirty="0" err="1"/>
                        <a:t>only</a:t>
                      </a:r>
                      <a:r>
                        <a:rPr lang="pt-BR" sz="1200" dirty="0"/>
                        <a:t> for a </a:t>
                      </a:r>
                      <a:r>
                        <a:rPr lang="pt-BR" sz="1200" dirty="0" err="1"/>
                        <a:t>period</a:t>
                      </a:r>
                      <a:r>
                        <a:rPr lang="pt-BR" sz="1200" dirty="0"/>
                        <a:t>, </a:t>
                      </a:r>
                      <a:r>
                        <a:rPr lang="pt-BR" sz="1200" dirty="0" err="1"/>
                        <a:t>while</a:t>
                      </a:r>
                      <a:r>
                        <a:rPr lang="pt-BR" sz="1200" dirty="0"/>
                        <a:t> </a:t>
                      </a:r>
                      <a:r>
                        <a:rPr lang="pt-BR" sz="1200" dirty="0" err="1"/>
                        <a:t>enrolled</a:t>
                      </a:r>
                      <a:r>
                        <a:rPr lang="pt-BR" sz="1200" dirty="0"/>
                        <a:t>. It </a:t>
                      </a:r>
                      <a:r>
                        <a:rPr lang="pt-BR" sz="1200" dirty="0" err="1"/>
                        <a:t>may</a:t>
                      </a:r>
                      <a:r>
                        <a:rPr lang="pt-BR" sz="1200" dirty="0"/>
                        <a:t> </a:t>
                      </a:r>
                      <a:r>
                        <a:rPr lang="pt-BR" sz="1200" dirty="0" err="1"/>
                        <a:t>seem</a:t>
                      </a:r>
                      <a:r>
                        <a:rPr lang="pt-BR" sz="1200" dirty="0"/>
                        <a:t> </a:t>
                      </a:r>
                      <a:r>
                        <a:rPr lang="pt-BR" sz="1200" dirty="0" err="1"/>
                        <a:t>obvious</a:t>
                      </a:r>
                      <a:r>
                        <a:rPr lang="pt-BR" sz="1200" dirty="0"/>
                        <a:t>, </a:t>
                      </a:r>
                      <a:r>
                        <a:rPr lang="pt-BR" sz="1200" dirty="0" err="1"/>
                        <a:t>yet</a:t>
                      </a:r>
                      <a:r>
                        <a:rPr lang="pt-BR" sz="1200" dirty="0"/>
                        <a:t> </a:t>
                      </a:r>
                      <a:r>
                        <a:rPr lang="pt-BR" sz="1200" dirty="0" err="1"/>
                        <a:t>information</a:t>
                      </a:r>
                      <a:r>
                        <a:rPr lang="pt-BR" sz="1200" dirty="0"/>
                        <a:t> systems </a:t>
                      </a:r>
                      <a:r>
                        <a:rPr lang="pt-BR" sz="1200" dirty="0" err="1"/>
                        <a:t>often</a:t>
                      </a:r>
                      <a:r>
                        <a:rPr lang="pt-BR" sz="1200" dirty="0"/>
                        <a:t> </a:t>
                      </a:r>
                      <a:r>
                        <a:rPr lang="pt-BR" sz="1200" dirty="0" err="1"/>
                        <a:t>confuse</a:t>
                      </a:r>
                      <a:r>
                        <a:rPr lang="pt-BR" sz="1200" dirty="0"/>
                        <a:t> </a:t>
                      </a:r>
                      <a:r>
                        <a:rPr lang="pt-BR" sz="1200" dirty="0" err="1"/>
                        <a:t>this</a:t>
                      </a:r>
                      <a:r>
                        <a:rPr lang="pt-BR" sz="1200" dirty="0"/>
                        <a:t> </a:t>
                      </a:r>
                      <a:r>
                        <a:rPr lang="pt-BR" sz="1200" dirty="0" err="1"/>
                        <a:t>distinction</a:t>
                      </a:r>
                      <a:r>
                        <a:rPr lang="pt-BR" sz="1200" dirty="0"/>
                        <a:t>. UFO </a:t>
                      </a:r>
                      <a:r>
                        <a:rPr lang="pt-BR" sz="1200" dirty="0" err="1"/>
                        <a:t>enforces</a:t>
                      </a:r>
                      <a:r>
                        <a:rPr lang="pt-BR" sz="1200" dirty="0"/>
                        <a:t> </a:t>
                      </a:r>
                      <a:r>
                        <a:rPr lang="pt-BR" sz="1200" dirty="0" err="1"/>
                        <a:t>the</a:t>
                      </a:r>
                      <a:r>
                        <a:rPr lang="pt-BR" sz="1200" dirty="0"/>
                        <a:t> </a:t>
                      </a:r>
                      <a:r>
                        <a:rPr lang="pt-BR" sz="1200" dirty="0" err="1"/>
                        <a:t>need</a:t>
                      </a:r>
                      <a:r>
                        <a:rPr lang="pt-BR" sz="1200" dirty="0"/>
                        <a:t> </a:t>
                      </a:r>
                      <a:r>
                        <a:rPr lang="pt-BR" sz="1200" dirty="0" err="1"/>
                        <a:t>to</a:t>
                      </a:r>
                      <a:r>
                        <a:rPr lang="pt-BR" sz="1200" dirty="0"/>
                        <a:t> make it </a:t>
                      </a:r>
                      <a:r>
                        <a:rPr lang="pt-BR" sz="1200" dirty="0" err="1"/>
                        <a:t>explicit</a:t>
                      </a:r>
                      <a:r>
                        <a:rPr lang="pt-BR" sz="1200" dirty="0"/>
                        <a:t>.</a:t>
                      </a:r>
                    </a:p>
                  </a:txBody>
                  <a:tcPr anchor="ctr"/>
                </a:tc>
                <a:tc>
                  <a:txBody>
                    <a:bodyPr/>
                    <a:lstStyle/>
                    <a:p>
                      <a:pPr algn="just">
                        <a:buNone/>
                      </a:pPr>
                      <a:r>
                        <a:rPr lang="pt-BR" sz="1200" dirty="0"/>
                        <a:t>A network is </a:t>
                      </a:r>
                      <a:r>
                        <a:rPr lang="pt-BR" sz="1200" dirty="0" err="1"/>
                        <a:t>an</a:t>
                      </a:r>
                      <a:r>
                        <a:rPr lang="pt-BR" sz="1200" dirty="0"/>
                        <a:t> </a:t>
                      </a:r>
                      <a:r>
                        <a:rPr lang="pt-BR" sz="1200" dirty="0" err="1"/>
                        <a:t>Autonomous</a:t>
                      </a:r>
                      <a:r>
                        <a:rPr lang="pt-BR" sz="1200" dirty="0"/>
                        <a:t> System, </a:t>
                      </a:r>
                      <a:r>
                        <a:rPr lang="pt-BR" sz="1200" dirty="0" err="1"/>
                        <a:t>but</a:t>
                      </a:r>
                      <a:r>
                        <a:rPr lang="pt-BR" sz="1200" dirty="0"/>
                        <a:t> </a:t>
                      </a:r>
                      <a:r>
                        <a:rPr lang="pt-BR" sz="1200" dirty="0" err="1"/>
                        <a:t>simultaneously</a:t>
                      </a:r>
                      <a:r>
                        <a:rPr lang="pt-BR" sz="1200" dirty="0"/>
                        <a:t> </a:t>
                      </a:r>
                      <a:r>
                        <a:rPr lang="pt-BR" sz="1200" dirty="0" err="1"/>
                        <a:t>acts</a:t>
                      </a:r>
                      <a:r>
                        <a:rPr lang="pt-BR" sz="1200" dirty="0"/>
                        <a:t> as a </a:t>
                      </a:r>
                      <a:r>
                        <a:rPr lang="pt-BR" sz="1200" dirty="0" err="1"/>
                        <a:t>provider</a:t>
                      </a:r>
                      <a:r>
                        <a:rPr lang="pt-BR" sz="1200" dirty="0"/>
                        <a:t> </a:t>
                      </a:r>
                      <a:r>
                        <a:rPr lang="pt-BR" sz="1200" dirty="0" err="1"/>
                        <a:t>to</a:t>
                      </a:r>
                      <a:r>
                        <a:rPr lang="pt-BR" sz="1200" dirty="0"/>
                        <a:t> </a:t>
                      </a:r>
                      <a:r>
                        <a:rPr lang="pt-BR" sz="1200" dirty="0" err="1"/>
                        <a:t>one</a:t>
                      </a:r>
                      <a:r>
                        <a:rPr lang="pt-BR" sz="1200" dirty="0"/>
                        <a:t> </a:t>
                      </a:r>
                      <a:r>
                        <a:rPr lang="pt-BR" sz="1200" dirty="0" err="1"/>
                        <a:t>neighbour</a:t>
                      </a:r>
                      <a:r>
                        <a:rPr lang="pt-BR" sz="1200" dirty="0"/>
                        <a:t> and as a </a:t>
                      </a:r>
                      <a:r>
                        <a:rPr lang="pt-BR" sz="1200" dirty="0" err="1"/>
                        <a:t>client</a:t>
                      </a:r>
                      <a:r>
                        <a:rPr lang="pt-BR" sz="1200" dirty="0"/>
                        <a:t> </a:t>
                      </a:r>
                      <a:r>
                        <a:rPr lang="pt-BR" sz="1200" dirty="0" err="1"/>
                        <a:t>to</a:t>
                      </a:r>
                      <a:r>
                        <a:rPr lang="pt-BR" sz="1200" dirty="0"/>
                        <a:t> </a:t>
                      </a:r>
                      <a:r>
                        <a:rPr lang="pt-BR" sz="1200" dirty="0" err="1"/>
                        <a:t>another</a:t>
                      </a:r>
                      <a:r>
                        <a:rPr lang="pt-BR" sz="1200" dirty="0"/>
                        <a:t>. </a:t>
                      </a:r>
                      <a:r>
                        <a:rPr lang="pt-BR" sz="1200" dirty="0" err="1"/>
                        <a:t>Without</a:t>
                      </a:r>
                      <a:r>
                        <a:rPr lang="pt-BR" sz="1200" dirty="0"/>
                        <a:t> </a:t>
                      </a:r>
                      <a:r>
                        <a:rPr lang="pt-BR" sz="1200" dirty="0" err="1"/>
                        <a:t>this</a:t>
                      </a:r>
                      <a:r>
                        <a:rPr lang="pt-BR" sz="1200" dirty="0"/>
                        <a:t> </a:t>
                      </a:r>
                      <a:r>
                        <a:rPr lang="pt-BR" sz="1200" dirty="0" err="1"/>
                        <a:t>separation</a:t>
                      </a:r>
                      <a:r>
                        <a:rPr lang="pt-BR" sz="1200" dirty="0"/>
                        <a:t>, </a:t>
                      </a:r>
                      <a:r>
                        <a:rPr lang="pt-BR" sz="1200" dirty="0" err="1"/>
                        <a:t>the</a:t>
                      </a:r>
                      <a:r>
                        <a:rPr lang="pt-BR" sz="1200" dirty="0"/>
                        <a:t> model </a:t>
                      </a:r>
                      <a:r>
                        <a:rPr lang="pt-BR" sz="1200" dirty="0" err="1"/>
                        <a:t>fails</a:t>
                      </a:r>
                      <a:r>
                        <a:rPr lang="pt-BR" sz="1200" dirty="0"/>
                        <a:t> as </a:t>
                      </a:r>
                      <a:r>
                        <a:rPr lang="pt-BR" sz="1200" dirty="0" err="1"/>
                        <a:t>soon</a:t>
                      </a:r>
                      <a:r>
                        <a:rPr lang="pt-BR" sz="1200" dirty="0"/>
                        <a:t> as </a:t>
                      </a:r>
                      <a:r>
                        <a:rPr lang="pt-BR" sz="1200" dirty="0" err="1"/>
                        <a:t>the</a:t>
                      </a:r>
                      <a:r>
                        <a:rPr lang="pt-BR" sz="1200" dirty="0"/>
                        <a:t> </a:t>
                      </a:r>
                      <a:r>
                        <a:rPr lang="pt-BR" sz="1200" dirty="0" err="1"/>
                        <a:t>same</a:t>
                      </a:r>
                      <a:r>
                        <a:rPr lang="pt-BR" sz="1200" dirty="0"/>
                        <a:t> network assumes </a:t>
                      </a:r>
                      <a:r>
                        <a:rPr lang="pt-BR" sz="1200" dirty="0" err="1"/>
                        <a:t>two</a:t>
                      </a:r>
                      <a:r>
                        <a:rPr lang="pt-BR" sz="1200" dirty="0"/>
                        <a:t> roles.</a:t>
                      </a:r>
                    </a:p>
                  </a:txBody>
                  <a:tcPr anchor="ctr"/>
                </a:tc>
                <a:extLst>
                  <a:ext uri="{0D108BD9-81ED-4DB2-BD59-A6C34878D82A}">
                    <a16:rowId xmlns:a16="http://schemas.microsoft.com/office/drawing/2014/main" val="2839161010"/>
                  </a:ext>
                </a:extLst>
              </a:tr>
              <a:tr h="370840">
                <a:tc>
                  <a:txBody>
                    <a:bodyPr/>
                    <a:lstStyle/>
                    <a:p>
                      <a:pPr>
                        <a:buNone/>
                      </a:pPr>
                      <a:r>
                        <a:rPr lang="pt-BR" sz="1200" b="1"/>
                        <a:t>Being able to state when something continues to be "the same"</a:t>
                      </a:r>
                      <a:endParaRPr lang="pt-BR" sz="1200"/>
                    </a:p>
                  </a:txBody>
                  <a:tcPr anchor="ctr"/>
                </a:tc>
                <a:tc>
                  <a:txBody>
                    <a:bodyPr/>
                    <a:lstStyle/>
                    <a:p>
                      <a:pPr algn="just">
                        <a:buNone/>
                      </a:pPr>
                      <a:r>
                        <a:rPr lang="pt-BR" sz="1200" dirty="0"/>
                        <a:t>A football </a:t>
                      </a:r>
                      <a:r>
                        <a:rPr lang="pt-BR" sz="1200" dirty="0" err="1"/>
                        <a:t>team</a:t>
                      </a:r>
                      <a:r>
                        <a:rPr lang="pt-BR" sz="1200" dirty="0"/>
                        <a:t> </a:t>
                      </a:r>
                      <a:r>
                        <a:rPr lang="pt-BR" sz="1200" dirty="0" err="1"/>
                        <a:t>replaces</a:t>
                      </a:r>
                      <a:r>
                        <a:rPr lang="pt-BR" sz="1200" dirty="0"/>
                        <a:t> </a:t>
                      </a:r>
                      <a:r>
                        <a:rPr lang="pt-BR" sz="1200" dirty="0" err="1"/>
                        <a:t>all</a:t>
                      </a:r>
                      <a:r>
                        <a:rPr lang="pt-BR" sz="1200" dirty="0"/>
                        <a:t> its players over </a:t>
                      </a:r>
                      <a:r>
                        <a:rPr lang="pt-BR" sz="1200" dirty="0" err="1"/>
                        <a:t>the</a:t>
                      </a:r>
                      <a:r>
                        <a:rPr lang="pt-BR" sz="1200" dirty="0"/>
                        <a:t> </a:t>
                      </a:r>
                      <a:r>
                        <a:rPr lang="pt-BR" sz="1200" dirty="0" err="1"/>
                        <a:t>years</a:t>
                      </a:r>
                      <a:r>
                        <a:rPr lang="pt-BR" sz="1200" dirty="0"/>
                        <a:t> and </a:t>
                      </a:r>
                      <a:r>
                        <a:rPr lang="pt-BR" sz="1200" dirty="0" err="1"/>
                        <a:t>yet</a:t>
                      </a:r>
                      <a:r>
                        <a:rPr lang="pt-BR" sz="1200" dirty="0"/>
                        <a:t> </a:t>
                      </a:r>
                      <a:r>
                        <a:rPr lang="pt-BR" sz="1200" dirty="0" err="1"/>
                        <a:t>remains</a:t>
                      </a:r>
                      <a:r>
                        <a:rPr lang="pt-BR" sz="1200" dirty="0"/>
                        <a:t> </a:t>
                      </a:r>
                      <a:r>
                        <a:rPr lang="pt-BR" sz="1200" dirty="0" err="1"/>
                        <a:t>the</a:t>
                      </a:r>
                      <a:r>
                        <a:rPr lang="pt-BR" sz="1200" dirty="0"/>
                        <a:t> </a:t>
                      </a:r>
                      <a:r>
                        <a:rPr lang="pt-BR" sz="1200" dirty="0" err="1"/>
                        <a:t>same</a:t>
                      </a:r>
                      <a:r>
                        <a:rPr lang="pt-BR" sz="1200" dirty="0"/>
                        <a:t> </a:t>
                      </a:r>
                      <a:r>
                        <a:rPr lang="pt-BR" sz="1200" dirty="0" err="1"/>
                        <a:t>team</a:t>
                      </a:r>
                      <a:r>
                        <a:rPr lang="pt-BR" sz="1200" dirty="0"/>
                        <a:t>. UFO requires </a:t>
                      </a:r>
                      <a:r>
                        <a:rPr lang="pt-BR" sz="1200" dirty="0" err="1"/>
                        <a:t>one</a:t>
                      </a:r>
                      <a:r>
                        <a:rPr lang="pt-BR" sz="1200" dirty="0"/>
                        <a:t> </a:t>
                      </a:r>
                      <a:r>
                        <a:rPr lang="pt-BR" sz="1200" dirty="0" err="1"/>
                        <a:t>to</a:t>
                      </a:r>
                      <a:r>
                        <a:rPr lang="pt-BR" sz="1200" dirty="0"/>
                        <a:t> </a:t>
                      </a:r>
                      <a:r>
                        <a:rPr lang="pt-BR" sz="1200" dirty="0" err="1"/>
                        <a:t>explicitly</a:t>
                      </a:r>
                      <a:r>
                        <a:rPr lang="pt-BR" sz="1200" dirty="0"/>
                        <a:t> </a:t>
                      </a:r>
                      <a:r>
                        <a:rPr lang="pt-BR" sz="1200" dirty="0" err="1"/>
                        <a:t>state</a:t>
                      </a:r>
                      <a:r>
                        <a:rPr lang="pt-BR" sz="1200" dirty="0"/>
                        <a:t> </a:t>
                      </a:r>
                      <a:r>
                        <a:rPr lang="pt-BR" sz="1200" dirty="0" err="1"/>
                        <a:t>what</a:t>
                      </a:r>
                      <a:r>
                        <a:rPr lang="pt-BR" sz="1200" dirty="0"/>
                        <a:t> </a:t>
                      </a:r>
                      <a:r>
                        <a:rPr lang="pt-BR" sz="1200" dirty="0" err="1"/>
                        <a:t>ensures</a:t>
                      </a:r>
                      <a:r>
                        <a:rPr lang="pt-BR" sz="1200" dirty="0"/>
                        <a:t> </a:t>
                      </a:r>
                      <a:r>
                        <a:rPr lang="pt-BR" sz="1200" dirty="0" err="1"/>
                        <a:t>this</a:t>
                      </a:r>
                      <a:r>
                        <a:rPr lang="pt-BR" sz="1200" dirty="0"/>
                        <a:t> </a:t>
                      </a:r>
                      <a:r>
                        <a:rPr lang="pt-BR" sz="1200" dirty="0" err="1"/>
                        <a:t>continuity</a:t>
                      </a:r>
                      <a:r>
                        <a:rPr lang="pt-BR" sz="1200" dirty="0"/>
                        <a:t>.</a:t>
                      </a:r>
                    </a:p>
                  </a:txBody>
                  <a:tcPr anchor="ctr"/>
                </a:tc>
                <a:tc>
                  <a:txBody>
                    <a:bodyPr/>
                    <a:lstStyle/>
                    <a:p>
                      <a:pPr algn="just">
                        <a:buNone/>
                      </a:pPr>
                      <a:r>
                        <a:rPr lang="pt-BR" sz="1200" dirty="0" err="1"/>
                        <a:t>An</a:t>
                      </a:r>
                      <a:r>
                        <a:rPr lang="pt-BR" sz="1200" dirty="0"/>
                        <a:t> AS </a:t>
                      </a:r>
                      <a:r>
                        <a:rPr lang="pt-BR" sz="1200" dirty="0" err="1"/>
                        <a:t>replaces</a:t>
                      </a:r>
                      <a:r>
                        <a:rPr lang="pt-BR" sz="1200" dirty="0"/>
                        <a:t> </a:t>
                      </a:r>
                      <a:r>
                        <a:rPr lang="pt-BR" sz="1200" dirty="0" err="1"/>
                        <a:t>routers</a:t>
                      </a:r>
                      <a:r>
                        <a:rPr lang="pt-BR" sz="1200" dirty="0"/>
                        <a:t>, </a:t>
                      </a:r>
                      <a:r>
                        <a:rPr lang="pt-BR" sz="1200" dirty="0" err="1"/>
                        <a:t>cables</a:t>
                      </a:r>
                      <a:r>
                        <a:rPr lang="pt-BR" sz="1200" dirty="0"/>
                        <a:t>, and </a:t>
                      </a:r>
                      <a:r>
                        <a:rPr lang="pt-BR" sz="1200" dirty="0" err="1"/>
                        <a:t>addresses</a:t>
                      </a:r>
                      <a:r>
                        <a:rPr lang="pt-BR" sz="1200" dirty="0"/>
                        <a:t>, </a:t>
                      </a:r>
                      <a:r>
                        <a:rPr lang="pt-BR" sz="1200" dirty="0" err="1"/>
                        <a:t>yet</a:t>
                      </a:r>
                      <a:r>
                        <a:rPr lang="pt-BR" sz="1200" dirty="0"/>
                        <a:t> </a:t>
                      </a:r>
                      <a:r>
                        <a:rPr lang="pt-BR" sz="1200" dirty="0" err="1"/>
                        <a:t>remains</a:t>
                      </a:r>
                      <a:r>
                        <a:rPr lang="pt-BR" sz="1200" dirty="0"/>
                        <a:t> </a:t>
                      </a:r>
                      <a:r>
                        <a:rPr lang="pt-BR" sz="1200" dirty="0" err="1"/>
                        <a:t>the</a:t>
                      </a:r>
                      <a:r>
                        <a:rPr lang="pt-BR" sz="1200" dirty="0"/>
                        <a:t> </a:t>
                      </a:r>
                      <a:r>
                        <a:rPr lang="pt-BR" sz="1200" dirty="0" err="1"/>
                        <a:t>same</a:t>
                      </a:r>
                      <a:r>
                        <a:rPr lang="pt-BR" sz="1200" dirty="0"/>
                        <a:t> AS. </a:t>
                      </a:r>
                      <a:r>
                        <a:rPr lang="pt-BR" sz="1200" dirty="0" err="1"/>
                        <a:t>What</a:t>
                      </a:r>
                      <a:r>
                        <a:rPr lang="pt-BR" sz="1200" dirty="0"/>
                        <a:t> </a:t>
                      </a:r>
                      <a:r>
                        <a:rPr lang="pt-BR" sz="1200" dirty="0" err="1"/>
                        <a:t>sustains</a:t>
                      </a:r>
                      <a:r>
                        <a:rPr lang="pt-BR" sz="1200" dirty="0"/>
                        <a:t> it is </a:t>
                      </a:r>
                      <a:r>
                        <a:rPr lang="pt-BR" sz="1200" dirty="0" err="1"/>
                        <a:t>the</a:t>
                      </a:r>
                      <a:r>
                        <a:rPr lang="pt-BR" sz="1200" dirty="0"/>
                        <a:t> </a:t>
                      </a:r>
                      <a:r>
                        <a:rPr lang="pt-BR" sz="1200" dirty="0" err="1"/>
                        <a:t>official</a:t>
                      </a:r>
                      <a:r>
                        <a:rPr lang="pt-BR" sz="1200" dirty="0"/>
                        <a:t> registry that </a:t>
                      </a:r>
                      <a:r>
                        <a:rPr lang="pt-BR" sz="1200" dirty="0" err="1"/>
                        <a:t>created</a:t>
                      </a:r>
                      <a:r>
                        <a:rPr lang="pt-BR" sz="1200" dirty="0"/>
                        <a:t> it, </a:t>
                      </a:r>
                      <a:r>
                        <a:rPr lang="pt-BR" sz="1200" dirty="0" err="1"/>
                        <a:t>not</a:t>
                      </a:r>
                      <a:r>
                        <a:rPr lang="pt-BR" sz="1200" dirty="0"/>
                        <a:t> </a:t>
                      </a:r>
                      <a:r>
                        <a:rPr lang="pt-BR" sz="1200" dirty="0" err="1"/>
                        <a:t>the</a:t>
                      </a:r>
                      <a:r>
                        <a:rPr lang="pt-BR" sz="1200" dirty="0"/>
                        <a:t> </a:t>
                      </a:r>
                      <a:r>
                        <a:rPr lang="pt-BR" sz="1200" dirty="0" err="1"/>
                        <a:t>number</a:t>
                      </a:r>
                      <a:r>
                        <a:rPr lang="pt-BR" sz="1200" dirty="0"/>
                        <a:t> </a:t>
                      </a:r>
                      <a:r>
                        <a:rPr lang="pt-BR" sz="1200" dirty="0" err="1"/>
                        <a:t>nor</a:t>
                      </a:r>
                      <a:r>
                        <a:rPr lang="pt-BR" sz="1200" dirty="0"/>
                        <a:t> </a:t>
                      </a:r>
                      <a:r>
                        <a:rPr lang="pt-BR" sz="1200" dirty="0" err="1"/>
                        <a:t>the</a:t>
                      </a:r>
                      <a:r>
                        <a:rPr lang="pt-BR" sz="1200" dirty="0"/>
                        <a:t> </a:t>
                      </a:r>
                      <a:r>
                        <a:rPr lang="pt-BR" sz="1200" dirty="0" err="1"/>
                        <a:t>equipment</a:t>
                      </a:r>
                      <a:r>
                        <a:rPr lang="pt-BR" sz="1200" dirty="0"/>
                        <a:t>.</a:t>
                      </a:r>
                    </a:p>
                  </a:txBody>
                  <a:tcPr anchor="ctr"/>
                </a:tc>
                <a:extLst>
                  <a:ext uri="{0D108BD9-81ED-4DB2-BD59-A6C34878D82A}">
                    <a16:rowId xmlns:a16="http://schemas.microsoft.com/office/drawing/2014/main" val="1760471697"/>
                  </a:ext>
                </a:extLst>
              </a:tr>
              <a:tr h="370840">
                <a:tc>
                  <a:txBody>
                    <a:bodyPr/>
                    <a:lstStyle/>
                    <a:p>
                      <a:pPr algn="l">
                        <a:buNone/>
                      </a:pPr>
                      <a:r>
                        <a:rPr lang="pt-BR" sz="1200" b="1" dirty="0" err="1"/>
                        <a:t>Treating</a:t>
                      </a:r>
                      <a:r>
                        <a:rPr lang="pt-BR" sz="1200" b="1" dirty="0"/>
                        <a:t> </a:t>
                      </a:r>
                      <a:r>
                        <a:rPr lang="pt-BR" sz="1200" b="1" dirty="0" err="1"/>
                        <a:t>agreements</a:t>
                      </a:r>
                      <a:r>
                        <a:rPr lang="pt-BR" sz="1200" b="1" dirty="0"/>
                        <a:t> and </a:t>
                      </a:r>
                      <a:r>
                        <a:rPr lang="pt-BR" sz="1200" b="1" dirty="0" err="1"/>
                        <a:t>relations</a:t>
                      </a:r>
                      <a:r>
                        <a:rPr lang="pt-BR" sz="1200" b="1" dirty="0"/>
                        <a:t> as "real </a:t>
                      </a:r>
                      <a:r>
                        <a:rPr lang="pt-BR" sz="1200" b="1" dirty="0" err="1"/>
                        <a:t>things</a:t>
                      </a:r>
                      <a:r>
                        <a:rPr lang="pt-BR" sz="1200" b="1" dirty="0"/>
                        <a:t>"</a:t>
                      </a:r>
                      <a:endParaRPr lang="pt-BR" sz="1200" dirty="0"/>
                    </a:p>
                  </a:txBody>
                  <a:tcPr anchor="ctr"/>
                </a:tc>
                <a:tc>
                  <a:txBody>
                    <a:bodyPr/>
                    <a:lstStyle/>
                    <a:p>
                      <a:pPr algn="just">
                        <a:buNone/>
                      </a:pPr>
                      <a:r>
                        <a:rPr lang="pt-BR" sz="1200"/>
                        <a:t>A marriage is not merely a line connecting two people. It has a start date, rules, and may end. UFO treats such relations as entities in their own right, called </a:t>
                      </a:r>
                      <a:r>
                        <a:rPr lang="pt-BR" sz="1200" i="1"/>
                        <a:t>relators</a:t>
                      </a:r>
                      <a:r>
                        <a:rPr lang="pt-BR" sz="1200"/>
                        <a:t>.</a:t>
                      </a:r>
                    </a:p>
                  </a:txBody>
                  <a:tcPr anchor="ctr"/>
                </a:tc>
                <a:tc>
                  <a:txBody>
                    <a:bodyPr/>
                    <a:lstStyle/>
                    <a:p>
                      <a:pPr algn="just">
                        <a:buNone/>
                      </a:pPr>
                      <a:r>
                        <a:rPr lang="pt-BR" sz="1200" dirty="0"/>
                        <a:t>A </a:t>
                      </a:r>
                      <a:r>
                        <a:rPr lang="pt-BR" sz="1200" dirty="0" err="1"/>
                        <a:t>traffic</a:t>
                      </a:r>
                      <a:r>
                        <a:rPr lang="pt-BR" sz="1200" dirty="0"/>
                        <a:t> </a:t>
                      </a:r>
                      <a:r>
                        <a:rPr lang="pt-BR" sz="1200" dirty="0" err="1"/>
                        <a:t>exchange</a:t>
                      </a:r>
                      <a:r>
                        <a:rPr lang="pt-BR" sz="1200" dirty="0"/>
                        <a:t> </a:t>
                      </a:r>
                      <a:r>
                        <a:rPr lang="pt-BR" sz="1200" dirty="0" err="1"/>
                        <a:t>agreement</a:t>
                      </a:r>
                      <a:r>
                        <a:rPr lang="pt-BR" sz="1200" dirty="0"/>
                        <a:t> </a:t>
                      </a:r>
                      <a:r>
                        <a:rPr lang="pt-BR" sz="1200" dirty="0" err="1"/>
                        <a:t>between</a:t>
                      </a:r>
                      <a:r>
                        <a:rPr lang="pt-BR" sz="1200" dirty="0"/>
                        <a:t> </a:t>
                      </a:r>
                      <a:r>
                        <a:rPr lang="pt-BR" sz="1200" dirty="0" err="1"/>
                        <a:t>two</a:t>
                      </a:r>
                      <a:r>
                        <a:rPr lang="pt-BR" sz="1200" dirty="0"/>
                        <a:t> networks </a:t>
                      </a:r>
                      <a:r>
                        <a:rPr lang="pt-BR" sz="1200" dirty="0" err="1"/>
                        <a:t>has</a:t>
                      </a:r>
                      <a:r>
                        <a:rPr lang="pt-BR" sz="1200" dirty="0"/>
                        <a:t> a </a:t>
                      </a:r>
                      <a:r>
                        <a:rPr lang="pt-BR" sz="1200" dirty="0" err="1"/>
                        <a:t>beginning</a:t>
                      </a:r>
                      <a:r>
                        <a:rPr lang="pt-BR" sz="1200" dirty="0"/>
                        <a:t>, </a:t>
                      </a:r>
                      <a:r>
                        <a:rPr lang="pt-BR" sz="1200" dirty="0" err="1"/>
                        <a:t>conditions</a:t>
                      </a:r>
                      <a:r>
                        <a:rPr lang="pt-BR" sz="1200" dirty="0"/>
                        <a:t>, and </a:t>
                      </a:r>
                      <a:r>
                        <a:rPr lang="pt-BR" sz="1200" dirty="0" err="1"/>
                        <a:t>an</a:t>
                      </a:r>
                      <a:r>
                        <a:rPr lang="pt-BR" sz="1200" dirty="0"/>
                        <a:t> end. </a:t>
                      </a:r>
                      <a:r>
                        <a:rPr lang="pt-BR" sz="1200" dirty="0" err="1"/>
                        <a:t>Modelled</a:t>
                      </a:r>
                      <a:r>
                        <a:rPr lang="pt-BR" sz="1200" dirty="0"/>
                        <a:t> in </a:t>
                      </a:r>
                      <a:r>
                        <a:rPr lang="pt-BR" sz="1200" dirty="0" err="1"/>
                        <a:t>this</a:t>
                      </a:r>
                      <a:r>
                        <a:rPr lang="pt-BR" sz="1200" dirty="0"/>
                        <a:t> </a:t>
                      </a:r>
                      <a:r>
                        <a:rPr lang="pt-BR" sz="1200" dirty="0" err="1"/>
                        <a:t>way</a:t>
                      </a:r>
                      <a:r>
                        <a:rPr lang="pt-BR" sz="1200" dirty="0"/>
                        <a:t>, </a:t>
                      </a:r>
                      <a:r>
                        <a:rPr lang="pt-BR" sz="1200" dirty="0" err="1"/>
                        <a:t>the</a:t>
                      </a:r>
                      <a:r>
                        <a:rPr lang="pt-BR" sz="1200" dirty="0"/>
                        <a:t> system </a:t>
                      </a:r>
                      <a:r>
                        <a:rPr lang="pt-BR" sz="1200" dirty="0" err="1"/>
                        <a:t>can</a:t>
                      </a:r>
                      <a:r>
                        <a:rPr lang="pt-BR" sz="1200" dirty="0"/>
                        <a:t> </a:t>
                      </a:r>
                      <a:r>
                        <a:rPr lang="pt-BR" sz="1200" dirty="0" err="1"/>
                        <a:t>answer</a:t>
                      </a:r>
                      <a:r>
                        <a:rPr lang="pt-BR" sz="1200" dirty="0"/>
                        <a:t> </a:t>
                      </a:r>
                      <a:r>
                        <a:rPr lang="pt-BR" sz="1200" i="1" dirty="0" err="1"/>
                        <a:t>since</a:t>
                      </a:r>
                      <a:r>
                        <a:rPr lang="pt-BR" sz="1200" i="1" dirty="0"/>
                        <a:t> </a:t>
                      </a:r>
                      <a:r>
                        <a:rPr lang="pt-BR" sz="1200" i="1" dirty="0" err="1"/>
                        <a:t>when</a:t>
                      </a:r>
                      <a:r>
                        <a:rPr lang="pt-BR" sz="1200" i="1" dirty="0"/>
                        <a:t> </a:t>
                      </a:r>
                      <a:r>
                        <a:rPr lang="pt-BR" sz="1200" i="1" dirty="0" err="1"/>
                        <a:t>have</a:t>
                      </a:r>
                      <a:r>
                        <a:rPr lang="pt-BR" sz="1200" i="1" dirty="0"/>
                        <a:t> </a:t>
                      </a:r>
                      <a:r>
                        <a:rPr lang="pt-BR" sz="1200" i="1" dirty="0" err="1"/>
                        <a:t>these</a:t>
                      </a:r>
                      <a:r>
                        <a:rPr lang="pt-BR" sz="1200" i="1" dirty="0"/>
                        <a:t> networks </a:t>
                      </a:r>
                      <a:r>
                        <a:rPr lang="pt-BR" sz="1200" i="1" dirty="0" err="1"/>
                        <a:t>been</a:t>
                      </a:r>
                      <a:r>
                        <a:rPr lang="pt-BR" sz="1200" i="1" dirty="0"/>
                        <a:t> </a:t>
                      </a:r>
                      <a:r>
                        <a:rPr lang="pt-BR" sz="1200" i="1" dirty="0" err="1"/>
                        <a:t>partners</a:t>
                      </a:r>
                      <a:r>
                        <a:rPr lang="pt-BR" sz="1200" i="1" dirty="0"/>
                        <a:t>?</a:t>
                      </a:r>
                      <a:endParaRPr lang="pt-BR" sz="1200" dirty="0"/>
                    </a:p>
                  </a:txBody>
                  <a:tcPr anchor="ctr"/>
                </a:tc>
                <a:extLst>
                  <a:ext uri="{0D108BD9-81ED-4DB2-BD59-A6C34878D82A}">
                    <a16:rowId xmlns:a16="http://schemas.microsoft.com/office/drawing/2014/main" val="2883848216"/>
                  </a:ext>
                </a:extLst>
              </a:tr>
              <a:tr h="370840">
                <a:tc>
                  <a:txBody>
                    <a:bodyPr/>
                    <a:lstStyle/>
                    <a:p>
                      <a:pPr algn="l">
                        <a:buNone/>
                      </a:pPr>
                      <a:r>
                        <a:rPr lang="pt-BR" sz="1200" b="1" dirty="0" err="1"/>
                        <a:t>Providing</a:t>
                      </a:r>
                      <a:r>
                        <a:rPr lang="pt-BR" sz="1200" b="1" dirty="0"/>
                        <a:t> a common </a:t>
                      </a:r>
                      <a:r>
                        <a:rPr lang="pt-BR" sz="1200" b="1" dirty="0" err="1"/>
                        <a:t>foundation</a:t>
                      </a:r>
                      <a:r>
                        <a:rPr lang="pt-BR" sz="1200" b="1" dirty="0"/>
                        <a:t> that </a:t>
                      </a:r>
                      <a:r>
                        <a:rPr lang="pt-BR" sz="1200" b="1" dirty="0" err="1"/>
                        <a:t>enables</a:t>
                      </a:r>
                      <a:r>
                        <a:rPr lang="pt-BR" sz="1200" b="1" dirty="0"/>
                        <a:t> </a:t>
                      </a:r>
                      <a:r>
                        <a:rPr lang="pt-BR" sz="1200" b="1" dirty="0" err="1"/>
                        <a:t>interoperability</a:t>
                      </a:r>
                      <a:r>
                        <a:rPr lang="pt-BR" sz="1200" b="1" dirty="0"/>
                        <a:t> with </a:t>
                      </a:r>
                      <a:r>
                        <a:rPr lang="pt-BR" sz="1200" b="1" dirty="0" err="1"/>
                        <a:t>other</a:t>
                      </a:r>
                      <a:r>
                        <a:rPr lang="pt-BR" sz="1200" b="1" dirty="0"/>
                        <a:t> models</a:t>
                      </a:r>
                      <a:endParaRPr lang="pt-BR" sz="1200" dirty="0"/>
                    </a:p>
                  </a:txBody>
                  <a:tcPr anchor="ctr"/>
                </a:tc>
                <a:tc>
                  <a:txBody>
                    <a:bodyPr/>
                    <a:lstStyle/>
                    <a:p>
                      <a:pPr algn="just">
                        <a:buNone/>
                      </a:pPr>
                      <a:r>
                        <a:rPr lang="pt-BR" sz="1200"/>
                        <a:t>If two cities use the same socket standard, any appliance works in both. Ontologies built upon UFO share the same conceptual "socket standard", thus fitting together with less effort.</a:t>
                      </a:r>
                    </a:p>
                  </a:txBody>
                  <a:tcPr anchor="ctr"/>
                </a:tc>
                <a:tc>
                  <a:txBody>
                    <a:bodyPr/>
                    <a:lstStyle/>
                    <a:p>
                      <a:pPr algn="just">
                        <a:buNone/>
                      </a:pPr>
                      <a:r>
                        <a:rPr lang="pt-BR" sz="1200" dirty="0" err="1"/>
                        <a:t>An</a:t>
                      </a:r>
                      <a:r>
                        <a:rPr lang="pt-BR" sz="1200" dirty="0"/>
                        <a:t> AS </a:t>
                      </a:r>
                      <a:r>
                        <a:rPr lang="pt-BR" sz="1200" dirty="0" err="1"/>
                        <a:t>ontology</a:t>
                      </a:r>
                      <a:r>
                        <a:rPr lang="pt-BR" sz="1200" dirty="0"/>
                        <a:t> </a:t>
                      </a:r>
                      <a:r>
                        <a:rPr lang="pt-BR" sz="1200" dirty="0" err="1"/>
                        <a:t>based</a:t>
                      </a:r>
                      <a:r>
                        <a:rPr lang="pt-BR" sz="1200" dirty="0"/>
                        <a:t> </a:t>
                      </a:r>
                      <a:r>
                        <a:rPr lang="pt-BR" sz="1200" dirty="0" err="1"/>
                        <a:t>on</a:t>
                      </a:r>
                      <a:r>
                        <a:rPr lang="pt-BR" sz="1200" dirty="0"/>
                        <a:t> UFO </a:t>
                      </a:r>
                      <a:r>
                        <a:rPr lang="pt-BR" sz="1200" dirty="0" err="1"/>
                        <a:t>can</a:t>
                      </a:r>
                      <a:r>
                        <a:rPr lang="pt-BR" sz="1200" dirty="0"/>
                        <a:t> </a:t>
                      </a:r>
                      <a:r>
                        <a:rPr lang="pt-BR" sz="1200" dirty="0" err="1"/>
                        <a:t>be</a:t>
                      </a:r>
                      <a:r>
                        <a:rPr lang="pt-BR" sz="1200" dirty="0"/>
                        <a:t> </a:t>
                      </a:r>
                      <a:r>
                        <a:rPr lang="pt-BR" sz="1200" dirty="0" err="1"/>
                        <a:t>linked</a:t>
                      </a:r>
                      <a:r>
                        <a:rPr lang="pt-BR" sz="1200" dirty="0"/>
                        <a:t> </a:t>
                      </a:r>
                      <a:r>
                        <a:rPr lang="pt-BR" sz="1200" dirty="0" err="1"/>
                        <a:t>to</a:t>
                      </a:r>
                      <a:r>
                        <a:rPr lang="pt-BR" sz="1200" dirty="0"/>
                        <a:t> </a:t>
                      </a:r>
                      <a:r>
                        <a:rPr lang="pt-BR" sz="1200" dirty="0" err="1"/>
                        <a:t>existing</a:t>
                      </a:r>
                      <a:r>
                        <a:rPr lang="pt-BR" sz="1200" dirty="0"/>
                        <a:t> </a:t>
                      </a:r>
                      <a:r>
                        <a:rPr lang="pt-BR" sz="1200" dirty="0" err="1"/>
                        <a:t>ontologies</a:t>
                      </a:r>
                      <a:r>
                        <a:rPr lang="pt-BR" sz="1200" dirty="0"/>
                        <a:t> of </a:t>
                      </a:r>
                      <a:r>
                        <a:rPr lang="pt-BR" sz="1200" dirty="0" err="1"/>
                        <a:t>contracts</a:t>
                      </a:r>
                      <a:r>
                        <a:rPr lang="pt-BR" sz="1200" dirty="0"/>
                        <a:t>, </a:t>
                      </a:r>
                      <a:r>
                        <a:rPr lang="pt-BR" sz="1200" dirty="0" err="1"/>
                        <a:t>services</a:t>
                      </a:r>
                      <a:r>
                        <a:rPr lang="pt-BR" sz="1200" dirty="0"/>
                        <a:t>, </a:t>
                      </a:r>
                      <a:r>
                        <a:rPr lang="pt-BR" sz="1200" dirty="0" err="1"/>
                        <a:t>or</a:t>
                      </a:r>
                      <a:r>
                        <a:rPr lang="pt-BR" sz="1200" dirty="0"/>
                        <a:t> </a:t>
                      </a:r>
                      <a:r>
                        <a:rPr lang="pt-BR" sz="1200" dirty="0" err="1"/>
                        <a:t>risks</a:t>
                      </a:r>
                      <a:r>
                        <a:rPr lang="pt-BR" sz="1200" dirty="0"/>
                        <a:t>, </a:t>
                      </a:r>
                      <a:r>
                        <a:rPr lang="pt-BR" sz="1200" dirty="0" err="1"/>
                        <a:t>rather</a:t>
                      </a:r>
                      <a:r>
                        <a:rPr lang="pt-BR" sz="1200" dirty="0"/>
                        <a:t> </a:t>
                      </a:r>
                      <a:r>
                        <a:rPr lang="pt-BR" sz="1200" dirty="0" err="1"/>
                        <a:t>than</a:t>
                      </a:r>
                      <a:r>
                        <a:rPr lang="pt-BR" sz="1200" dirty="0"/>
                        <a:t> </a:t>
                      </a:r>
                      <a:r>
                        <a:rPr lang="pt-BR" sz="1200" dirty="0" err="1"/>
                        <a:t>starting</a:t>
                      </a:r>
                      <a:r>
                        <a:rPr lang="pt-BR" sz="1200" dirty="0"/>
                        <a:t> </a:t>
                      </a:r>
                      <a:r>
                        <a:rPr lang="pt-BR" sz="1200" dirty="0" err="1"/>
                        <a:t>entirely</a:t>
                      </a:r>
                      <a:r>
                        <a:rPr lang="pt-BR" sz="1200" dirty="0"/>
                        <a:t> </a:t>
                      </a:r>
                      <a:r>
                        <a:rPr lang="pt-BR" sz="1200" dirty="0" err="1"/>
                        <a:t>from</a:t>
                      </a:r>
                      <a:r>
                        <a:rPr lang="pt-BR" sz="1200" dirty="0"/>
                        <a:t> </a:t>
                      </a:r>
                      <a:r>
                        <a:rPr lang="pt-BR" sz="1200" dirty="0" err="1"/>
                        <a:t>scratch</a:t>
                      </a:r>
                      <a:r>
                        <a:rPr lang="pt-BR" sz="1200" dirty="0"/>
                        <a:t>.</a:t>
                      </a:r>
                    </a:p>
                  </a:txBody>
                  <a:tcPr anchor="ctr"/>
                </a:tc>
                <a:extLst>
                  <a:ext uri="{0D108BD9-81ED-4DB2-BD59-A6C34878D82A}">
                    <a16:rowId xmlns:a16="http://schemas.microsoft.com/office/drawing/2014/main" val="4293767479"/>
                  </a:ext>
                </a:extLst>
              </a:tr>
            </a:tbl>
          </a:graphicData>
        </a:graphic>
      </p:graphicFrame>
      <p:sp>
        <p:nvSpPr>
          <p:cNvPr id="9" name="CaixaDeTexto 8">
            <a:extLst>
              <a:ext uri="{FF2B5EF4-FFF2-40B4-BE49-F238E27FC236}">
                <a16:creationId xmlns:a16="http://schemas.microsoft.com/office/drawing/2014/main" id="{9F1546A3-FD15-2B27-E27D-8A86C30EB011}"/>
              </a:ext>
            </a:extLst>
          </p:cNvPr>
          <p:cNvSpPr txBox="1"/>
          <p:nvPr/>
        </p:nvSpPr>
        <p:spPr>
          <a:xfrm>
            <a:off x="2249913" y="81394"/>
            <a:ext cx="9399781" cy="738664"/>
          </a:xfrm>
          <a:prstGeom prst="rect">
            <a:avLst/>
          </a:prstGeom>
          <a:noFill/>
        </p:spPr>
        <p:txBody>
          <a:bodyPr wrap="square">
            <a:spAutoFit/>
          </a:bodyPr>
          <a:lstStyle/>
          <a:p>
            <a:pPr marL="285750" indent="-285750">
              <a:buFont typeface="Arial" panose="020B0604020202020204" pitchFamily="34" charset="0"/>
              <a:buChar char="•"/>
            </a:pPr>
            <a:r>
              <a:rPr lang="pt-BR" sz="1400" b="1" dirty="0">
                <a:solidFill>
                  <a:srgbClr val="C00000"/>
                </a:solidFill>
              </a:rPr>
              <a:t>Upper Ontology</a:t>
            </a:r>
            <a:r>
              <a:rPr lang="pt-BR" sz="1400" dirty="0"/>
              <a:t>: </a:t>
            </a:r>
            <a:r>
              <a:rPr lang="pt-BR" sz="1400" dirty="0" err="1"/>
              <a:t>highly</a:t>
            </a:r>
            <a:r>
              <a:rPr lang="pt-BR" sz="1400" dirty="0"/>
              <a:t> general and </a:t>
            </a:r>
            <a:r>
              <a:rPr lang="pt-BR" sz="1400" dirty="0" err="1"/>
              <a:t>domain-independent</a:t>
            </a:r>
            <a:r>
              <a:rPr lang="pt-BR" sz="1400" dirty="0"/>
              <a:t> </a:t>
            </a:r>
            <a:r>
              <a:rPr lang="pt-BR" sz="1400" dirty="0" err="1"/>
              <a:t>concepts</a:t>
            </a:r>
            <a:r>
              <a:rPr lang="pt-BR" sz="1400" dirty="0"/>
              <a:t>, </a:t>
            </a:r>
            <a:r>
              <a:rPr lang="pt-BR" sz="1400" dirty="0" err="1"/>
              <a:t>including</a:t>
            </a:r>
            <a:r>
              <a:rPr lang="pt-BR" sz="1400" dirty="0"/>
              <a:t> </a:t>
            </a:r>
            <a:r>
              <a:rPr lang="pt-BR" sz="1400" dirty="0" err="1"/>
              <a:t>object</a:t>
            </a:r>
            <a:r>
              <a:rPr lang="pt-BR" sz="1400" dirty="0"/>
              <a:t>, </a:t>
            </a:r>
            <a:r>
              <a:rPr lang="pt-BR" sz="1400" dirty="0" err="1"/>
              <a:t>event</a:t>
            </a:r>
            <a:r>
              <a:rPr lang="pt-BR" sz="1400" dirty="0"/>
              <a:t>, </a:t>
            </a:r>
            <a:r>
              <a:rPr lang="pt-BR" sz="1400" dirty="0" err="1"/>
              <a:t>process</a:t>
            </a:r>
            <a:r>
              <a:rPr lang="pt-BR" sz="1400" dirty="0"/>
              <a:t>, </a:t>
            </a:r>
            <a:r>
              <a:rPr lang="pt-BR" sz="1400" dirty="0" err="1"/>
              <a:t>quality</a:t>
            </a:r>
            <a:r>
              <a:rPr lang="pt-BR" sz="1400" dirty="0"/>
              <a:t>, time, and </a:t>
            </a:r>
            <a:r>
              <a:rPr lang="pt-BR" sz="1400" dirty="0" err="1"/>
              <a:t>space</a:t>
            </a:r>
            <a:r>
              <a:rPr lang="pt-BR" sz="1400" dirty="0"/>
              <a:t>. </a:t>
            </a:r>
            <a:r>
              <a:rPr lang="pt-BR" sz="1400" dirty="0" err="1"/>
              <a:t>Examples</a:t>
            </a:r>
            <a:r>
              <a:rPr lang="pt-BR" sz="1400" dirty="0"/>
              <a:t> include BFO, DOLCE, UFO, SUMO, and GFO.</a:t>
            </a:r>
          </a:p>
          <a:p>
            <a:pPr marL="285750" indent="-285750" algn="just">
              <a:buFont typeface="Arial" panose="020B0604020202020204" pitchFamily="34" charset="0"/>
              <a:buChar char="•"/>
            </a:pPr>
            <a:r>
              <a:rPr lang="pt-BR" sz="1400" b="1" dirty="0">
                <a:solidFill>
                  <a:srgbClr val="C00000"/>
                </a:solidFill>
              </a:rPr>
              <a:t>Domain Ontology</a:t>
            </a:r>
            <a:r>
              <a:rPr lang="pt-BR" sz="1400" dirty="0"/>
              <a:t>: </a:t>
            </a:r>
            <a:r>
              <a:rPr lang="pt-BR" sz="1400" dirty="0" err="1"/>
              <a:t>concepts</a:t>
            </a:r>
            <a:r>
              <a:rPr lang="pt-BR" sz="1400" dirty="0"/>
              <a:t> of a </a:t>
            </a:r>
            <a:r>
              <a:rPr lang="pt-BR" sz="1400" dirty="0" err="1"/>
              <a:t>specific</a:t>
            </a:r>
            <a:r>
              <a:rPr lang="pt-BR" sz="1400" dirty="0"/>
              <a:t> </a:t>
            </a:r>
            <a:r>
              <a:rPr lang="pt-BR" sz="1400" dirty="0" err="1"/>
              <a:t>area</a:t>
            </a:r>
            <a:r>
              <a:rPr lang="pt-BR" sz="1400" dirty="0"/>
              <a:t>.</a:t>
            </a:r>
          </a:p>
        </p:txBody>
      </p:sp>
      <p:sp>
        <p:nvSpPr>
          <p:cNvPr id="11" name="CaixaDeTexto 10">
            <a:extLst>
              <a:ext uri="{FF2B5EF4-FFF2-40B4-BE49-F238E27FC236}">
                <a16:creationId xmlns:a16="http://schemas.microsoft.com/office/drawing/2014/main" id="{C8357D1C-C754-920A-8F21-345305EFE9F8}"/>
              </a:ext>
            </a:extLst>
          </p:cNvPr>
          <p:cNvSpPr txBox="1"/>
          <p:nvPr/>
        </p:nvSpPr>
        <p:spPr>
          <a:xfrm>
            <a:off x="2249914" y="5483960"/>
            <a:ext cx="9399780" cy="523220"/>
          </a:xfrm>
          <a:prstGeom prst="rect">
            <a:avLst/>
          </a:prstGeom>
          <a:noFill/>
        </p:spPr>
        <p:txBody>
          <a:bodyPr wrap="square">
            <a:spAutoFit/>
          </a:bodyPr>
          <a:lstStyle/>
          <a:p>
            <a:r>
              <a:rPr lang="en-US" sz="1400" b="1" dirty="0"/>
              <a:t>UFO entails higher initial costs, yet prevents costly errors along the way. It proves worthwhile when the domain is complex, involves relations and agreements, and when the model must endure and integrate with others, as is the case</a:t>
            </a:r>
            <a:endParaRPr lang="pt-BR" sz="1400" b="1" dirty="0"/>
          </a:p>
        </p:txBody>
      </p:sp>
      <p:sp>
        <p:nvSpPr>
          <p:cNvPr id="14" name="CaixaDeTexto 13">
            <a:extLst>
              <a:ext uri="{FF2B5EF4-FFF2-40B4-BE49-F238E27FC236}">
                <a16:creationId xmlns:a16="http://schemas.microsoft.com/office/drawing/2014/main" id="{AC93CD87-DA32-F976-1DF2-DC8D4E1491FB}"/>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6" name="Slide Number Placeholder 0">
            <a:extLst>
              <a:ext uri="{FF2B5EF4-FFF2-40B4-BE49-F238E27FC236}">
                <a16:creationId xmlns:a16="http://schemas.microsoft.com/office/drawing/2014/main" id="{CB95CE50-B771-8539-A4AA-7E75EFF8B714}"/>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8</a:t>
            </a:fld>
            <a:endParaRPr lang="en-US" dirty="0">
              <a:solidFill>
                <a:srgbClr val="0070C0"/>
              </a:solidFill>
            </a:endParaRPr>
          </a:p>
        </p:txBody>
      </p:sp>
    </p:spTree>
    <p:extLst>
      <p:ext uri="{BB962C8B-B14F-4D97-AF65-F5344CB8AC3E}">
        <p14:creationId xmlns:p14="http://schemas.microsoft.com/office/powerpoint/2010/main" val="1062892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759CA-1774-B99E-C06C-608C6EFD1DB7}"/>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B9D67278-D73C-D4FA-5214-A9D47ADEABCD}"/>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4" name="Imagem 3">
            <a:extLst>
              <a:ext uri="{FF2B5EF4-FFF2-40B4-BE49-F238E27FC236}">
                <a16:creationId xmlns:a16="http://schemas.microsoft.com/office/drawing/2014/main" id="{B6988D3F-3026-22FD-935F-C0DDA6900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2695" y="3313215"/>
            <a:ext cx="2427647" cy="1806722"/>
          </a:xfrm>
          <a:prstGeom prst="rect">
            <a:avLst/>
          </a:prstGeom>
        </p:spPr>
      </p:pic>
      <p:sp>
        <p:nvSpPr>
          <p:cNvPr id="7" name="CaixaDeTexto 6">
            <a:extLst>
              <a:ext uri="{FF2B5EF4-FFF2-40B4-BE49-F238E27FC236}">
                <a16:creationId xmlns:a16="http://schemas.microsoft.com/office/drawing/2014/main" id="{AE0CE477-6F79-BB47-9BFA-19CC0FE70305}"/>
              </a:ext>
            </a:extLst>
          </p:cNvPr>
          <p:cNvSpPr txBox="1"/>
          <p:nvPr/>
        </p:nvSpPr>
        <p:spPr>
          <a:xfrm>
            <a:off x="378476" y="2510518"/>
            <a:ext cx="1239891" cy="954107"/>
          </a:xfrm>
          <a:prstGeom prst="rect">
            <a:avLst/>
          </a:prstGeom>
          <a:noFill/>
        </p:spPr>
        <p:txBody>
          <a:bodyPr wrap="none" rtlCol="0">
            <a:spAutoFit/>
          </a:bodyPr>
          <a:lstStyle/>
          <a:p>
            <a:pPr algn="ctr"/>
            <a:r>
              <a:rPr lang="pt-BR" sz="2800" b="1" dirty="0">
                <a:solidFill>
                  <a:schemeClr val="accent4">
                    <a:lumMod val="75000"/>
                  </a:schemeClr>
                </a:solidFill>
              </a:rPr>
              <a:t>The </a:t>
            </a:r>
          </a:p>
          <a:p>
            <a:pPr algn="ctr"/>
            <a:r>
              <a:rPr lang="pt-BR" sz="2800" b="1" dirty="0">
                <a:solidFill>
                  <a:schemeClr val="accent4">
                    <a:lumMod val="75000"/>
                  </a:schemeClr>
                </a:solidFill>
              </a:rPr>
              <a:t>Project</a:t>
            </a:r>
          </a:p>
        </p:txBody>
      </p:sp>
      <p:sp>
        <p:nvSpPr>
          <p:cNvPr id="5" name="CaixaDeTexto 4">
            <a:extLst>
              <a:ext uri="{FF2B5EF4-FFF2-40B4-BE49-F238E27FC236}">
                <a16:creationId xmlns:a16="http://schemas.microsoft.com/office/drawing/2014/main" id="{5E33A830-DE84-B564-14D7-69F972E3EED1}"/>
              </a:ext>
            </a:extLst>
          </p:cNvPr>
          <p:cNvSpPr txBox="1"/>
          <p:nvPr/>
        </p:nvSpPr>
        <p:spPr>
          <a:xfrm>
            <a:off x="2672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9" name="Slide Number Placeholder 0">
            <a:extLst>
              <a:ext uri="{FF2B5EF4-FFF2-40B4-BE49-F238E27FC236}">
                <a16:creationId xmlns:a16="http://schemas.microsoft.com/office/drawing/2014/main" id="{CBB37EAB-4739-76D2-8AC2-AEC67E99029F}"/>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9</a:t>
            </a:fld>
            <a:endParaRPr lang="en-US" dirty="0">
              <a:solidFill>
                <a:srgbClr val="0070C0"/>
              </a:solidFill>
            </a:endParaRPr>
          </a:p>
        </p:txBody>
      </p:sp>
    </p:spTree>
    <p:extLst>
      <p:ext uri="{BB962C8B-B14F-4D97-AF65-F5344CB8AC3E}">
        <p14:creationId xmlns:p14="http://schemas.microsoft.com/office/powerpoint/2010/main" val="1542503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DEF39-E1EC-6EE6-C698-2AA21F8E1208}"/>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5E7C548D-E245-9C75-B913-4D39FD6CBDDB}"/>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2" name="Imagem 1">
            <a:extLst>
              <a:ext uri="{FF2B5EF4-FFF2-40B4-BE49-F238E27FC236}">
                <a16:creationId xmlns:a16="http://schemas.microsoft.com/office/drawing/2014/main" id="{8A02D3E2-A599-A0B8-A9D7-77AF00511B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7719" y="200517"/>
            <a:ext cx="3657601" cy="1651165"/>
          </a:xfrm>
          <a:prstGeom prst="rect">
            <a:avLst/>
          </a:prstGeom>
        </p:spPr>
      </p:pic>
      <p:pic>
        <p:nvPicPr>
          <p:cNvPr id="4" name="Imagem 3">
            <a:extLst>
              <a:ext uri="{FF2B5EF4-FFF2-40B4-BE49-F238E27FC236}">
                <a16:creationId xmlns:a16="http://schemas.microsoft.com/office/drawing/2014/main" id="{43B102D5-0D03-A10A-BA0A-D63B2A355A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2695" y="3313215"/>
            <a:ext cx="2427647" cy="1806722"/>
          </a:xfrm>
          <a:prstGeom prst="rect">
            <a:avLst/>
          </a:prstGeom>
        </p:spPr>
      </p:pic>
      <p:cxnSp>
        <p:nvCxnSpPr>
          <p:cNvPr id="5" name="Conector de Seta Reta 4">
            <a:extLst>
              <a:ext uri="{FF2B5EF4-FFF2-40B4-BE49-F238E27FC236}">
                <a16:creationId xmlns:a16="http://schemas.microsoft.com/office/drawing/2014/main" id="{B0CC7219-0224-546E-0A14-2B63BA25D626}"/>
              </a:ext>
            </a:extLst>
          </p:cNvPr>
          <p:cNvCxnSpPr>
            <a:stCxn id="2" idx="2"/>
            <a:endCxn id="4" idx="0"/>
          </p:cNvCxnSpPr>
          <p:nvPr/>
        </p:nvCxnSpPr>
        <p:spPr>
          <a:xfrm flipH="1">
            <a:off x="8966519" y="1851682"/>
            <a:ext cx="1" cy="1461533"/>
          </a:xfrm>
          <a:prstGeom prst="straightConnector1">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38784E91-DDCD-C7BE-CFFD-D87558244E87}"/>
              </a:ext>
            </a:extLst>
          </p:cNvPr>
          <p:cNvSpPr txBox="1"/>
          <p:nvPr/>
        </p:nvSpPr>
        <p:spPr>
          <a:xfrm>
            <a:off x="378476" y="2510518"/>
            <a:ext cx="1239891" cy="954107"/>
          </a:xfrm>
          <a:prstGeom prst="rect">
            <a:avLst/>
          </a:prstGeom>
          <a:noFill/>
        </p:spPr>
        <p:txBody>
          <a:bodyPr wrap="none" rtlCol="0">
            <a:spAutoFit/>
          </a:bodyPr>
          <a:lstStyle/>
          <a:p>
            <a:pPr algn="ctr"/>
            <a:r>
              <a:rPr lang="pt-BR" sz="2800" b="1" dirty="0">
                <a:solidFill>
                  <a:schemeClr val="accent4">
                    <a:lumMod val="75000"/>
                  </a:schemeClr>
                </a:solidFill>
              </a:rPr>
              <a:t>The </a:t>
            </a:r>
          </a:p>
          <a:p>
            <a:pPr algn="ctr"/>
            <a:r>
              <a:rPr lang="pt-BR" sz="2800" b="1" dirty="0">
                <a:solidFill>
                  <a:schemeClr val="accent4">
                    <a:lumMod val="75000"/>
                  </a:schemeClr>
                </a:solidFill>
              </a:rPr>
              <a:t>Project</a:t>
            </a:r>
          </a:p>
        </p:txBody>
      </p:sp>
      <p:sp>
        <p:nvSpPr>
          <p:cNvPr id="8" name="CaixaDeTexto 7">
            <a:extLst>
              <a:ext uri="{FF2B5EF4-FFF2-40B4-BE49-F238E27FC236}">
                <a16:creationId xmlns:a16="http://schemas.microsoft.com/office/drawing/2014/main" id="{BC5E9444-7417-A8C7-725B-B99D0E46B6A6}"/>
              </a:ext>
            </a:extLst>
          </p:cNvPr>
          <p:cNvSpPr txBox="1"/>
          <p:nvPr/>
        </p:nvSpPr>
        <p:spPr>
          <a:xfrm>
            <a:off x="326636"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1" name="Slide Number Placeholder 0">
            <a:extLst>
              <a:ext uri="{FF2B5EF4-FFF2-40B4-BE49-F238E27FC236}">
                <a16:creationId xmlns:a16="http://schemas.microsoft.com/office/drawing/2014/main" id="{842ABD88-4029-820B-ED7B-48902A839816}"/>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10</a:t>
            </a:fld>
            <a:endParaRPr lang="en-US" dirty="0">
              <a:solidFill>
                <a:srgbClr val="0070C0"/>
              </a:solidFill>
            </a:endParaRPr>
          </a:p>
        </p:txBody>
      </p:sp>
    </p:spTree>
    <p:extLst>
      <p:ext uri="{BB962C8B-B14F-4D97-AF65-F5344CB8AC3E}">
        <p14:creationId xmlns:p14="http://schemas.microsoft.com/office/powerpoint/2010/main" val="3967011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852F7-0FEC-675C-B0D8-14AC483710C8}"/>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18072988-5CBF-C852-E91D-A54424F19113}"/>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2" name="Imagem 1">
            <a:extLst>
              <a:ext uri="{FF2B5EF4-FFF2-40B4-BE49-F238E27FC236}">
                <a16:creationId xmlns:a16="http://schemas.microsoft.com/office/drawing/2014/main" id="{C21EC975-8063-1B74-D25E-8423C7C8D3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7719" y="200517"/>
            <a:ext cx="3657601" cy="1651165"/>
          </a:xfrm>
          <a:prstGeom prst="rect">
            <a:avLst/>
          </a:prstGeom>
        </p:spPr>
      </p:pic>
      <p:pic>
        <p:nvPicPr>
          <p:cNvPr id="4" name="Imagem 3">
            <a:extLst>
              <a:ext uri="{FF2B5EF4-FFF2-40B4-BE49-F238E27FC236}">
                <a16:creationId xmlns:a16="http://schemas.microsoft.com/office/drawing/2014/main" id="{F4240204-E14A-7187-E59D-1E674008BA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2695" y="3313215"/>
            <a:ext cx="2427647" cy="1806722"/>
          </a:xfrm>
          <a:prstGeom prst="rect">
            <a:avLst/>
          </a:prstGeom>
        </p:spPr>
      </p:pic>
      <p:pic>
        <p:nvPicPr>
          <p:cNvPr id="5" name="Imagem 4">
            <a:extLst>
              <a:ext uri="{FF2B5EF4-FFF2-40B4-BE49-F238E27FC236}">
                <a16:creationId xmlns:a16="http://schemas.microsoft.com/office/drawing/2014/main" id="{BAF71047-4129-E81C-27E7-5862E1A170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2902" y="200517"/>
            <a:ext cx="2166004" cy="1622527"/>
          </a:xfrm>
          <a:prstGeom prst="rect">
            <a:avLst/>
          </a:prstGeom>
        </p:spPr>
      </p:pic>
      <p:cxnSp>
        <p:nvCxnSpPr>
          <p:cNvPr id="6" name="Conector de Seta Reta 5">
            <a:extLst>
              <a:ext uri="{FF2B5EF4-FFF2-40B4-BE49-F238E27FC236}">
                <a16:creationId xmlns:a16="http://schemas.microsoft.com/office/drawing/2014/main" id="{3E2239FE-CE2B-80F4-CEE2-B5A1F7540D82}"/>
              </a:ext>
            </a:extLst>
          </p:cNvPr>
          <p:cNvCxnSpPr>
            <a:stCxn id="2" idx="2"/>
            <a:endCxn id="4" idx="0"/>
          </p:cNvCxnSpPr>
          <p:nvPr/>
        </p:nvCxnSpPr>
        <p:spPr>
          <a:xfrm flipH="1">
            <a:off x="8966519" y="1851682"/>
            <a:ext cx="1" cy="1461533"/>
          </a:xfrm>
          <a:prstGeom prst="straightConnector1">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F3F3B1AE-C671-E257-4A25-CA9AA5D9D307}"/>
              </a:ext>
            </a:extLst>
          </p:cNvPr>
          <p:cNvCxnSpPr>
            <a:cxnSpLocks/>
            <a:stCxn id="5" idx="3"/>
            <a:endCxn id="2" idx="1"/>
          </p:cNvCxnSpPr>
          <p:nvPr/>
        </p:nvCxnSpPr>
        <p:spPr>
          <a:xfrm>
            <a:off x="6008906" y="1011781"/>
            <a:ext cx="1128813" cy="1431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1" name="CaixaDeTexto 10">
            <a:extLst>
              <a:ext uri="{FF2B5EF4-FFF2-40B4-BE49-F238E27FC236}">
                <a16:creationId xmlns:a16="http://schemas.microsoft.com/office/drawing/2014/main" id="{943E81A0-76D6-C891-FD35-EF7D6B7F6F4C}"/>
              </a:ext>
            </a:extLst>
          </p:cNvPr>
          <p:cNvSpPr txBox="1"/>
          <p:nvPr/>
        </p:nvSpPr>
        <p:spPr>
          <a:xfrm>
            <a:off x="378476" y="2510518"/>
            <a:ext cx="1239891" cy="954107"/>
          </a:xfrm>
          <a:prstGeom prst="rect">
            <a:avLst/>
          </a:prstGeom>
          <a:noFill/>
        </p:spPr>
        <p:txBody>
          <a:bodyPr wrap="none" rtlCol="0">
            <a:spAutoFit/>
          </a:bodyPr>
          <a:lstStyle/>
          <a:p>
            <a:pPr algn="ctr"/>
            <a:r>
              <a:rPr lang="pt-BR" sz="2800" b="1" dirty="0">
                <a:solidFill>
                  <a:schemeClr val="accent4">
                    <a:lumMod val="75000"/>
                  </a:schemeClr>
                </a:solidFill>
              </a:rPr>
              <a:t>The </a:t>
            </a:r>
          </a:p>
          <a:p>
            <a:pPr algn="ctr"/>
            <a:r>
              <a:rPr lang="pt-BR" sz="2800" b="1" dirty="0">
                <a:solidFill>
                  <a:schemeClr val="accent4">
                    <a:lumMod val="75000"/>
                  </a:schemeClr>
                </a:solidFill>
              </a:rPr>
              <a:t>Project</a:t>
            </a:r>
          </a:p>
        </p:txBody>
      </p:sp>
      <p:sp>
        <p:nvSpPr>
          <p:cNvPr id="10" name="CaixaDeTexto 9">
            <a:extLst>
              <a:ext uri="{FF2B5EF4-FFF2-40B4-BE49-F238E27FC236}">
                <a16:creationId xmlns:a16="http://schemas.microsoft.com/office/drawing/2014/main" id="{40E21408-4B55-0FB4-B9A3-18F95FB8C110}"/>
              </a:ext>
            </a:extLst>
          </p:cNvPr>
          <p:cNvSpPr txBox="1"/>
          <p:nvPr/>
        </p:nvSpPr>
        <p:spPr>
          <a:xfrm>
            <a:off x="326636"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3" name="Slide Number Placeholder 0">
            <a:extLst>
              <a:ext uri="{FF2B5EF4-FFF2-40B4-BE49-F238E27FC236}">
                <a16:creationId xmlns:a16="http://schemas.microsoft.com/office/drawing/2014/main" id="{C8210923-B568-92CC-AB8E-DB9D1C6EA802}"/>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11</a:t>
            </a:fld>
            <a:endParaRPr lang="en-US" dirty="0">
              <a:solidFill>
                <a:srgbClr val="0070C0"/>
              </a:solidFill>
            </a:endParaRPr>
          </a:p>
        </p:txBody>
      </p:sp>
    </p:spTree>
    <p:extLst>
      <p:ext uri="{BB962C8B-B14F-4D97-AF65-F5344CB8AC3E}">
        <p14:creationId xmlns:p14="http://schemas.microsoft.com/office/powerpoint/2010/main" val="2473044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82A25-8901-2F05-0633-F575C3FDA6CE}"/>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816D727B-3B76-DACC-773D-2F5DB33F4D0B}"/>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2" name="Imagem 1">
            <a:extLst>
              <a:ext uri="{FF2B5EF4-FFF2-40B4-BE49-F238E27FC236}">
                <a16:creationId xmlns:a16="http://schemas.microsoft.com/office/drawing/2014/main" id="{7977064D-E900-F161-2D8F-8AF91AA152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7719" y="200517"/>
            <a:ext cx="3657601" cy="1651165"/>
          </a:xfrm>
          <a:prstGeom prst="rect">
            <a:avLst/>
          </a:prstGeom>
        </p:spPr>
      </p:pic>
      <p:pic>
        <p:nvPicPr>
          <p:cNvPr id="4" name="Imagem 3">
            <a:extLst>
              <a:ext uri="{FF2B5EF4-FFF2-40B4-BE49-F238E27FC236}">
                <a16:creationId xmlns:a16="http://schemas.microsoft.com/office/drawing/2014/main" id="{C02B359A-8E90-AA84-9AC8-2DF6297F43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2695" y="3313215"/>
            <a:ext cx="2427647" cy="1806722"/>
          </a:xfrm>
          <a:prstGeom prst="rect">
            <a:avLst/>
          </a:prstGeom>
        </p:spPr>
      </p:pic>
      <p:pic>
        <p:nvPicPr>
          <p:cNvPr id="5" name="Imagem 4">
            <a:extLst>
              <a:ext uri="{FF2B5EF4-FFF2-40B4-BE49-F238E27FC236}">
                <a16:creationId xmlns:a16="http://schemas.microsoft.com/office/drawing/2014/main" id="{8494D3A3-A637-3DE7-46C1-048B7401BA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2902" y="1934650"/>
            <a:ext cx="2166004" cy="2199423"/>
          </a:xfrm>
          <a:prstGeom prst="rect">
            <a:avLst/>
          </a:prstGeom>
        </p:spPr>
      </p:pic>
      <p:pic>
        <p:nvPicPr>
          <p:cNvPr id="6" name="Imagem 5">
            <a:extLst>
              <a:ext uri="{FF2B5EF4-FFF2-40B4-BE49-F238E27FC236}">
                <a16:creationId xmlns:a16="http://schemas.microsoft.com/office/drawing/2014/main" id="{28671918-DA97-FFF9-C823-4F4B3E9E5DE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42902" y="200517"/>
            <a:ext cx="2166004" cy="1622527"/>
          </a:xfrm>
          <a:prstGeom prst="rect">
            <a:avLst/>
          </a:prstGeom>
        </p:spPr>
      </p:pic>
      <p:cxnSp>
        <p:nvCxnSpPr>
          <p:cNvPr id="7" name="Conector de Seta Reta 6">
            <a:extLst>
              <a:ext uri="{FF2B5EF4-FFF2-40B4-BE49-F238E27FC236}">
                <a16:creationId xmlns:a16="http://schemas.microsoft.com/office/drawing/2014/main" id="{53BCBBA3-1127-CD9D-75E2-7D3EC37FE1E5}"/>
              </a:ext>
            </a:extLst>
          </p:cNvPr>
          <p:cNvCxnSpPr>
            <a:stCxn id="2" idx="2"/>
            <a:endCxn id="4" idx="0"/>
          </p:cNvCxnSpPr>
          <p:nvPr/>
        </p:nvCxnSpPr>
        <p:spPr>
          <a:xfrm flipH="1">
            <a:off x="8966519" y="1851682"/>
            <a:ext cx="1" cy="1461533"/>
          </a:xfrm>
          <a:prstGeom prst="straightConnector1">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Conector de Seta Reta 7">
            <a:extLst>
              <a:ext uri="{FF2B5EF4-FFF2-40B4-BE49-F238E27FC236}">
                <a16:creationId xmlns:a16="http://schemas.microsoft.com/office/drawing/2014/main" id="{6708D059-01C6-B2E6-778A-465FF3C8B637}"/>
              </a:ext>
            </a:extLst>
          </p:cNvPr>
          <p:cNvCxnSpPr>
            <a:cxnSpLocks/>
            <a:stCxn id="6" idx="3"/>
            <a:endCxn id="2" idx="1"/>
          </p:cNvCxnSpPr>
          <p:nvPr/>
        </p:nvCxnSpPr>
        <p:spPr>
          <a:xfrm>
            <a:off x="6008906" y="1011781"/>
            <a:ext cx="1128813" cy="1431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Angulado 8">
            <a:extLst>
              <a:ext uri="{FF2B5EF4-FFF2-40B4-BE49-F238E27FC236}">
                <a16:creationId xmlns:a16="http://schemas.microsoft.com/office/drawing/2014/main" id="{EF796004-EB2E-6DED-F25F-84A464CCF015}"/>
              </a:ext>
            </a:extLst>
          </p:cNvPr>
          <p:cNvCxnSpPr>
            <a:stCxn id="5" idx="3"/>
            <a:endCxn id="4" idx="1"/>
          </p:cNvCxnSpPr>
          <p:nvPr/>
        </p:nvCxnSpPr>
        <p:spPr>
          <a:xfrm>
            <a:off x="6008906" y="3034362"/>
            <a:ext cx="1743789" cy="1182214"/>
          </a:xfrm>
          <a:prstGeom prst="bentConnector3">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Conector: Angulado 9">
            <a:extLst>
              <a:ext uri="{FF2B5EF4-FFF2-40B4-BE49-F238E27FC236}">
                <a16:creationId xmlns:a16="http://schemas.microsoft.com/office/drawing/2014/main" id="{19477E22-DE46-FEE3-9DFF-DF6BE20489FA}"/>
              </a:ext>
            </a:extLst>
          </p:cNvPr>
          <p:cNvCxnSpPr>
            <a:cxnSpLocks/>
            <a:stCxn id="6" idx="1"/>
            <a:endCxn id="5" idx="1"/>
          </p:cNvCxnSpPr>
          <p:nvPr/>
        </p:nvCxnSpPr>
        <p:spPr>
          <a:xfrm rot="10800000" flipV="1">
            <a:off x="3842902" y="1011780"/>
            <a:ext cx="12700" cy="2022581"/>
          </a:xfrm>
          <a:prstGeom prst="bentConnector3">
            <a:avLst>
              <a:gd name="adj1" fmla="val 3389606"/>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CaixaDeTexto 13">
            <a:extLst>
              <a:ext uri="{FF2B5EF4-FFF2-40B4-BE49-F238E27FC236}">
                <a16:creationId xmlns:a16="http://schemas.microsoft.com/office/drawing/2014/main" id="{EA27B649-24A3-26AF-B4A3-7A217ED82BFD}"/>
              </a:ext>
            </a:extLst>
          </p:cNvPr>
          <p:cNvSpPr txBox="1"/>
          <p:nvPr/>
        </p:nvSpPr>
        <p:spPr>
          <a:xfrm>
            <a:off x="378476" y="2510518"/>
            <a:ext cx="1239891" cy="954107"/>
          </a:xfrm>
          <a:prstGeom prst="rect">
            <a:avLst/>
          </a:prstGeom>
          <a:noFill/>
        </p:spPr>
        <p:txBody>
          <a:bodyPr wrap="none" rtlCol="0">
            <a:spAutoFit/>
          </a:bodyPr>
          <a:lstStyle/>
          <a:p>
            <a:pPr algn="ctr"/>
            <a:r>
              <a:rPr lang="pt-BR" sz="2800" b="1" dirty="0">
                <a:solidFill>
                  <a:schemeClr val="accent4">
                    <a:lumMod val="75000"/>
                  </a:schemeClr>
                </a:solidFill>
              </a:rPr>
              <a:t>The </a:t>
            </a:r>
          </a:p>
          <a:p>
            <a:pPr algn="ctr"/>
            <a:r>
              <a:rPr lang="pt-BR" sz="2800" b="1" dirty="0">
                <a:solidFill>
                  <a:schemeClr val="accent4">
                    <a:lumMod val="75000"/>
                  </a:schemeClr>
                </a:solidFill>
              </a:rPr>
              <a:t>Project</a:t>
            </a:r>
          </a:p>
        </p:txBody>
      </p:sp>
      <p:sp>
        <p:nvSpPr>
          <p:cNvPr id="13" name="CaixaDeTexto 12">
            <a:extLst>
              <a:ext uri="{FF2B5EF4-FFF2-40B4-BE49-F238E27FC236}">
                <a16:creationId xmlns:a16="http://schemas.microsoft.com/office/drawing/2014/main" id="{D670E766-E188-90B6-E3CD-0197811BDE74}"/>
              </a:ext>
            </a:extLst>
          </p:cNvPr>
          <p:cNvSpPr txBox="1"/>
          <p:nvPr/>
        </p:nvSpPr>
        <p:spPr>
          <a:xfrm>
            <a:off x="326636"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6" name="Slide Number Placeholder 0">
            <a:extLst>
              <a:ext uri="{FF2B5EF4-FFF2-40B4-BE49-F238E27FC236}">
                <a16:creationId xmlns:a16="http://schemas.microsoft.com/office/drawing/2014/main" id="{0C9AD803-5C1A-3B14-9639-F60DE927D5A9}"/>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12</a:t>
            </a:fld>
            <a:endParaRPr lang="en-US" dirty="0">
              <a:solidFill>
                <a:srgbClr val="0070C0"/>
              </a:solidFill>
            </a:endParaRPr>
          </a:p>
        </p:txBody>
      </p:sp>
    </p:spTree>
    <p:extLst>
      <p:ext uri="{BB962C8B-B14F-4D97-AF65-F5344CB8AC3E}">
        <p14:creationId xmlns:p14="http://schemas.microsoft.com/office/powerpoint/2010/main" val="2082864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0442-C06E-20C2-1900-AEB603687BE4}"/>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CAC0EE77-6443-9534-B948-7481A1DA6D99}"/>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4" name="Imagem 3">
            <a:extLst>
              <a:ext uri="{FF2B5EF4-FFF2-40B4-BE49-F238E27FC236}">
                <a16:creationId xmlns:a16="http://schemas.microsoft.com/office/drawing/2014/main" id="{46331951-1AB4-6FDA-F2EC-62439EC25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7719" y="200517"/>
            <a:ext cx="3657601" cy="1651165"/>
          </a:xfrm>
          <a:prstGeom prst="rect">
            <a:avLst/>
          </a:prstGeom>
        </p:spPr>
      </p:pic>
      <p:pic>
        <p:nvPicPr>
          <p:cNvPr id="6" name="Imagem 5">
            <a:extLst>
              <a:ext uri="{FF2B5EF4-FFF2-40B4-BE49-F238E27FC236}">
                <a16:creationId xmlns:a16="http://schemas.microsoft.com/office/drawing/2014/main" id="{4FDE2731-62D6-322E-A418-738ABBA020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2695" y="3313215"/>
            <a:ext cx="2427647" cy="1806722"/>
          </a:xfrm>
          <a:prstGeom prst="rect">
            <a:avLst/>
          </a:prstGeom>
        </p:spPr>
      </p:pic>
      <p:pic>
        <p:nvPicPr>
          <p:cNvPr id="8" name="Imagem 7">
            <a:extLst>
              <a:ext uri="{FF2B5EF4-FFF2-40B4-BE49-F238E27FC236}">
                <a16:creationId xmlns:a16="http://schemas.microsoft.com/office/drawing/2014/main" id="{0F61FF09-19CD-B929-59D8-913D0A8261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42902" y="1934650"/>
            <a:ext cx="2166004" cy="2199423"/>
          </a:xfrm>
          <a:prstGeom prst="rect">
            <a:avLst/>
          </a:prstGeom>
        </p:spPr>
      </p:pic>
      <p:pic>
        <p:nvPicPr>
          <p:cNvPr id="10" name="Imagem 9">
            <a:extLst>
              <a:ext uri="{FF2B5EF4-FFF2-40B4-BE49-F238E27FC236}">
                <a16:creationId xmlns:a16="http://schemas.microsoft.com/office/drawing/2014/main" id="{0DD57108-BAEF-C8DD-41CF-AE843243AB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42902" y="4502354"/>
            <a:ext cx="2166004" cy="939338"/>
          </a:xfrm>
          <a:prstGeom prst="rect">
            <a:avLst/>
          </a:prstGeom>
        </p:spPr>
      </p:pic>
      <p:pic>
        <p:nvPicPr>
          <p:cNvPr id="12" name="Imagem 11">
            <a:extLst>
              <a:ext uri="{FF2B5EF4-FFF2-40B4-BE49-F238E27FC236}">
                <a16:creationId xmlns:a16="http://schemas.microsoft.com/office/drawing/2014/main" id="{ACFA629B-0DB5-1E3A-8049-14A3A09665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46110" y="4018361"/>
            <a:ext cx="2166004" cy="578006"/>
          </a:xfrm>
          <a:prstGeom prst="rect">
            <a:avLst/>
          </a:prstGeom>
        </p:spPr>
      </p:pic>
      <p:pic>
        <p:nvPicPr>
          <p:cNvPr id="14" name="Imagem 13">
            <a:extLst>
              <a:ext uri="{FF2B5EF4-FFF2-40B4-BE49-F238E27FC236}">
                <a16:creationId xmlns:a16="http://schemas.microsoft.com/office/drawing/2014/main" id="{17D5F9D3-0418-62CF-D6BD-AF9CD72E549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842902" y="200517"/>
            <a:ext cx="2166004" cy="1622527"/>
          </a:xfrm>
          <a:prstGeom prst="rect">
            <a:avLst/>
          </a:prstGeom>
        </p:spPr>
      </p:pic>
      <p:cxnSp>
        <p:nvCxnSpPr>
          <p:cNvPr id="16" name="Conector de Seta Reta 15">
            <a:extLst>
              <a:ext uri="{FF2B5EF4-FFF2-40B4-BE49-F238E27FC236}">
                <a16:creationId xmlns:a16="http://schemas.microsoft.com/office/drawing/2014/main" id="{59FF80F6-7F61-46B9-F22B-D0B31ECB7C51}"/>
              </a:ext>
            </a:extLst>
          </p:cNvPr>
          <p:cNvCxnSpPr>
            <a:stCxn id="4" idx="2"/>
            <a:endCxn id="6" idx="0"/>
          </p:cNvCxnSpPr>
          <p:nvPr/>
        </p:nvCxnSpPr>
        <p:spPr>
          <a:xfrm flipH="1">
            <a:off x="8966519" y="1851682"/>
            <a:ext cx="1" cy="1461533"/>
          </a:xfrm>
          <a:prstGeom prst="straightConnector1">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76C0EA9A-33A3-42D2-30AB-204D0B7F6AD4}"/>
              </a:ext>
            </a:extLst>
          </p:cNvPr>
          <p:cNvCxnSpPr>
            <a:cxnSpLocks/>
            <a:stCxn id="14" idx="3"/>
            <a:endCxn id="4" idx="1"/>
          </p:cNvCxnSpPr>
          <p:nvPr/>
        </p:nvCxnSpPr>
        <p:spPr>
          <a:xfrm>
            <a:off x="6008906" y="1011781"/>
            <a:ext cx="1128813" cy="14319"/>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Conector: Angulado 21">
            <a:extLst>
              <a:ext uri="{FF2B5EF4-FFF2-40B4-BE49-F238E27FC236}">
                <a16:creationId xmlns:a16="http://schemas.microsoft.com/office/drawing/2014/main" id="{1C520CD3-4E1E-0B39-EABE-D8BA257EC21A}"/>
              </a:ext>
            </a:extLst>
          </p:cNvPr>
          <p:cNvCxnSpPr>
            <a:stCxn id="8" idx="3"/>
            <a:endCxn id="6" idx="1"/>
          </p:cNvCxnSpPr>
          <p:nvPr/>
        </p:nvCxnSpPr>
        <p:spPr>
          <a:xfrm>
            <a:off x="6008906" y="3034362"/>
            <a:ext cx="1743789" cy="1182214"/>
          </a:xfrm>
          <a:prstGeom prst="bentConnector3">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ector: Angulado 22">
            <a:extLst>
              <a:ext uri="{FF2B5EF4-FFF2-40B4-BE49-F238E27FC236}">
                <a16:creationId xmlns:a16="http://schemas.microsoft.com/office/drawing/2014/main" id="{43C00955-6C8D-024C-DF86-1C65FBFC1993}"/>
              </a:ext>
            </a:extLst>
          </p:cNvPr>
          <p:cNvCxnSpPr>
            <a:cxnSpLocks/>
            <a:stCxn id="10" idx="3"/>
            <a:endCxn id="6" idx="1"/>
          </p:cNvCxnSpPr>
          <p:nvPr/>
        </p:nvCxnSpPr>
        <p:spPr>
          <a:xfrm flipV="1">
            <a:off x="6008906" y="4216576"/>
            <a:ext cx="1743789" cy="755447"/>
          </a:xfrm>
          <a:prstGeom prst="bentConnector3">
            <a:avLst>
              <a:gd name="adj1" fmla="val 50000"/>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Conector: Angulado 28">
            <a:extLst>
              <a:ext uri="{FF2B5EF4-FFF2-40B4-BE49-F238E27FC236}">
                <a16:creationId xmlns:a16="http://schemas.microsoft.com/office/drawing/2014/main" id="{F589D0D9-B99B-4F66-5819-20BE7F52A307}"/>
              </a:ext>
            </a:extLst>
          </p:cNvPr>
          <p:cNvCxnSpPr>
            <a:cxnSpLocks/>
            <a:stCxn id="14" idx="1"/>
            <a:endCxn id="8" idx="1"/>
          </p:cNvCxnSpPr>
          <p:nvPr/>
        </p:nvCxnSpPr>
        <p:spPr>
          <a:xfrm rot="10800000" flipV="1">
            <a:off x="3842902" y="1011780"/>
            <a:ext cx="12700" cy="2022581"/>
          </a:xfrm>
          <a:prstGeom prst="bentConnector3">
            <a:avLst>
              <a:gd name="adj1" fmla="val 3389606"/>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Conector: Angulado 45">
            <a:extLst>
              <a:ext uri="{FF2B5EF4-FFF2-40B4-BE49-F238E27FC236}">
                <a16:creationId xmlns:a16="http://schemas.microsoft.com/office/drawing/2014/main" id="{B86508AD-EEBB-7398-D3BA-A32AF49BE623}"/>
              </a:ext>
            </a:extLst>
          </p:cNvPr>
          <p:cNvCxnSpPr>
            <a:cxnSpLocks/>
            <a:stCxn id="8" idx="1"/>
            <a:endCxn id="10" idx="1"/>
          </p:cNvCxnSpPr>
          <p:nvPr/>
        </p:nvCxnSpPr>
        <p:spPr>
          <a:xfrm rot="10800000" flipV="1">
            <a:off x="3842902" y="3034361"/>
            <a:ext cx="12700" cy="1937661"/>
          </a:xfrm>
          <a:prstGeom prst="bentConnector3">
            <a:avLst>
              <a:gd name="adj1" fmla="val 3389614"/>
            </a:avLst>
          </a:prstGeom>
          <a:ln w="38100">
            <a:solidFill>
              <a:srgbClr val="00B0F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CaixaDeTexto 53">
            <a:extLst>
              <a:ext uri="{FF2B5EF4-FFF2-40B4-BE49-F238E27FC236}">
                <a16:creationId xmlns:a16="http://schemas.microsoft.com/office/drawing/2014/main" id="{854CBF6F-DE84-0B00-9126-D395ECEF0571}"/>
              </a:ext>
            </a:extLst>
          </p:cNvPr>
          <p:cNvSpPr txBox="1"/>
          <p:nvPr/>
        </p:nvSpPr>
        <p:spPr>
          <a:xfrm>
            <a:off x="378476" y="2510518"/>
            <a:ext cx="1239891" cy="954107"/>
          </a:xfrm>
          <a:prstGeom prst="rect">
            <a:avLst/>
          </a:prstGeom>
          <a:noFill/>
        </p:spPr>
        <p:txBody>
          <a:bodyPr wrap="none" rtlCol="0">
            <a:spAutoFit/>
          </a:bodyPr>
          <a:lstStyle/>
          <a:p>
            <a:pPr algn="ctr"/>
            <a:r>
              <a:rPr lang="pt-BR" sz="2800" b="1" dirty="0">
                <a:solidFill>
                  <a:schemeClr val="accent4">
                    <a:lumMod val="75000"/>
                  </a:schemeClr>
                </a:solidFill>
              </a:rPr>
              <a:t>The </a:t>
            </a:r>
          </a:p>
          <a:p>
            <a:pPr algn="ctr"/>
            <a:r>
              <a:rPr lang="pt-BR" sz="2800" b="1" dirty="0">
                <a:solidFill>
                  <a:schemeClr val="accent4">
                    <a:lumMod val="75000"/>
                  </a:schemeClr>
                </a:solidFill>
              </a:rPr>
              <a:t>Project</a:t>
            </a:r>
          </a:p>
        </p:txBody>
      </p:sp>
      <p:sp>
        <p:nvSpPr>
          <p:cNvPr id="5" name="CaixaDeTexto 4">
            <a:extLst>
              <a:ext uri="{FF2B5EF4-FFF2-40B4-BE49-F238E27FC236}">
                <a16:creationId xmlns:a16="http://schemas.microsoft.com/office/drawing/2014/main" id="{B74F1F1F-AFEA-9069-9FBA-1F96F64C3A54}"/>
              </a:ext>
            </a:extLst>
          </p:cNvPr>
          <p:cNvSpPr txBox="1"/>
          <p:nvPr/>
        </p:nvSpPr>
        <p:spPr>
          <a:xfrm>
            <a:off x="326636"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9" name="Slide Number Placeholder 0">
            <a:extLst>
              <a:ext uri="{FF2B5EF4-FFF2-40B4-BE49-F238E27FC236}">
                <a16:creationId xmlns:a16="http://schemas.microsoft.com/office/drawing/2014/main" id="{D5991EE3-56B4-C9FA-DAF6-CFF223015FD1}"/>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13</a:t>
            </a:fld>
            <a:endParaRPr lang="en-US" dirty="0">
              <a:solidFill>
                <a:srgbClr val="0070C0"/>
              </a:solidFill>
            </a:endParaRPr>
          </a:p>
        </p:txBody>
      </p:sp>
    </p:spTree>
    <p:extLst>
      <p:ext uri="{BB962C8B-B14F-4D97-AF65-F5344CB8AC3E}">
        <p14:creationId xmlns:p14="http://schemas.microsoft.com/office/powerpoint/2010/main" val="1960647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E7E27-67E2-7247-F04D-21852AF4EFB0}"/>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07DC0B9F-8059-05B8-001D-DEA344006C9D}"/>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5" name="Imagem 4">
            <a:extLst>
              <a:ext uri="{FF2B5EF4-FFF2-40B4-BE49-F238E27FC236}">
                <a16:creationId xmlns:a16="http://schemas.microsoft.com/office/drawing/2014/main" id="{A24CF7F4-BFA1-BCB0-C4B7-EC62882B4E9A}"/>
              </a:ext>
            </a:extLst>
          </p:cNvPr>
          <p:cNvPicPr>
            <a:picLocks noChangeAspect="1"/>
          </p:cNvPicPr>
          <p:nvPr/>
        </p:nvPicPr>
        <p:blipFill>
          <a:blip r:embed="rId3"/>
          <a:stretch>
            <a:fillRect/>
          </a:stretch>
        </p:blipFill>
        <p:spPr>
          <a:xfrm>
            <a:off x="151817" y="543296"/>
            <a:ext cx="1514687" cy="2367294"/>
          </a:xfrm>
          <a:prstGeom prst="rect">
            <a:avLst/>
          </a:prstGeom>
        </p:spPr>
      </p:pic>
      <p:pic>
        <p:nvPicPr>
          <p:cNvPr id="7" name="Imagem 6">
            <a:extLst>
              <a:ext uri="{FF2B5EF4-FFF2-40B4-BE49-F238E27FC236}">
                <a16:creationId xmlns:a16="http://schemas.microsoft.com/office/drawing/2014/main" id="{2E23C937-278E-F20E-434B-DAEDA411F62F}"/>
              </a:ext>
            </a:extLst>
          </p:cNvPr>
          <p:cNvPicPr>
            <a:picLocks noChangeAspect="1"/>
          </p:cNvPicPr>
          <p:nvPr/>
        </p:nvPicPr>
        <p:blipFill>
          <a:blip r:embed="rId4"/>
          <a:stretch>
            <a:fillRect/>
          </a:stretch>
        </p:blipFill>
        <p:spPr>
          <a:xfrm>
            <a:off x="2047834" y="1328770"/>
            <a:ext cx="9450119" cy="3962953"/>
          </a:xfrm>
          <a:prstGeom prst="rect">
            <a:avLst/>
          </a:prstGeom>
        </p:spPr>
      </p:pic>
      <p:pic>
        <p:nvPicPr>
          <p:cNvPr id="9" name="Imagem 8">
            <a:extLst>
              <a:ext uri="{FF2B5EF4-FFF2-40B4-BE49-F238E27FC236}">
                <a16:creationId xmlns:a16="http://schemas.microsoft.com/office/drawing/2014/main" id="{6158980C-5F43-0EE4-9D6C-38E2A35BBD54}"/>
              </a:ext>
            </a:extLst>
          </p:cNvPr>
          <p:cNvPicPr>
            <a:picLocks noChangeAspect="1"/>
          </p:cNvPicPr>
          <p:nvPr/>
        </p:nvPicPr>
        <p:blipFill>
          <a:blip r:embed="rId5"/>
          <a:stretch>
            <a:fillRect/>
          </a:stretch>
        </p:blipFill>
        <p:spPr>
          <a:xfrm>
            <a:off x="4025590" y="882591"/>
            <a:ext cx="4734586" cy="247685"/>
          </a:xfrm>
          <a:prstGeom prst="rect">
            <a:avLst/>
          </a:prstGeom>
        </p:spPr>
      </p:pic>
      <p:sp>
        <p:nvSpPr>
          <p:cNvPr id="6" name="CaixaDeTexto 5">
            <a:extLst>
              <a:ext uri="{FF2B5EF4-FFF2-40B4-BE49-F238E27FC236}">
                <a16:creationId xmlns:a16="http://schemas.microsoft.com/office/drawing/2014/main" id="{1D549225-2235-5DD6-C7E8-D9955601F71E}"/>
              </a:ext>
            </a:extLst>
          </p:cNvPr>
          <p:cNvSpPr txBox="1"/>
          <p:nvPr/>
        </p:nvSpPr>
        <p:spPr>
          <a:xfrm>
            <a:off x="3147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0" name="Slide Number Placeholder 0">
            <a:extLst>
              <a:ext uri="{FF2B5EF4-FFF2-40B4-BE49-F238E27FC236}">
                <a16:creationId xmlns:a16="http://schemas.microsoft.com/office/drawing/2014/main" id="{B2462C13-0D47-3633-B6D1-95CE11E717DE}"/>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14</a:t>
            </a:fld>
            <a:endParaRPr lang="en-US" dirty="0">
              <a:solidFill>
                <a:srgbClr val="0070C0"/>
              </a:solidFill>
            </a:endParaRPr>
          </a:p>
        </p:txBody>
      </p:sp>
    </p:spTree>
    <p:extLst>
      <p:ext uri="{BB962C8B-B14F-4D97-AF65-F5344CB8AC3E}">
        <p14:creationId xmlns:p14="http://schemas.microsoft.com/office/powerpoint/2010/main" val="1728132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70F18-8BA8-E0ED-D964-23155EDE7CBD}"/>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D3059821-3AAD-F1AA-9778-354F9C6DA049}"/>
              </a:ext>
            </a:extLst>
          </p:cNvPr>
          <p:cNvPicPr>
            <a:picLocks noChangeAspect="1"/>
          </p:cNvPicPr>
          <p:nvPr/>
        </p:nvPicPr>
        <p:blipFill>
          <a:blip r:embed="rId2"/>
          <a:stretch>
            <a:fillRect/>
          </a:stretch>
        </p:blipFill>
        <p:spPr>
          <a:xfrm>
            <a:off x="10756249" y="6084125"/>
            <a:ext cx="1057275" cy="609600"/>
          </a:xfrm>
          <a:prstGeom prst="rect">
            <a:avLst/>
          </a:prstGeom>
        </p:spPr>
      </p:pic>
      <p:pic>
        <p:nvPicPr>
          <p:cNvPr id="8" name="Imagem 7">
            <a:extLst>
              <a:ext uri="{FF2B5EF4-FFF2-40B4-BE49-F238E27FC236}">
                <a16:creationId xmlns:a16="http://schemas.microsoft.com/office/drawing/2014/main" id="{49396BAA-1CD4-B71F-580D-75F56BB6B2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87" y="606410"/>
            <a:ext cx="1118173" cy="832175"/>
          </a:xfrm>
          <a:prstGeom prst="rect">
            <a:avLst/>
          </a:prstGeom>
        </p:spPr>
      </p:pic>
      <p:pic>
        <p:nvPicPr>
          <p:cNvPr id="10" name="Imagem 9">
            <a:extLst>
              <a:ext uri="{FF2B5EF4-FFF2-40B4-BE49-F238E27FC236}">
                <a16:creationId xmlns:a16="http://schemas.microsoft.com/office/drawing/2014/main" id="{22E179A6-9730-B7F2-FCC7-4119A17FB9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9913" y="0"/>
            <a:ext cx="8257781" cy="5022541"/>
          </a:xfrm>
          <a:prstGeom prst="rect">
            <a:avLst/>
          </a:prstGeom>
        </p:spPr>
      </p:pic>
      <p:sp>
        <p:nvSpPr>
          <p:cNvPr id="16" name="CaixaDeTexto 15">
            <a:extLst>
              <a:ext uri="{FF2B5EF4-FFF2-40B4-BE49-F238E27FC236}">
                <a16:creationId xmlns:a16="http://schemas.microsoft.com/office/drawing/2014/main" id="{A9F70F8C-2A26-6718-3F57-78BD25F07BB2}"/>
              </a:ext>
            </a:extLst>
          </p:cNvPr>
          <p:cNvSpPr txBox="1"/>
          <p:nvPr/>
        </p:nvSpPr>
        <p:spPr>
          <a:xfrm>
            <a:off x="378476" y="5261641"/>
            <a:ext cx="1217001" cy="461665"/>
          </a:xfrm>
          <a:prstGeom prst="rect">
            <a:avLst/>
          </a:prstGeom>
          <a:noFill/>
        </p:spPr>
        <p:txBody>
          <a:bodyPr wrap="none" rtlCol="0">
            <a:spAutoFit/>
          </a:bodyPr>
          <a:lstStyle/>
          <a:p>
            <a:pPr algn="ctr"/>
            <a:r>
              <a:rPr lang="pt-BR" sz="2400" b="1" dirty="0">
                <a:solidFill>
                  <a:schemeClr val="accent4">
                    <a:lumMod val="75000"/>
                  </a:schemeClr>
                </a:solidFill>
              </a:rPr>
              <a:t>MAPE-K</a:t>
            </a:r>
          </a:p>
        </p:txBody>
      </p:sp>
      <p:sp>
        <p:nvSpPr>
          <p:cNvPr id="18" name="CaixaDeTexto 17">
            <a:extLst>
              <a:ext uri="{FF2B5EF4-FFF2-40B4-BE49-F238E27FC236}">
                <a16:creationId xmlns:a16="http://schemas.microsoft.com/office/drawing/2014/main" id="{FE7D0F20-6ECD-373F-600A-5BD13D8D5778}"/>
              </a:ext>
            </a:extLst>
          </p:cNvPr>
          <p:cNvSpPr txBox="1"/>
          <p:nvPr/>
        </p:nvSpPr>
        <p:spPr>
          <a:xfrm>
            <a:off x="2249913" y="5261641"/>
            <a:ext cx="8054438" cy="646331"/>
          </a:xfrm>
          <a:prstGeom prst="rect">
            <a:avLst/>
          </a:prstGeom>
          <a:solidFill>
            <a:schemeClr val="bg1">
              <a:lumMod val="85000"/>
            </a:schemeClr>
          </a:solidFill>
        </p:spPr>
        <p:txBody>
          <a:bodyPr wrap="square">
            <a:spAutoFit/>
          </a:bodyPr>
          <a:lstStyle/>
          <a:p>
            <a:r>
              <a:rPr lang="pt-BR" dirty="0"/>
              <a:t>Jeffrey O. Kephart and David M. Chess. “The Vision of Autonomic Computing”. In: Computer. Vol. 36. 1. IEEE,2003, pp. 41–50. doi: 10.1109/MCOM.2003.1160055</a:t>
            </a:r>
          </a:p>
        </p:txBody>
      </p:sp>
      <p:sp>
        <p:nvSpPr>
          <p:cNvPr id="5" name="CaixaDeTexto 4">
            <a:extLst>
              <a:ext uri="{FF2B5EF4-FFF2-40B4-BE49-F238E27FC236}">
                <a16:creationId xmlns:a16="http://schemas.microsoft.com/office/drawing/2014/main" id="{F37DF3DA-2599-634A-0EB6-2563FB4AE389}"/>
              </a:ext>
            </a:extLst>
          </p:cNvPr>
          <p:cNvSpPr txBox="1"/>
          <p:nvPr/>
        </p:nvSpPr>
        <p:spPr>
          <a:xfrm>
            <a:off x="31476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7" name="Slide Number Placeholder 0">
            <a:extLst>
              <a:ext uri="{FF2B5EF4-FFF2-40B4-BE49-F238E27FC236}">
                <a16:creationId xmlns:a16="http://schemas.microsoft.com/office/drawing/2014/main" id="{0EAA6EA5-68C3-5935-C7B5-F00C801D1144}"/>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15</a:t>
            </a:fld>
            <a:endParaRPr lang="en-US" dirty="0">
              <a:solidFill>
                <a:srgbClr val="0070C0"/>
              </a:solidFill>
            </a:endParaRPr>
          </a:p>
        </p:txBody>
      </p:sp>
    </p:spTree>
    <p:extLst>
      <p:ext uri="{BB962C8B-B14F-4D97-AF65-F5344CB8AC3E}">
        <p14:creationId xmlns:p14="http://schemas.microsoft.com/office/powerpoint/2010/main" val="575102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BF836-369B-E2BE-A9DA-0B969D28F48E}"/>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AF859228-DAD5-5885-7DE6-325FC9EB1AD2}"/>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5" name="Retângulo 4">
            <a:extLst>
              <a:ext uri="{FF2B5EF4-FFF2-40B4-BE49-F238E27FC236}">
                <a16:creationId xmlns:a16="http://schemas.microsoft.com/office/drawing/2014/main" id="{D4CD3A11-84DD-832A-4680-BFCDB4BD9AFB}"/>
              </a:ext>
            </a:extLst>
          </p:cNvPr>
          <p:cNvSpPr/>
          <p:nvPr/>
        </p:nvSpPr>
        <p:spPr>
          <a:xfrm>
            <a:off x="2836391" y="1348820"/>
            <a:ext cx="1939268" cy="752103"/>
          </a:xfrm>
          <a:prstGeom prst="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Identity Layer</a:t>
            </a:r>
          </a:p>
        </p:txBody>
      </p:sp>
      <p:sp>
        <p:nvSpPr>
          <p:cNvPr id="7" name="Retângulo 6">
            <a:extLst>
              <a:ext uri="{FF2B5EF4-FFF2-40B4-BE49-F238E27FC236}">
                <a16:creationId xmlns:a16="http://schemas.microsoft.com/office/drawing/2014/main" id="{3E9A055B-9F5B-044F-8968-93B9E80F0ECE}"/>
              </a:ext>
            </a:extLst>
          </p:cNvPr>
          <p:cNvSpPr/>
          <p:nvPr/>
        </p:nvSpPr>
        <p:spPr>
          <a:xfrm>
            <a:off x="2836391" y="515567"/>
            <a:ext cx="1939268" cy="752103"/>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Ontological Layer</a:t>
            </a:r>
          </a:p>
        </p:txBody>
      </p:sp>
      <p:sp>
        <p:nvSpPr>
          <p:cNvPr id="9" name="Retângulo 8">
            <a:extLst>
              <a:ext uri="{FF2B5EF4-FFF2-40B4-BE49-F238E27FC236}">
                <a16:creationId xmlns:a16="http://schemas.microsoft.com/office/drawing/2014/main" id="{2438F775-EA78-9A13-469A-B700A32A0E9C}"/>
              </a:ext>
            </a:extLst>
          </p:cNvPr>
          <p:cNvSpPr/>
          <p:nvPr/>
        </p:nvSpPr>
        <p:spPr>
          <a:xfrm>
            <a:off x="2836391" y="5486400"/>
            <a:ext cx="1939268" cy="752103"/>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Exposure Layer</a:t>
            </a:r>
          </a:p>
        </p:txBody>
      </p:sp>
      <p:sp>
        <p:nvSpPr>
          <p:cNvPr id="11" name="Retângulo 10">
            <a:extLst>
              <a:ext uri="{FF2B5EF4-FFF2-40B4-BE49-F238E27FC236}">
                <a16:creationId xmlns:a16="http://schemas.microsoft.com/office/drawing/2014/main" id="{B9F82D12-D6FF-D94F-EA22-966A7E9405AC}"/>
              </a:ext>
            </a:extLst>
          </p:cNvPr>
          <p:cNvSpPr/>
          <p:nvPr/>
        </p:nvSpPr>
        <p:spPr>
          <a:xfrm>
            <a:off x="2836391" y="2157335"/>
            <a:ext cx="1939268" cy="752103"/>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Ingestion Layer</a:t>
            </a:r>
          </a:p>
        </p:txBody>
      </p:sp>
      <p:sp>
        <p:nvSpPr>
          <p:cNvPr id="13" name="Retângulo 12">
            <a:extLst>
              <a:ext uri="{FF2B5EF4-FFF2-40B4-BE49-F238E27FC236}">
                <a16:creationId xmlns:a16="http://schemas.microsoft.com/office/drawing/2014/main" id="{E17F80C3-3305-6E4B-64EA-260D8F8C56E3}"/>
              </a:ext>
            </a:extLst>
          </p:cNvPr>
          <p:cNvSpPr/>
          <p:nvPr/>
        </p:nvSpPr>
        <p:spPr>
          <a:xfrm>
            <a:off x="2836391" y="2992569"/>
            <a:ext cx="1939268" cy="75210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Persistence Layer</a:t>
            </a:r>
          </a:p>
        </p:txBody>
      </p:sp>
      <p:sp>
        <p:nvSpPr>
          <p:cNvPr id="15" name="Retângulo 14">
            <a:extLst>
              <a:ext uri="{FF2B5EF4-FFF2-40B4-BE49-F238E27FC236}">
                <a16:creationId xmlns:a16="http://schemas.microsoft.com/office/drawing/2014/main" id="{71FEE1DF-D327-00A5-CFFC-E8F1F2CFAA47}"/>
              </a:ext>
            </a:extLst>
          </p:cNvPr>
          <p:cNvSpPr/>
          <p:nvPr/>
        </p:nvSpPr>
        <p:spPr>
          <a:xfrm>
            <a:off x="2836391" y="3811971"/>
            <a:ext cx="1939268" cy="75210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Validation Layer</a:t>
            </a:r>
          </a:p>
        </p:txBody>
      </p:sp>
      <p:sp>
        <p:nvSpPr>
          <p:cNvPr id="17" name="Retângulo 16">
            <a:extLst>
              <a:ext uri="{FF2B5EF4-FFF2-40B4-BE49-F238E27FC236}">
                <a16:creationId xmlns:a16="http://schemas.microsoft.com/office/drawing/2014/main" id="{44561F02-3A3B-D099-9C24-4D113D4747D9}"/>
              </a:ext>
            </a:extLst>
          </p:cNvPr>
          <p:cNvSpPr/>
          <p:nvPr/>
        </p:nvSpPr>
        <p:spPr>
          <a:xfrm>
            <a:off x="2836391" y="4655123"/>
            <a:ext cx="1939268" cy="752103"/>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b="1" dirty="0"/>
              <a:t>Reasoning Layer</a:t>
            </a:r>
          </a:p>
        </p:txBody>
      </p:sp>
      <p:sp>
        <p:nvSpPr>
          <p:cNvPr id="19" name="Retângulo 18">
            <a:extLst>
              <a:ext uri="{FF2B5EF4-FFF2-40B4-BE49-F238E27FC236}">
                <a16:creationId xmlns:a16="http://schemas.microsoft.com/office/drawing/2014/main" id="{4B9E1DCF-505B-B063-689B-56D1A836CB90}"/>
              </a:ext>
            </a:extLst>
          </p:cNvPr>
          <p:cNvSpPr/>
          <p:nvPr/>
        </p:nvSpPr>
        <p:spPr>
          <a:xfrm>
            <a:off x="4750125" y="515567"/>
            <a:ext cx="5767447" cy="752103"/>
          </a:xfrm>
          <a:prstGeom prst="rect">
            <a:avLst/>
          </a:prstGeom>
          <a:solidFill>
            <a:schemeClr val="bg2"/>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600" b="1" dirty="0" err="1">
                <a:solidFill>
                  <a:srgbClr val="FF0000"/>
                </a:solidFill>
              </a:rPr>
              <a:t>Tbox</a:t>
            </a:r>
            <a:r>
              <a:rPr lang="pt-BR" sz="1600" b="1" dirty="0">
                <a:solidFill>
                  <a:srgbClr val="FF0000"/>
                </a:solidFill>
              </a:rPr>
              <a:t>:</a:t>
            </a:r>
            <a:r>
              <a:rPr lang="pt-BR" sz="1600" b="1" dirty="0">
                <a:solidFill>
                  <a:schemeClr val="tx1"/>
                </a:solidFill>
              </a:rPr>
              <a:t> define core classes (</a:t>
            </a:r>
            <a:r>
              <a:rPr lang="pt-BR" sz="1600" b="1" dirty="0">
                <a:solidFill>
                  <a:srgbClr val="FF0000"/>
                </a:solidFill>
              </a:rPr>
              <a:t>NetworkNode, Connection, Channel</a:t>
            </a:r>
            <a:r>
              <a:rPr lang="pt-BR" sz="1600" b="1" dirty="0">
                <a:solidFill>
                  <a:schemeClr val="tx1"/>
                </a:solidFill>
              </a:rPr>
              <a:t>)  and constraints</a:t>
            </a:r>
          </a:p>
        </p:txBody>
      </p:sp>
      <p:sp>
        <p:nvSpPr>
          <p:cNvPr id="21" name="Retângulo 20">
            <a:extLst>
              <a:ext uri="{FF2B5EF4-FFF2-40B4-BE49-F238E27FC236}">
                <a16:creationId xmlns:a16="http://schemas.microsoft.com/office/drawing/2014/main" id="{94B3E5CE-E1BC-5D0D-53B0-6E19C4102323}"/>
              </a:ext>
            </a:extLst>
          </p:cNvPr>
          <p:cNvSpPr/>
          <p:nvPr/>
        </p:nvSpPr>
        <p:spPr>
          <a:xfrm>
            <a:off x="4773880" y="1337424"/>
            <a:ext cx="5767450"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b="1" dirty="0">
                <a:solidFill>
                  <a:schemeClr val="tx1"/>
                </a:solidFill>
              </a:rPr>
              <a:t>Assigns stable IRIs to instances, separating identity from state</a:t>
            </a:r>
            <a:endParaRPr lang="pt-BR" sz="1600" b="1" dirty="0">
              <a:solidFill>
                <a:schemeClr val="tx1"/>
              </a:solidFill>
            </a:endParaRPr>
          </a:p>
        </p:txBody>
      </p:sp>
      <p:sp>
        <p:nvSpPr>
          <p:cNvPr id="23" name="Retângulo 22">
            <a:extLst>
              <a:ext uri="{FF2B5EF4-FFF2-40B4-BE49-F238E27FC236}">
                <a16:creationId xmlns:a16="http://schemas.microsoft.com/office/drawing/2014/main" id="{FB767E6A-7195-6AF6-0B03-1033BFCBC910}"/>
              </a:ext>
            </a:extLst>
          </p:cNvPr>
          <p:cNvSpPr/>
          <p:nvPr/>
        </p:nvSpPr>
        <p:spPr>
          <a:xfrm>
            <a:off x="4773879" y="2168478"/>
            <a:ext cx="5767449"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600" b="1" dirty="0">
                <a:solidFill>
                  <a:schemeClr val="tx1"/>
                </a:solidFill>
              </a:rPr>
              <a:t>Collects telemetry (</a:t>
            </a:r>
            <a:r>
              <a:rPr lang="pt-BR" sz="1600" b="1" dirty="0">
                <a:solidFill>
                  <a:srgbClr val="FF0000"/>
                </a:solidFill>
              </a:rPr>
              <a:t>YANG-</a:t>
            </a:r>
            <a:r>
              <a:rPr lang="pt-BR" sz="1600" b="1" dirty="0" err="1">
                <a:solidFill>
                  <a:srgbClr val="FF0000"/>
                </a:solidFill>
              </a:rPr>
              <a:t>Push</a:t>
            </a:r>
            <a:r>
              <a:rPr lang="pt-BR" sz="1600" b="1" dirty="0">
                <a:solidFill>
                  <a:srgbClr val="FF0000"/>
                </a:solidFill>
              </a:rPr>
              <a:t>, gNMI, SNMP, </a:t>
            </a:r>
            <a:r>
              <a:rPr lang="pt-BR" sz="1600" b="1" dirty="0" err="1">
                <a:solidFill>
                  <a:srgbClr val="FF0000"/>
                </a:solidFill>
              </a:rPr>
              <a:t>syslog</a:t>
            </a:r>
            <a:r>
              <a:rPr lang="pt-BR" sz="1600" b="1" dirty="0">
                <a:solidFill>
                  <a:schemeClr val="tx1"/>
                </a:solidFill>
              </a:rPr>
              <a:t>) </a:t>
            </a:r>
            <a:r>
              <a:rPr lang="en-US" sz="1600" b="1" dirty="0">
                <a:solidFill>
                  <a:schemeClr val="tx1"/>
                </a:solidFill>
              </a:rPr>
              <a:t>and normalises data into the </a:t>
            </a:r>
            <a:r>
              <a:rPr lang="en-US" sz="1600" b="1" dirty="0">
                <a:solidFill>
                  <a:srgbClr val="FF0000"/>
                </a:solidFill>
              </a:rPr>
              <a:t>Node–Connection–Channel</a:t>
            </a:r>
            <a:r>
              <a:rPr lang="en-US" sz="1600" b="1" dirty="0">
                <a:solidFill>
                  <a:schemeClr val="tx1"/>
                </a:solidFill>
              </a:rPr>
              <a:t> triad</a:t>
            </a:r>
            <a:endParaRPr lang="pt-BR" sz="1600" b="1" dirty="0">
              <a:solidFill>
                <a:schemeClr val="tx1"/>
              </a:solidFill>
            </a:endParaRPr>
          </a:p>
        </p:txBody>
      </p:sp>
      <p:sp>
        <p:nvSpPr>
          <p:cNvPr id="25" name="Retângulo 24">
            <a:extLst>
              <a:ext uri="{FF2B5EF4-FFF2-40B4-BE49-F238E27FC236}">
                <a16:creationId xmlns:a16="http://schemas.microsoft.com/office/drawing/2014/main" id="{84DD9622-12E6-B423-15B6-3040DE45A8E9}"/>
              </a:ext>
            </a:extLst>
          </p:cNvPr>
          <p:cNvSpPr/>
          <p:nvPr/>
        </p:nvSpPr>
        <p:spPr>
          <a:xfrm>
            <a:off x="4773879" y="2992569"/>
            <a:ext cx="5767448"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600" b="1" dirty="0">
                <a:solidFill>
                  <a:srgbClr val="FF0000"/>
                </a:solidFill>
              </a:rPr>
              <a:t>ABox + </a:t>
            </a:r>
            <a:r>
              <a:rPr lang="pt-BR" sz="1600" b="1" dirty="0" err="1">
                <a:solidFill>
                  <a:srgbClr val="FF0000"/>
                </a:solidFill>
              </a:rPr>
              <a:t>Rbox</a:t>
            </a:r>
            <a:r>
              <a:rPr lang="pt-BR" sz="1600" b="1" dirty="0">
                <a:solidFill>
                  <a:srgbClr val="FF0000"/>
                </a:solidFill>
              </a:rPr>
              <a:t>: </a:t>
            </a:r>
            <a:r>
              <a:rPr lang="en-US" sz="1600" b="1" dirty="0">
                <a:solidFill>
                  <a:schemeClr val="tx1"/>
                </a:solidFill>
              </a:rPr>
              <a:t>stores facts in RDF/OWL and maintains temporal history via observations</a:t>
            </a:r>
            <a:endParaRPr lang="pt-BR" sz="1600" b="1" dirty="0">
              <a:solidFill>
                <a:schemeClr val="tx1"/>
              </a:solidFill>
            </a:endParaRPr>
          </a:p>
        </p:txBody>
      </p:sp>
      <p:sp>
        <p:nvSpPr>
          <p:cNvPr id="27" name="Retângulo 26">
            <a:extLst>
              <a:ext uri="{FF2B5EF4-FFF2-40B4-BE49-F238E27FC236}">
                <a16:creationId xmlns:a16="http://schemas.microsoft.com/office/drawing/2014/main" id="{73E63BD3-C927-51EF-119B-9B158070B255}"/>
              </a:ext>
            </a:extLst>
          </p:cNvPr>
          <p:cNvSpPr/>
          <p:nvPr/>
        </p:nvSpPr>
        <p:spPr>
          <a:xfrm>
            <a:off x="4773878" y="3835721"/>
            <a:ext cx="5767447"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b="1" dirty="0">
                <a:solidFill>
                  <a:schemeClr val="tx1"/>
                </a:solidFill>
              </a:rPr>
              <a:t>Applies structural constraints and logical consistency checks with </a:t>
            </a:r>
            <a:r>
              <a:rPr lang="en-US" sz="1600" b="1" dirty="0">
                <a:solidFill>
                  <a:srgbClr val="FF0000"/>
                </a:solidFill>
              </a:rPr>
              <a:t>DL and DeL</a:t>
            </a:r>
            <a:r>
              <a:rPr lang="en-US" sz="1600" b="1" dirty="0">
                <a:solidFill>
                  <a:schemeClr val="tx1"/>
                </a:solidFill>
              </a:rPr>
              <a:t> reasoners </a:t>
            </a:r>
            <a:endParaRPr lang="pt-BR" sz="1600" b="1" dirty="0">
              <a:solidFill>
                <a:srgbClr val="FF0000"/>
              </a:solidFill>
            </a:endParaRPr>
          </a:p>
        </p:txBody>
      </p:sp>
      <p:sp>
        <p:nvSpPr>
          <p:cNvPr id="29" name="Retângulo 28">
            <a:extLst>
              <a:ext uri="{FF2B5EF4-FFF2-40B4-BE49-F238E27FC236}">
                <a16:creationId xmlns:a16="http://schemas.microsoft.com/office/drawing/2014/main" id="{583F50B2-2EC9-A861-A0B4-5546FBC15DA0}"/>
              </a:ext>
            </a:extLst>
          </p:cNvPr>
          <p:cNvSpPr/>
          <p:nvPr/>
        </p:nvSpPr>
        <p:spPr>
          <a:xfrm>
            <a:off x="4773877" y="4655123"/>
            <a:ext cx="5767447"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pt-BR" sz="1600" b="1" dirty="0">
                <a:solidFill>
                  <a:schemeClr val="tx1"/>
                </a:solidFill>
              </a:rPr>
              <a:t>Infers states and propagates failures</a:t>
            </a:r>
          </a:p>
        </p:txBody>
      </p:sp>
      <p:sp>
        <p:nvSpPr>
          <p:cNvPr id="31" name="Retângulo 30">
            <a:extLst>
              <a:ext uri="{FF2B5EF4-FFF2-40B4-BE49-F238E27FC236}">
                <a16:creationId xmlns:a16="http://schemas.microsoft.com/office/drawing/2014/main" id="{9D332786-68CA-52F6-F485-28D45E26E5EB}"/>
              </a:ext>
            </a:extLst>
          </p:cNvPr>
          <p:cNvSpPr/>
          <p:nvPr/>
        </p:nvSpPr>
        <p:spPr>
          <a:xfrm>
            <a:off x="4773876" y="5477033"/>
            <a:ext cx="5767447" cy="752103"/>
          </a:xfrm>
          <a:prstGeom prst="rect">
            <a:avLst/>
          </a:prstGeom>
          <a:solidFill>
            <a:schemeClr val="bg2"/>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b="1" dirty="0">
                <a:solidFill>
                  <a:schemeClr val="tx1"/>
                </a:solidFill>
              </a:rPr>
              <a:t>Provides SPARQL queries, dashboards, alerts, and integration with NOC/orchestration systems</a:t>
            </a:r>
            <a:endParaRPr lang="pt-BR" sz="1600" b="1" dirty="0">
              <a:solidFill>
                <a:schemeClr val="tx1"/>
              </a:solidFill>
            </a:endParaRPr>
          </a:p>
        </p:txBody>
      </p:sp>
      <p:sp>
        <p:nvSpPr>
          <p:cNvPr id="33" name="CaixaDeTexto 32">
            <a:extLst>
              <a:ext uri="{FF2B5EF4-FFF2-40B4-BE49-F238E27FC236}">
                <a16:creationId xmlns:a16="http://schemas.microsoft.com/office/drawing/2014/main" id="{3D46D417-DDE2-4597-F019-6CD12404AB49}"/>
              </a:ext>
            </a:extLst>
          </p:cNvPr>
          <p:cNvSpPr txBox="1"/>
          <p:nvPr/>
        </p:nvSpPr>
        <p:spPr>
          <a:xfrm>
            <a:off x="378476" y="3084882"/>
            <a:ext cx="1875129" cy="830997"/>
          </a:xfrm>
          <a:prstGeom prst="rect">
            <a:avLst/>
          </a:prstGeom>
          <a:noFill/>
        </p:spPr>
        <p:txBody>
          <a:bodyPr wrap="none" rtlCol="0">
            <a:spAutoFit/>
          </a:bodyPr>
          <a:lstStyle/>
          <a:p>
            <a:pPr algn="ctr"/>
            <a:r>
              <a:rPr lang="pt-BR" sz="2400" b="1" dirty="0">
                <a:solidFill>
                  <a:schemeClr val="accent4">
                    <a:lumMod val="75000"/>
                  </a:schemeClr>
                </a:solidFill>
              </a:rPr>
              <a:t>DT Reference</a:t>
            </a:r>
            <a:br>
              <a:rPr lang="pt-BR" sz="2400" b="1" dirty="0">
                <a:solidFill>
                  <a:schemeClr val="accent4">
                    <a:lumMod val="75000"/>
                  </a:schemeClr>
                </a:solidFill>
              </a:rPr>
            </a:br>
            <a:r>
              <a:rPr lang="pt-BR" sz="2400" b="1" dirty="0">
                <a:solidFill>
                  <a:schemeClr val="accent4">
                    <a:lumMod val="75000"/>
                  </a:schemeClr>
                </a:solidFill>
              </a:rPr>
              <a:t> Architecture</a:t>
            </a:r>
          </a:p>
        </p:txBody>
      </p:sp>
      <p:sp>
        <p:nvSpPr>
          <p:cNvPr id="6" name="CaixaDeTexto 5">
            <a:extLst>
              <a:ext uri="{FF2B5EF4-FFF2-40B4-BE49-F238E27FC236}">
                <a16:creationId xmlns:a16="http://schemas.microsoft.com/office/drawing/2014/main" id="{C221EEB9-0BE2-3874-7819-AA5085A8CAAD}"/>
              </a:ext>
            </a:extLst>
          </p:cNvPr>
          <p:cNvSpPr txBox="1"/>
          <p:nvPr/>
        </p:nvSpPr>
        <p:spPr>
          <a:xfrm>
            <a:off x="338511" y="6371893"/>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0" name="Slide Number Placeholder 0">
            <a:extLst>
              <a:ext uri="{FF2B5EF4-FFF2-40B4-BE49-F238E27FC236}">
                <a16:creationId xmlns:a16="http://schemas.microsoft.com/office/drawing/2014/main" id="{0EDA2DC2-09E7-BC24-9ECE-E5259F99FB37}"/>
              </a:ext>
            </a:extLst>
          </p:cNvPr>
          <p:cNvSpPr txBox="1">
            <a:spLocks/>
          </p:cNvSpPr>
          <p:nvPr/>
        </p:nvSpPr>
        <p:spPr>
          <a:xfrm>
            <a:off x="138001" y="6348143"/>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16</a:t>
            </a:fld>
            <a:endParaRPr lang="en-US" dirty="0">
              <a:solidFill>
                <a:srgbClr val="0070C0"/>
              </a:solidFill>
            </a:endParaRPr>
          </a:p>
        </p:txBody>
      </p:sp>
    </p:spTree>
    <p:extLst>
      <p:ext uri="{BB962C8B-B14F-4D97-AF65-F5344CB8AC3E}">
        <p14:creationId xmlns:p14="http://schemas.microsoft.com/office/powerpoint/2010/main" val="1057985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891046" y="244836"/>
            <a:ext cx="7000610" cy="685800"/>
          </a:xfrm>
          <a:prstGeom prst="rect">
            <a:avLst/>
          </a:prstGeom>
          <a:noFill/>
          <a:ln/>
        </p:spPr>
        <p:txBody>
          <a:bodyPr wrap="square" lIns="0" tIns="0" rIns="0" bIns="0" rtlCol="0" anchor="ctr"/>
          <a:lstStyle/>
          <a:p>
            <a:pPr marL="0" indent="0" algn="ctr">
              <a:buNone/>
            </a:pPr>
            <a:r>
              <a:rPr lang="en-US" sz="3400" b="1" dirty="0">
                <a:solidFill>
                  <a:schemeClr val="tx2"/>
                </a:solidFill>
              </a:rPr>
              <a:t>Meaning-Driven Regulatory Compliance</a:t>
            </a:r>
            <a:endParaRPr lang="en-US" sz="3400" dirty="0"/>
          </a:p>
        </p:txBody>
      </p:sp>
      <p:sp>
        <p:nvSpPr>
          <p:cNvPr id="3" name="Key idea"/>
          <p:cNvSpPr txBox="1"/>
          <p:nvPr/>
        </p:nvSpPr>
        <p:spPr>
          <a:xfrm>
            <a:off x="754075" y="1063435"/>
            <a:ext cx="11274552" cy="457200"/>
          </a:xfrm>
          <a:prstGeom prst="rect">
            <a:avLst/>
          </a:prstGeom>
          <a:noFill/>
          <a:ln/>
        </p:spPr>
        <p:txBody>
          <a:bodyPr wrap="square" lIns="0" tIns="0" rIns="0" bIns="0" rtlCol="0" anchor="ctr"/>
          <a:lstStyle/>
          <a:p>
            <a:pPr marL="0" indent="0">
              <a:buNone/>
            </a:pPr>
            <a:r>
              <a:rPr lang="en-US" sz="1700" i="1" dirty="0">
                <a:solidFill>
                  <a:schemeClr val="tx1"/>
                </a:solidFill>
              </a:rPr>
              <a:t>Jurisdiction is no longer a property of hardware but a </a:t>
            </a:r>
            <a:r>
              <a:rPr lang="en-US" sz="1700" b="1" i="1" dirty="0">
                <a:solidFill>
                  <a:schemeClr val="accent1"/>
                </a:solidFill>
              </a:rPr>
              <a:t>normative relationship</a:t>
            </a:r>
            <a:r>
              <a:rPr lang="en-US" sz="1700" i="1" dirty="0">
                <a:solidFill>
                  <a:schemeClr val="tx1"/>
                </a:solidFill>
              </a:rPr>
              <a:t> (a relator) linking a norm, the parties and the network resources.</a:t>
            </a:r>
            <a:endParaRPr lang="en-US" sz="1700" dirty="0"/>
          </a:p>
        </p:txBody>
      </p:sp>
      <p:sp>
        <p:nvSpPr>
          <p:cNvPr id="4" name="Text 2"/>
          <p:cNvSpPr txBox="1"/>
          <p:nvPr/>
        </p:nvSpPr>
        <p:spPr>
          <a:xfrm>
            <a:off x="754075" y="1689860"/>
            <a:ext cx="274320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SCENARIO</a:t>
            </a:r>
            <a:endParaRPr lang="en-US" sz="1200" dirty="0"/>
          </a:p>
        </p:txBody>
      </p:sp>
      <p:sp>
        <p:nvSpPr>
          <p:cNvPr id="5" name="Path node 1"/>
          <p:cNvSpPr/>
          <p:nvPr/>
        </p:nvSpPr>
        <p:spPr>
          <a:xfrm>
            <a:off x="941527" y="2055620"/>
            <a:ext cx="1828800" cy="868680"/>
          </a:xfrm>
          <a:prstGeom prst="roundRect">
            <a:avLst>
              <a:gd name="adj" fmla="val 12632"/>
            </a:avLst>
          </a:prstGeom>
          <a:solidFill>
            <a:schemeClr val="tx2"/>
          </a:solidFill>
          <a:ln w="15875">
            <a:solidFill>
              <a:schemeClr val="tx2"/>
            </a:solidFill>
            <a:prstDash val="solid"/>
          </a:ln>
        </p:spPr>
      </p:sp>
      <p:sp>
        <p:nvSpPr>
          <p:cNvPr id="6" name="Text 4"/>
          <p:cNvSpPr txBox="1"/>
          <p:nvPr/>
        </p:nvSpPr>
        <p:spPr>
          <a:xfrm>
            <a:off x="941527" y="2055620"/>
            <a:ext cx="1828800" cy="868680"/>
          </a:xfrm>
          <a:prstGeom prst="rect">
            <a:avLst/>
          </a:prstGeom>
          <a:noFill/>
          <a:ln/>
        </p:spPr>
        <p:txBody>
          <a:bodyPr wrap="square" lIns="635" tIns="635" rIns="635" bIns="635" rtlCol="0" anchor="ctr"/>
          <a:lstStyle/>
          <a:p>
            <a:pPr marL="0" indent="0" algn="ctr">
              <a:buNone/>
            </a:pPr>
            <a:r>
              <a:rPr lang="en-US" sz="1600" b="1" dirty="0">
                <a:solidFill>
                  <a:schemeClr val="bg1"/>
                </a:solidFill>
              </a:rPr>
              <a:t>Hospital</a:t>
            </a:r>
            <a:endParaRPr lang="en-US" sz="1600" dirty="0"/>
          </a:p>
          <a:p>
            <a:pPr marL="0" indent="0" algn="ctr">
              <a:buNone/>
            </a:pPr>
            <a:r>
              <a:rPr lang="en-US" sz="1200" dirty="0">
                <a:solidFill>
                  <a:schemeClr val="bg1"/>
                </a:solidFill>
              </a:rPr>
              <a:t>São Paulo</a:t>
            </a:r>
            <a:endParaRPr lang="en-US" sz="1600" dirty="0"/>
          </a:p>
        </p:txBody>
      </p:sp>
      <p:sp>
        <p:nvSpPr>
          <p:cNvPr id="7" name="Path arrow 1"/>
          <p:cNvSpPr/>
          <p:nvPr/>
        </p:nvSpPr>
        <p:spPr>
          <a:xfrm>
            <a:off x="2825191" y="2489960"/>
            <a:ext cx="329184" cy="0"/>
          </a:xfrm>
          <a:prstGeom prst="line">
            <a:avLst/>
          </a:prstGeom>
          <a:noFill/>
          <a:ln w="25400">
            <a:solidFill>
              <a:schemeClr val="accent1"/>
            </a:solidFill>
            <a:prstDash val="solid"/>
            <a:tailEnd type="triangle"/>
          </a:ln>
        </p:spPr>
      </p:sp>
      <p:sp>
        <p:nvSpPr>
          <p:cNvPr id="8" name="Path node 2"/>
          <p:cNvSpPr/>
          <p:nvPr/>
        </p:nvSpPr>
        <p:spPr>
          <a:xfrm>
            <a:off x="3209239" y="2055620"/>
            <a:ext cx="1828800" cy="868680"/>
          </a:xfrm>
          <a:prstGeom prst="roundRect">
            <a:avLst>
              <a:gd name="adj" fmla="val 12632"/>
            </a:avLst>
          </a:prstGeom>
          <a:solidFill>
            <a:schemeClr val="bg2"/>
          </a:solidFill>
          <a:ln w="15875">
            <a:solidFill>
              <a:schemeClr val="accent1"/>
            </a:solidFill>
            <a:prstDash val="solid"/>
          </a:ln>
        </p:spPr>
      </p:sp>
      <p:sp>
        <p:nvSpPr>
          <p:cNvPr id="9" name="Text 7"/>
          <p:cNvSpPr txBox="1"/>
          <p:nvPr/>
        </p:nvSpPr>
        <p:spPr>
          <a:xfrm>
            <a:off x="3209239" y="2055620"/>
            <a:ext cx="1828800" cy="868680"/>
          </a:xfrm>
          <a:prstGeom prst="rect">
            <a:avLst/>
          </a:prstGeom>
          <a:noFill/>
          <a:ln/>
        </p:spPr>
        <p:txBody>
          <a:bodyPr wrap="square" lIns="635" tIns="635" rIns="635" bIns="635" rtlCol="0" anchor="ctr"/>
          <a:lstStyle/>
          <a:p>
            <a:pPr marL="0" indent="0" algn="ctr">
              <a:buNone/>
            </a:pPr>
            <a:r>
              <a:rPr lang="en-US" sz="1600" b="1" dirty="0">
                <a:solidFill>
                  <a:schemeClr val="tx1"/>
                </a:solidFill>
              </a:rPr>
              <a:t>AS-A</a:t>
            </a:r>
            <a:endParaRPr lang="en-US" sz="1600" dirty="0"/>
          </a:p>
          <a:p>
            <a:pPr marL="0" indent="0" algn="ctr">
              <a:buNone/>
            </a:pPr>
            <a:r>
              <a:rPr lang="en-US" sz="1200" dirty="0">
                <a:solidFill>
                  <a:schemeClr val="tx1"/>
                </a:solidFill>
              </a:rPr>
              <a:t>Brazil</a:t>
            </a:r>
            <a:endParaRPr lang="en-US" sz="1600" dirty="0"/>
          </a:p>
        </p:txBody>
      </p:sp>
      <p:sp>
        <p:nvSpPr>
          <p:cNvPr id="10" name="Path arrow 2"/>
          <p:cNvSpPr/>
          <p:nvPr/>
        </p:nvSpPr>
        <p:spPr>
          <a:xfrm>
            <a:off x="5092903" y="2489960"/>
            <a:ext cx="329184" cy="0"/>
          </a:xfrm>
          <a:prstGeom prst="line">
            <a:avLst/>
          </a:prstGeom>
          <a:noFill/>
          <a:ln w="25400">
            <a:solidFill>
              <a:schemeClr val="accent1"/>
            </a:solidFill>
            <a:prstDash val="solid"/>
            <a:tailEnd type="triangle"/>
          </a:ln>
        </p:spPr>
      </p:sp>
      <p:sp>
        <p:nvSpPr>
          <p:cNvPr id="11" name="Path node 3"/>
          <p:cNvSpPr/>
          <p:nvPr/>
        </p:nvSpPr>
        <p:spPr>
          <a:xfrm>
            <a:off x="5476951" y="2055620"/>
            <a:ext cx="1828800" cy="868680"/>
          </a:xfrm>
          <a:prstGeom prst="roundRect">
            <a:avLst>
              <a:gd name="adj" fmla="val 12632"/>
            </a:avLst>
          </a:prstGeom>
          <a:solidFill>
            <a:schemeClr val="bg2"/>
          </a:solidFill>
          <a:ln w="15875">
            <a:solidFill>
              <a:schemeClr val="accent1"/>
            </a:solidFill>
            <a:prstDash val="solid"/>
          </a:ln>
        </p:spPr>
      </p:sp>
      <p:sp>
        <p:nvSpPr>
          <p:cNvPr id="12" name="Text 10"/>
          <p:cNvSpPr txBox="1"/>
          <p:nvPr/>
        </p:nvSpPr>
        <p:spPr>
          <a:xfrm>
            <a:off x="5476951" y="2055620"/>
            <a:ext cx="1828800" cy="868680"/>
          </a:xfrm>
          <a:prstGeom prst="rect">
            <a:avLst/>
          </a:prstGeom>
          <a:noFill/>
          <a:ln/>
        </p:spPr>
        <p:txBody>
          <a:bodyPr wrap="square" lIns="635" tIns="635" rIns="635" bIns="635" rtlCol="0" anchor="ctr"/>
          <a:lstStyle/>
          <a:p>
            <a:pPr marL="0" indent="0" algn="ctr">
              <a:buNone/>
            </a:pPr>
            <a:r>
              <a:rPr lang="en-US" sz="1600" b="1" dirty="0">
                <a:solidFill>
                  <a:schemeClr val="tx1"/>
                </a:solidFill>
              </a:rPr>
              <a:t>AS-B</a:t>
            </a:r>
            <a:endParaRPr lang="en-US" sz="1600" dirty="0"/>
          </a:p>
          <a:p>
            <a:pPr marL="0" indent="0" algn="ctr">
              <a:buNone/>
            </a:pPr>
            <a:r>
              <a:rPr lang="en-US" sz="1200" dirty="0">
                <a:solidFill>
                  <a:schemeClr val="tx1"/>
                </a:solidFill>
              </a:rPr>
              <a:t>International transit</a:t>
            </a:r>
            <a:endParaRPr lang="en-US" sz="1600" dirty="0"/>
          </a:p>
        </p:txBody>
      </p:sp>
      <p:sp>
        <p:nvSpPr>
          <p:cNvPr id="13" name="Path arrow 3"/>
          <p:cNvSpPr/>
          <p:nvPr/>
        </p:nvSpPr>
        <p:spPr>
          <a:xfrm>
            <a:off x="7360615" y="2489960"/>
            <a:ext cx="329184" cy="0"/>
          </a:xfrm>
          <a:prstGeom prst="line">
            <a:avLst/>
          </a:prstGeom>
          <a:noFill/>
          <a:ln w="25400">
            <a:solidFill>
              <a:schemeClr val="accent1"/>
            </a:solidFill>
            <a:prstDash val="solid"/>
            <a:tailEnd type="triangle"/>
          </a:ln>
        </p:spPr>
      </p:sp>
      <p:sp>
        <p:nvSpPr>
          <p:cNvPr id="14" name="Path node 4"/>
          <p:cNvSpPr/>
          <p:nvPr/>
        </p:nvSpPr>
        <p:spPr>
          <a:xfrm>
            <a:off x="7744663" y="2055620"/>
            <a:ext cx="1828800" cy="868680"/>
          </a:xfrm>
          <a:prstGeom prst="roundRect">
            <a:avLst>
              <a:gd name="adj" fmla="val 12632"/>
            </a:avLst>
          </a:prstGeom>
          <a:solidFill>
            <a:schemeClr val="bg2"/>
          </a:solidFill>
          <a:ln w="15875">
            <a:solidFill>
              <a:schemeClr val="accent1"/>
            </a:solidFill>
            <a:prstDash val="solid"/>
          </a:ln>
        </p:spPr>
      </p:sp>
      <p:sp>
        <p:nvSpPr>
          <p:cNvPr id="15" name="Text 13"/>
          <p:cNvSpPr txBox="1"/>
          <p:nvPr/>
        </p:nvSpPr>
        <p:spPr>
          <a:xfrm>
            <a:off x="7744663" y="2055620"/>
            <a:ext cx="1828800" cy="868680"/>
          </a:xfrm>
          <a:prstGeom prst="rect">
            <a:avLst/>
          </a:prstGeom>
          <a:noFill/>
          <a:ln/>
        </p:spPr>
        <p:txBody>
          <a:bodyPr wrap="square" lIns="635" tIns="635" rIns="635" bIns="635" rtlCol="0" anchor="ctr"/>
          <a:lstStyle/>
          <a:p>
            <a:pPr marL="0" indent="0" algn="ctr">
              <a:buNone/>
            </a:pPr>
            <a:r>
              <a:rPr lang="en-US" sz="1600" b="1" dirty="0">
                <a:solidFill>
                  <a:schemeClr val="tx1"/>
                </a:solidFill>
              </a:rPr>
              <a:t>AS-C</a:t>
            </a:r>
            <a:endParaRPr lang="en-US" sz="1600" dirty="0"/>
          </a:p>
          <a:p>
            <a:pPr marL="0" indent="0" algn="ctr">
              <a:buNone/>
            </a:pPr>
            <a:r>
              <a:rPr lang="en-US" sz="1200" dirty="0">
                <a:solidFill>
                  <a:schemeClr val="tx1"/>
                </a:solidFill>
              </a:rPr>
              <a:t>Europe</a:t>
            </a:r>
            <a:endParaRPr lang="en-US" sz="1600" dirty="0"/>
          </a:p>
        </p:txBody>
      </p:sp>
      <p:sp>
        <p:nvSpPr>
          <p:cNvPr id="16" name="Path arrow 4"/>
          <p:cNvSpPr/>
          <p:nvPr/>
        </p:nvSpPr>
        <p:spPr>
          <a:xfrm>
            <a:off x="9628327" y="2489960"/>
            <a:ext cx="329184" cy="0"/>
          </a:xfrm>
          <a:prstGeom prst="line">
            <a:avLst/>
          </a:prstGeom>
          <a:noFill/>
          <a:ln w="25400">
            <a:solidFill>
              <a:schemeClr val="accent1"/>
            </a:solidFill>
            <a:prstDash val="solid"/>
            <a:tailEnd type="triangle"/>
          </a:ln>
        </p:spPr>
      </p:sp>
      <p:sp>
        <p:nvSpPr>
          <p:cNvPr id="17" name="Path node 5"/>
          <p:cNvSpPr/>
          <p:nvPr/>
        </p:nvSpPr>
        <p:spPr>
          <a:xfrm>
            <a:off x="10012375" y="2055620"/>
            <a:ext cx="1828800" cy="868680"/>
          </a:xfrm>
          <a:prstGeom prst="roundRect">
            <a:avLst>
              <a:gd name="adj" fmla="val 12632"/>
            </a:avLst>
          </a:prstGeom>
          <a:solidFill>
            <a:schemeClr val="tx2"/>
          </a:solidFill>
          <a:ln w="15875">
            <a:solidFill>
              <a:schemeClr val="tx2"/>
            </a:solidFill>
            <a:prstDash val="solid"/>
          </a:ln>
        </p:spPr>
      </p:sp>
      <p:sp>
        <p:nvSpPr>
          <p:cNvPr id="18" name="Text 16"/>
          <p:cNvSpPr txBox="1"/>
          <p:nvPr/>
        </p:nvSpPr>
        <p:spPr>
          <a:xfrm>
            <a:off x="10012375" y="2055620"/>
            <a:ext cx="1828800" cy="868680"/>
          </a:xfrm>
          <a:prstGeom prst="rect">
            <a:avLst/>
          </a:prstGeom>
          <a:noFill/>
          <a:ln/>
        </p:spPr>
        <p:txBody>
          <a:bodyPr wrap="square" lIns="635" tIns="635" rIns="635" bIns="635" rtlCol="0" anchor="ctr"/>
          <a:lstStyle/>
          <a:p>
            <a:pPr marL="0" indent="0" algn="ctr">
              <a:buNone/>
            </a:pPr>
            <a:r>
              <a:rPr lang="en-US" sz="1600" b="1" dirty="0">
                <a:solidFill>
                  <a:schemeClr val="bg1"/>
                </a:solidFill>
              </a:rPr>
              <a:t>Analysis service</a:t>
            </a:r>
            <a:endParaRPr lang="en-US" sz="1600" dirty="0"/>
          </a:p>
          <a:p>
            <a:pPr marL="0" indent="0" algn="ctr">
              <a:buNone/>
            </a:pPr>
            <a:r>
              <a:rPr lang="en-US" sz="1200" dirty="0">
                <a:solidFill>
                  <a:schemeClr val="bg1"/>
                </a:solidFill>
              </a:rPr>
              <a:t>Europe</a:t>
            </a:r>
            <a:endParaRPr lang="en-US" sz="1600" dirty="0"/>
          </a:p>
        </p:txBody>
      </p:sp>
      <p:sp>
        <p:nvSpPr>
          <p:cNvPr id="19" name="Rule callout"/>
          <p:cNvSpPr/>
          <p:nvPr/>
        </p:nvSpPr>
        <p:spPr>
          <a:xfrm>
            <a:off x="2308555" y="3152900"/>
            <a:ext cx="8165592" cy="548640"/>
          </a:xfrm>
          <a:prstGeom prst="roundRect">
            <a:avLst>
              <a:gd name="adj" fmla="val 16667"/>
            </a:avLst>
          </a:prstGeom>
          <a:solidFill>
            <a:schemeClr val="accent2">
              <a:alpha val="20000"/>
            </a:schemeClr>
          </a:solidFill>
          <a:ln w="12700">
            <a:solidFill>
              <a:schemeClr val="accent2"/>
            </a:solidFill>
            <a:prstDash val="solid"/>
          </a:ln>
        </p:spPr>
      </p:sp>
      <p:sp>
        <p:nvSpPr>
          <p:cNvPr id="20" name="Text 18"/>
          <p:cNvSpPr txBox="1"/>
          <p:nvPr/>
        </p:nvSpPr>
        <p:spPr>
          <a:xfrm>
            <a:off x="2308555" y="3152900"/>
            <a:ext cx="8165592" cy="548640"/>
          </a:xfrm>
          <a:prstGeom prst="rect">
            <a:avLst/>
          </a:prstGeom>
          <a:noFill/>
          <a:ln/>
        </p:spPr>
        <p:txBody>
          <a:bodyPr wrap="square" lIns="635" tIns="635" rIns="635" bIns="635" rtlCol="0" anchor="ctr"/>
          <a:lstStyle/>
          <a:p>
            <a:pPr marL="0" indent="0" algn="ctr">
              <a:buNone/>
            </a:pPr>
            <a:r>
              <a:rPr lang="en-US" sz="1500" b="1" dirty="0">
                <a:solidFill>
                  <a:schemeClr val="tx1"/>
                </a:solidFill>
              </a:rPr>
              <a:t>Rule (LGPD + GDPR): </a:t>
            </a:r>
            <a:r>
              <a:rPr lang="en-US" sz="1500" dirty="0">
                <a:solidFill>
                  <a:schemeClr val="tx1"/>
                </a:solidFill>
              </a:rPr>
              <a:t>health data may only traverse adequately protected jurisdictions.</a:t>
            </a:r>
            <a:endParaRPr lang="en-US" sz="1500" dirty="0"/>
          </a:p>
        </p:txBody>
      </p:sp>
      <p:sp>
        <p:nvSpPr>
          <p:cNvPr id="21" name="TBox card"/>
          <p:cNvSpPr/>
          <p:nvPr/>
        </p:nvSpPr>
        <p:spPr>
          <a:xfrm>
            <a:off x="754075" y="4021580"/>
            <a:ext cx="3575304" cy="2148840"/>
          </a:xfrm>
          <a:prstGeom prst="roundRect">
            <a:avLst>
              <a:gd name="adj" fmla="val 5106"/>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2" name="Shape 20"/>
          <p:cNvSpPr/>
          <p:nvPr/>
        </p:nvSpPr>
        <p:spPr>
          <a:xfrm>
            <a:off x="1028395" y="4295900"/>
            <a:ext cx="685800" cy="685800"/>
          </a:xfrm>
          <a:prstGeom prst="ellipse">
            <a:avLst/>
          </a:prstGeom>
          <a:solidFill>
            <a:schemeClr val="accent1"/>
          </a:solidFill>
          <a:ln w="12700">
            <a:solidFill>
              <a:schemeClr val="accent1"/>
            </a:solidFill>
            <a:prstDash val="solid"/>
          </a:ln>
        </p:spPr>
      </p:sp>
      <p:sp>
        <p:nvSpPr>
          <p:cNvPr id="23" name="Text 21"/>
          <p:cNvSpPr txBox="1"/>
          <p:nvPr/>
        </p:nvSpPr>
        <p:spPr>
          <a:xfrm>
            <a:off x="1028395" y="429590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T</a:t>
            </a:r>
            <a:endParaRPr lang="en-US" sz="2200" dirty="0"/>
          </a:p>
        </p:txBody>
      </p:sp>
      <p:sp>
        <p:nvSpPr>
          <p:cNvPr id="24" name="Text 22"/>
          <p:cNvSpPr txBox="1"/>
          <p:nvPr/>
        </p:nvSpPr>
        <p:spPr>
          <a:xfrm>
            <a:off x="1851355" y="4250180"/>
            <a:ext cx="2295144" cy="777240"/>
          </a:xfrm>
          <a:prstGeom prst="rect">
            <a:avLst/>
          </a:prstGeom>
          <a:noFill/>
          <a:ln/>
        </p:spPr>
        <p:txBody>
          <a:bodyPr wrap="square" lIns="0" tIns="0" rIns="0" bIns="0" rtlCol="0" anchor="ctr"/>
          <a:lstStyle/>
          <a:p>
            <a:pPr marL="0" indent="0">
              <a:buNone/>
            </a:pPr>
            <a:r>
              <a:rPr lang="en-US" sz="2000" b="1" dirty="0">
                <a:solidFill>
                  <a:schemeClr val="tx2"/>
                </a:solidFill>
              </a:rPr>
              <a:t>TBox</a:t>
            </a:r>
            <a:endParaRPr lang="en-US" sz="2000" dirty="0"/>
          </a:p>
          <a:p>
            <a:pPr marL="0" indent="0">
              <a:buNone/>
            </a:pPr>
            <a:r>
              <a:rPr lang="en-US" sz="1400" dirty="0">
                <a:solidFill>
                  <a:schemeClr val="accent1"/>
                </a:solidFill>
              </a:rPr>
              <a:t>General rules</a:t>
            </a:r>
            <a:endParaRPr lang="en-US" sz="2000" dirty="0"/>
          </a:p>
        </p:txBody>
      </p:sp>
      <p:sp>
        <p:nvSpPr>
          <p:cNvPr id="25" name="Text 23"/>
          <p:cNvSpPr txBox="1"/>
          <p:nvPr/>
        </p:nvSpPr>
        <p:spPr>
          <a:xfrm>
            <a:off x="877062" y="5353747"/>
            <a:ext cx="3329330" cy="490347"/>
          </a:xfrm>
          <a:prstGeom prst="rect">
            <a:avLst/>
          </a:prstGeom>
          <a:noFill/>
          <a:ln/>
        </p:spPr>
        <p:txBody>
          <a:bodyPr wrap="square" lIns="0" tIns="0" rIns="0" bIns="0" rtlCol="0" anchor="t"/>
          <a:lstStyle/>
          <a:p>
            <a:pPr marL="0" indent="0">
              <a:buNone/>
            </a:pPr>
            <a:r>
              <a:rPr lang="en-US" sz="1400" i="1" dirty="0">
                <a:solidFill>
                  <a:schemeClr val="tx1"/>
                </a:solidFill>
              </a:rPr>
              <a:t>Health-data flows only traverse adequately protected jurisdictions.</a:t>
            </a:r>
            <a:endParaRPr lang="en-US" sz="1400" dirty="0"/>
          </a:p>
        </p:txBody>
      </p:sp>
      <p:sp>
        <p:nvSpPr>
          <p:cNvPr id="26" name="RBox card"/>
          <p:cNvSpPr/>
          <p:nvPr/>
        </p:nvSpPr>
        <p:spPr>
          <a:xfrm>
            <a:off x="4603699" y="4021580"/>
            <a:ext cx="3575304" cy="2148840"/>
          </a:xfrm>
          <a:prstGeom prst="roundRect">
            <a:avLst>
              <a:gd name="adj" fmla="val 5106"/>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7" name="Shape 25"/>
          <p:cNvSpPr/>
          <p:nvPr/>
        </p:nvSpPr>
        <p:spPr>
          <a:xfrm>
            <a:off x="4878019" y="4295900"/>
            <a:ext cx="685800" cy="685800"/>
          </a:xfrm>
          <a:prstGeom prst="ellipse">
            <a:avLst/>
          </a:prstGeom>
          <a:solidFill>
            <a:schemeClr val="accent1"/>
          </a:solidFill>
          <a:ln w="12700">
            <a:solidFill>
              <a:schemeClr val="accent1"/>
            </a:solidFill>
            <a:prstDash val="solid"/>
          </a:ln>
        </p:spPr>
      </p:sp>
      <p:sp>
        <p:nvSpPr>
          <p:cNvPr id="28" name="Text 26"/>
          <p:cNvSpPr txBox="1"/>
          <p:nvPr/>
        </p:nvSpPr>
        <p:spPr>
          <a:xfrm>
            <a:off x="4878019" y="429590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R</a:t>
            </a:r>
            <a:endParaRPr lang="en-US" sz="2200" dirty="0"/>
          </a:p>
        </p:txBody>
      </p:sp>
      <p:sp>
        <p:nvSpPr>
          <p:cNvPr id="29" name="Text 27"/>
          <p:cNvSpPr txBox="1"/>
          <p:nvPr/>
        </p:nvSpPr>
        <p:spPr>
          <a:xfrm>
            <a:off x="5700979" y="4250180"/>
            <a:ext cx="2295144" cy="777240"/>
          </a:xfrm>
          <a:prstGeom prst="rect">
            <a:avLst/>
          </a:prstGeom>
          <a:noFill/>
          <a:ln/>
        </p:spPr>
        <p:txBody>
          <a:bodyPr wrap="square" lIns="0" tIns="0" rIns="0" bIns="0" rtlCol="0" anchor="ctr"/>
          <a:lstStyle/>
          <a:p>
            <a:pPr marL="0" indent="0">
              <a:buNone/>
            </a:pPr>
            <a:r>
              <a:rPr lang="en-US" sz="2000" b="1" dirty="0">
                <a:solidFill>
                  <a:schemeClr val="tx2"/>
                </a:solidFill>
              </a:rPr>
              <a:t>RBox</a:t>
            </a:r>
            <a:endParaRPr lang="en-US" sz="2000" dirty="0"/>
          </a:p>
          <a:p>
            <a:pPr marL="0" indent="0">
              <a:buNone/>
            </a:pPr>
            <a:r>
              <a:rPr lang="en-US" sz="1400" dirty="0">
                <a:solidFill>
                  <a:schemeClr val="accent1"/>
                </a:solidFill>
              </a:rPr>
              <a:t>How relations propagate</a:t>
            </a:r>
            <a:endParaRPr lang="en-US" sz="2000" dirty="0"/>
          </a:p>
        </p:txBody>
      </p:sp>
      <p:sp>
        <p:nvSpPr>
          <p:cNvPr id="30" name="Text 28"/>
          <p:cNvSpPr txBox="1"/>
          <p:nvPr/>
        </p:nvSpPr>
        <p:spPr>
          <a:xfrm>
            <a:off x="4726686" y="5329229"/>
            <a:ext cx="3329330" cy="539382"/>
          </a:xfrm>
          <a:prstGeom prst="rect">
            <a:avLst/>
          </a:prstGeom>
          <a:noFill/>
          <a:ln/>
        </p:spPr>
        <p:txBody>
          <a:bodyPr wrap="square" lIns="0" tIns="0" rIns="0" bIns="0" rtlCol="0" anchor="t"/>
          <a:lstStyle/>
          <a:p>
            <a:pPr marL="0" indent="0">
              <a:buNone/>
            </a:pPr>
            <a:r>
              <a:rPr lang="en-US" sz="1400" i="1" dirty="0">
                <a:solidFill>
                  <a:schemeClr val="tx1"/>
                </a:solidFill>
              </a:rPr>
              <a:t>If a node is subject to the LGPD, so are the channels and connections passing through it.</a:t>
            </a:r>
            <a:endParaRPr lang="en-US" sz="1400" dirty="0"/>
          </a:p>
        </p:txBody>
      </p:sp>
      <p:sp>
        <p:nvSpPr>
          <p:cNvPr id="31" name="ABox card"/>
          <p:cNvSpPr/>
          <p:nvPr/>
        </p:nvSpPr>
        <p:spPr>
          <a:xfrm>
            <a:off x="8453323" y="4021580"/>
            <a:ext cx="3575304" cy="2148840"/>
          </a:xfrm>
          <a:prstGeom prst="roundRect">
            <a:avLst>
              <a:gd name="adj" fmla="val 5106"/>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32" name="Shape 30"/>
          <p:cNvSpPr/>
          <p:nvPr/>
        </p:nvSpPr>
        <p:spPr>
          <a:xfrm>
            <a:off x="8727643" y="4295900"/>
            <a:ext cx="685800" cy="685800"/>
          </a:xfrm>
          <a:prstGeom prst="ellipse">
            <a:avLst/>
          </a:prstGeom>
          <a:solidFill>
            <a:schemeClr val="accent1"/>
          </a:solidFill>
          <a:ln w="12700">
            <a:solidFill>
              <a:schemeClr val="accent1"/>
            </a:solidFill>
            <a:prstDash val="solid"/>
          </a:ln>
        </p:spPr>
      </p:sp>
      <p:sp>
        <p:nvSpPr>
          <p:cNvPr id="33" name="Text 31"/>
          <p:cNvSpPr txBox="1"/>
          <p:nvPr/>
        </p:nvSpPr>
        <p:spPr>
          <a:xfrm>
            <a:off x="8727643" y="4295900"/>
            <a:ext cx="685800" cy="685800"/>
          </a:xfrm>
          <a:prstGeom prst="rect">
            <a:avLst/>
          </a:prstGeom>
          <a:noFill/>
          <a:ln/>
        </p:spPr>
        <p:txBody>
          <a:bodyPr wrap="square" lIns="0" tIns="0" rIns="0" bIns="0" rtlCol="0" anchor="ctr"/>
          <a:lstStyle/>
          <a:p>
            <a:pPr marL="0" indent="0" algn="ctr">
              <a:buNone/>
            </a:pPr>
            <a:r>
              <a:rPr lang="en-US" sz="2200" b="1" dirty="0">
                <a:solidFill>
                  <a:schemeClr val="bg1"/>
                </a:solidFill>
              </a:rPr>
              <a:t>A</a:t>
            </a:r>
            <a:endParaRPr lang="en-US" sz="2200" dirty="0"/>
          </a:p>
        </p:txBody>
      </p:sp>
      <p:sp>
        <p:nvSpPr>
          <p:cNvPr id="34" name="Text 32"/>
          <p:cNvSpPr txBox="1"/>
          <p:nvPr/>
        </p:nvSpPr>
        <p:spPr>
          <a:xfrm>
            <a:off x="9550603" y="4250180"/>
            <a:ext cx="2295144" cy="777240"/>
          </a:xfrm>
          <a:prstGeom prst="rect">
            <a:avLst/>
          </a:prstGeom>
          <a:noFill/>
          <a:ln/>
        </p:spPr>
        <p:txBody>
          <a:bodyPr wrap="square" lIns="0" tIns="0" rIns="0" bIns="0" rtlCol="0" anchor="ctr"/>
          <a:lstStyle/>
          <a:p>
            <a:pPr marL="0" indent="0">
              <a:buNone/>
            </a:pPr>
            <a:r>
              <a:rPr lang="en-US" sz="2000" b="1" dirty="0">
                <a:solidFill>
                  <a:schemeClr val="tx2"/>
                </a:solidFill>
              </a:rPr>
              <a:t>ABox</a:t>
            </a:r>
            <a:endParaRPr lang="en-US" sz="2000" dirty="0"/>
          </a:p>
          <a:p>
            <a:pPr marL="0" indent="0">
              <a:buNone/>
            </a:pPr>
            <a:r>
              <a:rPr lang="en-US" sz="1400" dirty="0">
                <a:solidFill>
                  <a:schemeClr val="accent1"/>
                </a:solidFill>
              </a:rPr>
              <a:t>Facts of the moment</a:t>
            </a:r>
            <a:endParaRPr lang="en-US" sz="2000" dirty="0"/>
          </a:p>
        </p:txBody>
      </p:sp>
      <p:sp>
        <p:nvSpPr>
          <p:cNvPr id="35" name="Text 33"/>
          <p:cNvSpPr txBox="1"/>
          <p:nvPr/>
        </p:nvSpPr>
        <p:spPr>
          <a:xfrm>
            <a:off x="8576310" y="5329229"/>
            <a:ext cx="3329330" cy="539382"/>
          </a:xfrm>
          <a:prstGeom prst="rect">
            <a:avLst/>
          </a:prstGeom>
          <a:noFill/>
          <a:ln/>
        </p:spPr>
        <p:txBody>
          <a:bodyPr wrap="square" lIns="0" tIns="0" rIns="0" bIns="0" rtlCol="0" anchor="t"/>
          <a:lstStyle/>
          <a:p>
            <a:pPr marL="0" indent="0">
              <a:buNone/>
            </a:pPr>
            <a:r>
              <a:rPr lang="en-US" sz="1400" i="1" dirty="0">
                <a:solidFill>
                  <a:schemeClr val="tx1"/>
                </a:solidFill>
              </a:rPr>
              <a:t>Flow F carries health data · F passes through node N3 · N3 is under jurisdiction J.</a:t>
            </a:r>
            <a:endParaRPr lang="en-US" sz="1400" dirty="0"/>
          </a:p>
        </p:txBody>
      </p:sp>
      <p:sp>
        <p:nvSpPr>
          <p:cNvPr id="38" name="CaixaDeTexto 37">
            <a:extLst>
              <a:ext uri="{FF2B5EF4-FFF2-40B4-BE49-F238E27FC236}">
                <a16:creationId xmlns:a16="http://schemas.microsoft.com/office/drawing/2014/main" id="{4402AA09-FB1F-1BDA-8997-9277EEFDE490}"/>
              </a:ext>
            </a:extLst>
          </p:cNvPr>
          <p:cNvSpPr txBox="1"/>
          <p:nvPr/>
        </p:nvSpPr>
        <p:spPr>
          <a:xfrm>
            <a:off x="-93181" y="3064555"/>
            <a:ext cx="779380" cy="1200329"/>
          </a:xfrm>
          <a:prstGeom prst="rect">
            <a:avLst/>
          </a:prstGeom>
          <a:noFill/>
        </p:spPr>
        <p:txBody>
          <a:bodyPr wrap="none" rtlCol="0">
            <a:spAutoFit/>
          </a:bodyPr>
          <a:lstStyle/>
          <a:p>
            <a:pPr algn="ctr"/>
            <a:r>
              <a:rPr lang="pt-BR" sz="2400" b="1" dirty="0">
                <a:solidFill>
                  <a:schemeClr val="accent4">
                    <a:lumMod val="75000"/>
                  </a:schemeClr>
                </a:solidFill>
              </a:rPr>
              <a:t>Use</a:t>
            </a:r>
            <a:br>
              <a:rPr lang="pt-BR" sz="2400" b="1" dirty="0">
                <a:solidFill>
                  <a:schemeClr val="accent4">
                    <a:lumMod val="75000"/>
                  </a:schemeClr>
                </a:solidFill>
              </a:rPr>
            </a:br>
            <a:r>
              <a:rPr lang="pt-BR" sz="2400" b="1" dirty="0">
                <a:solidFill>
                  <a:schemeClr val="accent4">
                    <a:lumMod val="75000"/>
                  </a:schemeClr>
                </a:solidFill>
              </a:rPr>
              <a:t>Case</a:t>
            </a:r>
            <a:br>
              <a:rPr lang="pt-BR" sz="2400" b="1" dirty="0">
                <a:solidFill>
                  <a:schemeClr val="accent4">
                    <a:lumMod val="75000"/>
                  </a:schemeClr>
                </a:solidFill>
              </a:rPr>
            </a:br>
            <a:r>
              <a:rPr lang="pt-BR" sz="2400" b="1" dirty="0">
                <a:solidFill>
                  <a:schemeClr val="accent4">
                    <a:lumMod val="75000"/>
                  </a:schemeClr>
                </a:solidFill>
              </a:rPr>
              <a:t>(I)</a:t>
            </a:r>
          </a:p>
        </p:txBody>
      </p:sp>
      <p:sp>
        <p:nvSpPr>
          <p:cNvPr id="40" name="CaixaDeTexto 39">
            <a:extLst>
              <a:ext uri="{FF2B5EF4-FFF2-40B4-BE49-F238E27FC236}">
                <a16:creationId xmlns:a16="http://schemas.microsoft.com/office/drawing/2014/main" id="{0F24405F-F4D3-5B57-EF06-459B00A9A8DF}"/>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42" name="Slide Number Placeholder 0">
            <a:extLst>
              <a:ext uri="{FF2B5EF4-FFF2-40B4-BE49-F238E27FC236}">
                <a16:creationId xmlns:a16="http://schemas.microsoft.com/office/drawing/2014/main" id="{6E3C5336-6341-9FC2-9CE2-1214ABE6E92F}"/>
              </a:ext>
            </a:extLst>
          </p:cNvPr>
          <p:cNvSpPr txBox="1">
            <a:spLocks/>
          </p:cNvSpPr>
          <p:nvPr/>
        </p:nvSpPr>
        <p:spPr>
          <a:xfrm>
            <a:off x="138001" y="6502518"/>
            <a:ext cx="457200" cy="27432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17</a:t>
            </a:fld>
            <a:endParaRPr lang="en-US" dirty="0">
              <a:solidFill>
                <a:srgbClr val="0070C0"/>
              </a:solidFill>
            </a:endParaRPr>
          </a:p>
        </p:txBody>
      </p:sp>
      <p:pic>
        <p:nvPicPr>
          <p:cNvPr id="46" name="Imagem 45" descr="Logo CGI.br">
            <a:extLst>
              <a:ext uri="{FF2B5EF4-FFF2-40B4-BE49-F238E27FC236}">
                <a16:creationId xmlns:a16="http://schemas.microsoft.com/office/drawing/2014/main" id="{D4886075-971C-1B5C-6081-B5156CCA5263}"/>
              </a:ext>
            </a:extLst>
          </p:cNvPr>
          <p:cNvPicPr>
            <a:picLocks noChangeAspect="1"/>
          </p:cNvPicPr>
          <p:nvPr/>
        </p:nvPicPr>
        <p:blipFill>
          <a:blip r:embed="rId3"/>
          <a:stretch>
            <a:fillRect/>
          </a:stretch>
        </p:blipFill>
        <p:spPr>
          <a:xfrm>
            <a:off x="10756249" y="6202875"/>
            <a:ext cx="1057275" cy="609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898664" y="167135"/>
            <a:ext cx="6364191" cy="685800"/>
          </a:xfrm>
          <a:prstGeom prst="rect">
            <a:avLst/>
          </a:prstGeom>
          <a:noFill/>
          <a:ln/>
        </p:spPr>
        <p:txBody>
          <a:bodyPr wrap="square" lIns="0" tIns="0" rIns="0" bIns="0" rtlCol="0" anchor="ctr">
            <a:normAutofit fontScale="90000"/>
          </a:bodyPr>
          <a:lstStyle/>
          <a:p>
            <a:pPr marL="0" indent="0" algn="ctr">
              <a:buNone/>
            </a:pPr>
            <a:r>
              <a:rPr lang="en-US" sz="3400" b="1" dirty="0">
                <a:solidFill>
                  <a:schemeClr val="tx2"/>
                </a:solidFill>
              </a:rPr>
              <a:t>The Digital Twin in Action (Use Case I)</a:t>
            </a:r>
            <a:endParaRPr lang="en-US" sz="3400" dirty="0"/>
          </a:p>
        </p:txBody>
      </p:sp>
      <p:sp>
        <p:nvSpPr>
          <p:cNvPr id="3" name="Pipeline Telemetry"/>
          <p:cNvSpPr/>
          <p:nvPr/>
        </p:nvSpPr>
        <p:spPr>
          <a:xfrm>
            <a:off x="768681" y="1046220"/>
            <a:ext cx="2514600" cy="777240"/>
          </a:xfrm>
          <a:prstGeom prst="roundRect">
            <a:avLst>
              <a:gd name="adj" fmla="val 11765"/>
            </a:avLst>
          </a:prstGeom>
          <a:solidFill>
            <a:schemeClr val="bg2"/>
          </a:solidFill>
          <a:ln w="12700">
            <a:solidFill>
              <a:schemeClr val="bg2"/>
            </a:solidFill>
            <a:prstDash val="solid"/>
          </a:ln>
        </p:spPr>
      </p:sp>
      <p:sp>
        <p:nvSpPr>
          <p:cNvPr id="4" name="Text 2"/>
          <p:cNvSpPr txBox="1"/>
          <p:nvPr/>
        </p:nvSpPr>
        <p:spPr>
          <a:xfrm>
            <a:off x="768681" y="1046220"/>
            <a:ext cx="2514600" cy="777240"/>
          </a:xfrm>
          <a:prstGeom prst="rect">
            <a:avLst/>
          </a:prstGeom>
          <a:noFill/>
          <a:ln/>
        </p:spPr>
        <p:txBody>
          <a:bodyPr wrap="square" lIns="635" tIns="635" rIns="635" bIns="635" rtlCol="0" anchor="ctr"/>
          <a:lstStyle/>
          <a:p>
            <a:pPr marL="0" indent="0" algn="ctr">
              <a:buNone/>
            </a:pPr>
            <a:r>
              <a:rPr lang="en-US" sz="1600" b="1" dirty="0">
                <a:solidFill>
                  <a:schemeClr val="tx1"/>
                </a:solidFill>
              </a:rPr>
              <a:t>Telemetry</a:t>
            </a:r>
            <a:endParaRPr lang="en-US" sz="1600" dirty="0"/>
          </a:p>
          <a:p>
            <a:pPr marL="0" indent="0" algn="ctr">
              <a:buNone/>
            </a:pPr>
            <a:r>
              <a:rPr lang="en-US" sz="1200" dirty="0">
                <a:solidFill>
                  <a:schemeClr val="tx1"/>
                </a:solidFill>
              </a:rPr>
              <a:t>gNMI · YANG-Push · SNMP</a:t>
            </a:r>
            <a:endParaRPr lang="en-US" sz="1600" dirty="0"/>
          </a:p>
        </p:txBody>
      </p:sp>
      <p:sp>
        <p:nvSpPr>
          <p:cNvPr id="5" name="Shape 3"/>
          <p:cNvSpPr/>
          <p:nvPr/>
        </p:nvSpPr>
        <p:spPr>
          <a:xfrm>
            <a:off x="3338145" y="1434840"/>
            <a:ext cx="301752" cy="0"/>
          </a:xfrm>
          <a:prstGeom prst="line">
            <a:avLst/>
          </a:prstGeom>
          <a:noFill/>
          <a:ln w="25400">
            <a:solidFill>
              <a:schemeClr val="accent1"/>
            </a:solidFill>
            <a:prstDash val="solid"/>
            <a:tailEnd type="triangle"/>
          </a:ln>
        </p:spPr>
      </p:sp>
      <p:sp>
        <p:nvSpPr>
          <p:cNvPr id="6" name="Pipeline Semantic Elevation"/>
          <p:cNvSpPr/>
          <p:nvPr/>
        </p:nvSpPr>
        <p:spPr>
          <a:xfrm>
            <a:off x="3694761" y="1046220"/>
            <a:ext cx="2514600" cy="777240"/>
          </a:xfrm>
          <a:prstGeom prst="roundRect">
            <a:avLst>
              <a:gd name="adj" fmla="val 11765"/>
            </a:avLst>
          </a:prstGeom>
          <a:solidFill>
            <a:schemeClr val="accent1"/>
          </a:solidFill>
          <a:ln w="12700">
            <a:solidFill>
              <a:schemeClr val="accent1"/>
            </a:solidFill>
            <a:prstDash val="solid"/>
          </a:ln>
        </p:spPr>
      </p:sp>
      <p:sp>
        <p:nvSpPr>
          <p:cNvPr id="7" name="Text 5"/>
          <p:cNvSpPr txBox="1"/>
          <p:nvPr/>
        </p:nvSpPr>
        <p:spPr>
          <a:xfrm>
            <a:off x="3694761" y="1046220"/>
            <a:ext cx="2514600" cy="777240"/>
          </a:xfrm>
          <a:prstGeom prst="rect">
            <a:avLst/>
          </a:prstGeom>
          <a:noFill/>
          <a:ln/>
        </p:spPr>
        <p:txBody>
          <a:bodyPr wrap="square" lIns="635" tIns="635" rIns="635" bIns="635" rtlCol="0" anchor="ctr"/>
          <a:lstStyle/>
          <a:p>
            <a:pPr marL="0" indent="0" algn="ctr">
              <a:buNone/>
            </a:pPr>
            <a:r>
              <a:rPr lang="en-US" sz="1600" b="1" dirty="0">
                <a:solidFill>
                  <a:schemeClr val="bg1"/>
                </a:solidFill>
              </a:rPr>
              <a:t>Semantic Elevation</a:t>
            </a:r>
            <a:endParaRPr lang="en-US" sz="1600" dirty="0"/>
          </a:p>
          <a:p>
            <a:pPr marL="0" indent="0" algn="ctr">
              <a:buNone/>
            </a:pPr>
            <a:r>
              <a:rPr lang="en-US" sz="1200" dirty="0">
                <a:solidFill>
                  <a:schemeClr val="bg1"/>
                </a:solidFill>
              </a:rPr>
              <a:t>raw data → meaning</a:t>
            </a:r>
            <a:endParaRPr lang="en-US" sz="1600" dirty="0"/>
          </a:p>
        </p:txBody>
      </p:sp>
      <p:sp>
        <p:nvSpPr>
          <p:cNvPr id="8" name="Shape 6"/>
          <p:cNvSpPr/>
          <p:nvPr/>
        </p:nvSpPr>
        <p:spPr>
          <a:xfrm>
            <a:off x="6264225" y="1434840"/>
            <a:ext cx="301752" cy="0"/>
          </a:xfrm>
          <a:prstGeom prst="line">
            <a:avLst/>
          </a:prstGeom>
          <a:noFill/>
          <a:ln w="25400">
            <a:solidFill>
              <a:schemeClr val="accent1"/>
            </a:solidFill>
            <a:prstDash val="solid"/>
            <a:tailEnd type="triangle"/>
          </a:ln>
        </p:spPr>
      </p:sp>
      <p:sp>
        <p:nvSpPr>
          <p:cNvPr id="9" name="Pipeline ABox"/>
          <p:cNvSpPr/>
          <p:nvPr/>
        </p:nvSpPr>
        <p:spPr>
          <a:xfrm>
            <a:off x="6620841" y="1046220"/>
            <a:ext cx="2514600" cy="777240"/>
          </a:xfrm>
          <a:prstGeom prst="roundRect">
            <a:avLst>
              <a:gd name="adj" fmla="val 11765"/>
            </a:avLst>
          </a:prstGeom>
          <a:solidFill>
            <a:schemeClr val="bg2"/>
          </a:solidFill>
          <a:ln w="12700">
            <a:solidFill>
              <a:schemeClr val="bg2"/>
            </a:solidFill>
            <a:prstDash val="solid"/>
          </a:ln>
        </p:spPr>
      </p:sp>
      <p:sp>
        <p:nvSpPr>
          <p:cNvPr id="10" name="Text 8"/>
          <p:cNvSpPr txBox="1"/>
          <p:nvPr/>
        </p:nvSpPr>
        <p:spPr>
          <a:xfrm>
            <a:off x="6620841" y="1046220"/>
            <a:ext cx="2514600" cy="777240"/>
          </a:xfrm>
          <a:prstGeom prst="rect">
            <a:avLst/>
          </a:prstGeom>
          <a:noFill/>
          <a:ln/>
        </p:spPr>
        <p:txBody>
          <a:bodyPr wrap="square" lIns="635" tIns="635" rIns="635" bIns="635" rtlCol="0" anchor="ctr"/>
          <a:lstStyle/>
          <a:p>
            <a:pPr marL="0" indent="0" algn="ctr">
              <a:buNone/>
            </a:pPr>
            <a:r>
              <a:rPr lang="en-US" sz="1600" b="1" dirty="0">
                <a:solidFill>
                  <a:schemeClr val="tx1"/>
                </a:solidFill>
              </a:rPr>
              <a:t>ABox</a:t>
            </a:r>
            <a:endParaRPr lang="en-US" sz="1600" dirty="0"/>
          </a:p>
          <a:p>
            <a:pPr marL="0" indent="0" algn="ctr">
              <a:buNone/>
            </a:pPr>
            <a:r>
              <a:rPr lang="en-US" sz="1200" dirty="0">
                <a:solidFill>
                  <a:schemeClr val="tx1"/>
                </a:solidFill>
              </a:rPr>
              <a:t>facts with meaning</a:t>
            </a:r>
            <a:endParaRPr lang="en-US" sz="1600" dirty="0"/>
          </a:p>
        </p:txBody>
      </p:sp>
      <p:sp>
        <p:nvSpPr>
          <p:cNvPr id="11" name="Shape 9"/>
          <p:cNvSpPr/>
          <p:nvPr/>
        </p:nvSpPr>
        <p:spPr>
          <a:xfrm>
            <a:off x="9190305" y="1434840"/>
            <a:ext cx="301752" cy="0"/>
          </a:xfrm>
          <a:prstGeom prst="line">
            <a:avLst/>
          </a:prstGeom>
          <a:noFill/>
          <a:ln w="25400">
            <a:solidFill>
              <a:schemeClr val="accent1"/>
            </a:solidFill>
            <a:prstDash val="solid"/>
            <a:tailEnd type="triangle"/>
          </a:ln>
        </p:spPr>
      </p:sp>
      <p:sp>
        <p:nvSpPr>
          <p:cNvPr id="12" name="Pipeline Reasoner"/>
          <p:cNvSpPr/>
          <p:nvPr/>
        </p:nvSpPr>
        <p:spPr>
          <a:xfrm>
            <a:off x="9546921" y="1046220"/>
            <a:ext cx="2514600" cy="777240"/>
          </a:xfrm>
          <a:prstGeom prst="roundRect">
            <a:avLst>
              <a:gd name="adj" fmla="val 11765"/>
            </a:avLst>
          </a:prstGeom>
          <a:solidFill>
            <a:schemeClr val="bg2"/>
          </a:solidFill>
          <a:ln w="12700">
            <a:solidFill>
              <a:schemeClr val="bg2"/>
            </a:solidFill>
            <a:prstDash val="solid"/>
          </a:ln>
        </p:spPr>
      </p:sp>
      <p:sp>
        <p:nvSpPr>
          <p:cNvPr id="13" name="Text 11"/>
          <p:cNvSpPr txBox="1"/>
          <p:nvPr/>
        </p:nvSpPr>
        <p:spPr>
          <a:xfrm>
            <a:off x="9546921" y="1046220"/>
            <a:ext cx="2514600" cy="777240"/>
          </a:xfrm>
          <a:prstGeom prst="rect">
            <a:avLst/>
          </a:prstGeom>
          <a:noFill/>
          <a:ln/>
        </p:spPr>
        <p:txBody>
          <a:bodyPr wrap="square" lIns="635" tIns="635" rIns="635" bIns="635" rtlCol="0" anchor="ctr"/>
          <a:lstStyle/>
          <a:p>
            <a:pPr marL="0" indent="0" algn="ctr">
              <a:buNone/>
            </a:pPr>
            <a:r>
              <a:rPr lang="en-US" sz="1600" b="1" dirty="0">
                <a:solidFill>
                  <a:schemeClr val="tx1"/>
                </a:solidFill>
              </a:rPr>
              <a:t>Reasoner</a:t>
            </a:r>
            <a:endParaRPr lang="en-US" sz="1600" dirty="0"/>
          </a:p>
          <a:p>
            <a:pPr marL="0" indent="0" algn="ctr">
              <a:buNone/>
            </a:pPr>
            <a:r>
              <a:rPr lang="en-US" sz="1200" dirty="0">
                <a:solidFill>
                  <a:schemeClr val="tx1"/>
                </a:solidFill>
              </a:rPr>
              <a:t>checks the rules</a:t>
            </a:r>
            <a:endParaRPr lang="en-US" sz="1600" dirty="0"/>
          </a:p>
        </p:txBody>
      </p:sp>
      <p:sp>
        <p:nvSpPr>
          <p:cNvPr id="14" name="Text 12"/>
          <p:cNvSpPr txBox="1"/>
          <p:nvPr/>
        </p:nvSpPr>
        <p:spPr>
          <a:xfrm>
            <a:off x="1817714" y="2097780"/>
            <a:ext cx="3406623"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MAPE-K LOOP AFTER A BGP FAILURE</a:t>
            </a:r>
            <a:endParaRPr lang="en-US" sz="1200" dirty="0"/>
          </a:p>
        </p:txBody>
      </p:sp>
      <p:sp>
        <p:nvSpPr>
          <p:cNvPr id="15" name="Knowledge"/>
          <p:cNvSpPr/>
          <p:nvPr/>
        </p:nvSpPr>
        <p:spPr>
          <a:xfrm>
            <a:off x="2771217" y="3359652"/>
            <a:ext cx="1133856" cy="1133856"/>
          </a:xfrm>
          <a:prstGeom prst="ellipse">
            <a:avLst/>
          </a:prstGeom>
          <a:solidFill>
            <a:schemeClr val="tx2"/>
          </a:solidFill>
          <a:ln w="12700">
            <a:solidFill>
              <a:schemeClr val="tx2"/>
            </a:solidFill>
            <a:prstDash val="solid"/>
          </a:ln>
        </p:spPr>
      </p:sp>
      <p:sp>
        <p:nvSpPr>
          <p:cNvPr id="16" name="Text 14"/>
          <p:cNvSpPr txBox="1"/>
          <p:nvPr/>
        </p:nvSpPr>
        <p:spPr>
          <a:xfrm>
            <a:off x="2771217" y="3359652"/>
            <a:ext cx="1133856" cy="1133856"/>
          </a:xfrm>
          <a:prstGeom prst="rect">
            <a:avLst/>
          </a:prstGeom>
          <a:noFill/>
          <a:ln/>
        </p:spPr>
        <p:txBody>
          <a:bodyPr wrap="square" lIns="0" tIns="0" rIns="0" bIns="0" rtlCol="0" anchor="ctr"/>
          <a:lstStyle/>
          <a:p>
            <a:pPr marL="0" indent="0" algn="ctr">
              <a:buNone/>
            </a:pPr>
            <a:r>
              <a:rPr lang="en-US" sz="1300" b="1" dirty="0">
                <a:solidFill>
                  <a:schemeClr val="bg1"/>
                </a:solidFill>
              </a:rPr>
              <a:t>Knowledge</a:t>
            </a:r>
            <a:endParaRPr lang="en-US" sz="1300" dirty="0"/>
          </a:p>
          <a:p>
            <a:pPr marL="0" indent="0" algn="ctr">
              <a:buNone/>
            </a:pPr>
            <a:r>
              <a:rPr lang="en-US" sz="1200" dirty="0">
                <a:solidFill>
                  <a:schemeClr val="bg1"/>
                </a:solidFill>
              </a:rPr>
              <a:t>(ontology)</a:t>
            </a:r>
            <a:endParaRPr lang="en-US" sz="1300" dirty="0"/>
          </a:p>
        </p:txBody>
      </p:sp>
      <p:sp>
        <p:nvSpPr>
          <p:cNvPr id="17" name="Stage M"/>
          <p:cNvSpPr/>
          <p:nvPr/>
        </p:nvSpPr>
        <p:spPr>
          <a:xfrm>
            <a:off x="2926665" y="2417820"/>
            <a:ext cx="822960" cy="822960"/>
          </a:xfrm>
          <a:prstGeom prst="ellipse">
            <a:avLst/>
          </a:prstGeom>
          <a:solidFill>
            <a:schemeClr val="accent4"/>
          </a:solidFill>
          <a:ln w="25400">
            <a:solidFill>
              <a:schemeClr val="bg1"/>
            </a:solidFill>
            <a:prstDash val="solid"/>
          </a:ln>
        </p:spPr>
      </p:sp>
      <p:sp>
        <p:nvSpPr>
          <p:cNvPr id="18" name="Text 16"/>
          <p:cNvSpPr txBox="1"/>
          <p:nvPr/>
        </p:nvSpPr>
        <p:spPr>
          <a:xfrm>
            <a:off x="2926665" y="241782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M</a:t>
            </a:r>
            <a:endParaRPr lang="en-US" sz="2200" dirty="0"/>
          </a:p>
        </p:txBody>
      </p:sp>
      <p:sp>
        <p:nvSpPr>
          <p:cNvPr id="19" name="Stage A"/>
          <p:cNvSpPr/>
          <p:nvPr/>
        </p:nvSpPr>
        <p:spPr>
          <a:xfrm>
            <a:off x="4023945" y="3515100"/>
            <a:ext cx="822960" cy="822960"/>
          </a:xfrm>
          <a:prstGeom prst="ellipse">
            <a:avLst/>
          </a:prstGeom>
          <a:solidFill>
            <a:schemeClr val="accent3"/>
          </a:solidFill>
          <a:ln w="25400">
            <a:solidFill>
              <a:schemeClr val="bg1"/>
            </a:solidFill>
            <a:prstDash val="solid"/>
          </a:ln>
        </p:spPr>
      </p:sp>
      <p:sp>
        <p:nvSpPr>
          <p:cNvPr id="20" name="Text 18"/>
          <p:cNvSpPr txBox="1"/>
          <p:nvPr/>
        </p:nvSpPr>
        <p:spPr>
          <a:xfrm>
            <a:off x="4023945" y="351510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A</a:t>
            </a:r>
            <a:endParaRPr lang="en-US" sz="2200" dirty="0"/>
          </a:p>
        </p:txBody>
      </p:sp>
      <p:sp>
        <p:nvSpPr>
          <p:cNvPr id="21" name="Stage P"/>
          <p:cNvSpPr/>
          <p:nvPr/>
        </p:nvSpPr>
        <p:spPr>
          <a:xfrm>
            <a:off x="2926665" y="4612380"/>
            <a:ext cx="822960" cy="822960"/>
          </a:xfrm>
          <a:prstGeom prst="ellipse">
            <a:avLst/>
          </a:prstGeom>
          <a:solidFill>
            <a:schemeClr val="accent2"/>
          </a:solidFill>
          <a:ln w="25400">
            <a:solidFill>
              <a:schemeClr val="bg1"/>
            </a:solidFill>
            <a:prstDash val="solid"/>
          </a:ln>
        </p:spPr>
      </p:sp>
      <p:sp>
        <p:nvSpPr>
          <p:cNvPr id="22" name="Text 20"/>
          <p:cNvSpPr txBox="1"/>
          <p:nvPr/>
        </p:nvSpPr>
        <p:spPr>
          <a:xfrm>
            <a:off x="2926665" y="461238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P</a:t>
            </a:r>
            <a:endParaRPr lang="en-US" sz="2200" dirty="0"/>
          </a:p>
        </p:txBody>
      </p:sp>
      <p:sp>
        <p:nvSpPr>
          <p:cNvPr id="23" name="Stage E"/>
          <p:cNvSpPr/>
          <p:nvPr/>
        </p:nvSpPr>
        <p:spPr>
          <a:xfrm>
            <a:off x="1829385" y="3515100"/>
            <a:ext cx="822960" cy="822960"/>
          </a:xfrm>
          <a:prstGeom prst="ellipse">
            <a:avLst/>
          </a:prstGeom>
          <a:solidFill>
            <a:schemeClr val="accent6"/>
          </a:solidFill>
          <a:ln w="25400">
            <a:solidFill>
              <a:schemeClr val="bg1"/>
            </a:solidFill>
            <a:prstDash val="solid"/>
          </a:ln>
        </p:spPr>
      </p:sp>
      <p:sp>
        <p:nvSpPr>
          <p:cNvPr id="24" name="Text 22"/>
          <p:cNvSpPr txBox="1"/>
          <p:nvPr/>
        </p:nvSpPr>
        <p:spPr>
          <a:xfrm>
            <a:off x="1829385" y="3515100"/>
            <a:ext cx="822960" cy="822960"/>
          </a:xfrm>
          <a:prstGeom prst="rect">
            <a:avLst/>
          </a:prstGeom>
          <a:noFill/>
          <a:ln/>
        </p:spPr>
        <p:txBody>
          <a:bodyPr wrap="square" lIns="0" tIns="0" rIns="0" bIns="0" rtlCol="0" anchor="ctr"/>
          <a:lstStyle/>
          <a:p>
            <a:pPr marL="0" indent="0" algn="ctr">
              <a:buNone/>
            </a:pPr>
            <a:r>
              <a:rPr lang="en-US" sz="2200" b="1" dirty="0">
                <a:solidFill>
                  <a:schemeClr val="bg1"/>
                </a:solidFill>
              </a:rPr>
              <a:t>E</a:t>
            </a:r>
            <a:endParaRPr lang="en-US" sz="2200" dirty="0"/>
          </a:p>
        </p:txBody>
      </p:sp>
      <p:sp>
        <p:nvSpPr>
          <p:cNvPr id="25" name="Shape 23"/>
          <p:cNvSpPr/>
          <p:nvPr/>
        </p:nvSpPr>
        <p:spPr>
          <a:xfrm>
            <a:off x="3674825" y="3165980"/>
            <a:ext cx="423919" cy="423919"/>
          </a:xfrm>
          <a:prstGeom prst="line">
            <a:avLst/>
          </a:prstGeom>
          <a:noFill/>
          <a:ln w="25400">
            <a:solidFill>
              <a:schemeClr val="accent5"/>
            </a:solidFill>
            <a:prstDash val="solid"/>
            <a:tailEnd type="triangle"/>
          </a:ln>
        </p:spPr>
      </p:sp>
      <p:sp>
        <p:nvSpPr>
          <p:cNvPr id="26" name="Shape 24"/>
          <p:cNvSpPr/>
          <p:nvPr/>
        </p:nvSpPr>
        <p:spPr>
          <a:xfrm flipH="1">
            <a:off x="3674825" y="4263260"/>
            <a:ext cx="423919" cy="423919"/>
          </a:xfrm>
          <a:prstGeom prst="line">
            <a:avLst/>
          </a:prstGeom>
          <a:noFill/>
          <a:ln w="25400">
            <a:solidFill>
              <a:schemeClr val="accent5"/>
            </a:solidFill>
            <a:prstDash val="solid"/>
            <a:tailEnd type="triangle"/>
          </a:ln>
        </p:spPr>
      </p:sp>
      <p:sp>
        <p:nvSpPr>
          <p:cNvPr id="27" name="Shape 25"/>
          <p:cNvSpPr/>
          <p:nvPr/>
        </p:nvSpPr>
        <p:spPr>
          <a:xfrm>
            <a:off x="2577545" y="4263260"/>
            <a:ext cx="423919" cy="423919"/>
          </a:xfrm>
          <a:prstGeom prst="line">
            <a:avLst/>
          </a:prstGeom>
          <a:noFill/>
          <a:ln w="25400">
            <a:solidFill>
              <a:schemeClr val="accent5"/>
            </a:solidFill>
            <a:prstDash val="solid"/>
            <a:headEnd type="triangle"/>
          </a:ln>
        </p:spPr>
      </p:sp>
      <p:sp>
        <p:nvSpPr>
          <p:cNvPr id="28" name="Shape 26"/>
          <p:cNvSpPr/>
          <p:nvPr/>
        </p:nvSpPr>
        <p:spPr>
          <a:xfrm flipH="1">
            <a:off x="2577545" y="3165980"/>
            <a:ext cx="423919" cy="423919"/>
          </a:xfrm>
          <a:prstGeom prst="line">
            <a:avLst/>
          </a:prstGeom>
          <a:noFill/>
          <a:ln w="25400">
            <a:solidFill>
              <a:schemeClr val="accent5"/>
            </a:solidFill>
            <a:prstDash val="solid"/>
            <a:headEnd type="triangle"/>
          </a:ln>
        </p:spPr>
      </p:sp>
      <p:sp>
        <p:nvSpPr>
          <p:cNvPr id="29" name="Shape 27"/>
          <p:cNvSpPr/>
          <p:nvPr/>
        </p:nvSpPr>
        <p:spPr>
          <a:xfrm>
            <a:off x="6355665" y="2664708"/>
            <a:ext cx="457200" cy="457200"/>
          </a:xfrm>
          <a:prstGeom prst="ellipse">
            <a:avLst/>
          </a:prstGeom>
          <a:solidFill>
            <a:schemeClr val="accent4"/>
          </a:solidFill>
          <a:ln w="12700">
            <a:solidFill>
              <a:schemeClr val="accent4"/>
            </a:solidFill>
            <a:prstDash val="solid"/>
          </a:ln>
        </p:spPr>
      </p:sp>
      <p:sp>
        <p:nvSpPr>
          <p:cNvPr id="30" name="Text 28"/>
          <p:cNvSpPr txBox="1"/>
          <p:nvPr/>
        </p:nvSpPr>
        <p:spPr>
          <a:xfrm>
            <a:off x="6355665" y="2664708"/>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M</a:t>
            </a:r>
            <a:endParaRPr lang="en-US" sz="1400" dirty="0"/>
          </a:p>
        </p:txBody>
      </p:sp>
      <p:sp>
        <p:nvSpPr>
          <p:cNvPr id="31" name="Text 29"/>
          <p:cNvSpPr txBox="1"/>
          <p:nvPr/>
        </p:nvSpPr>
        <p:spPr>
          <a:xfrm>
            <a:off x="6995745" y="2554980"/>
            <a:ext cx="5029200" cy="676656"/>
          </a:xfrm>
          <a:prstGeom prst="rect">
            <a:avLst/>
          </a:prstGeom>
          <a:noFill/>
          <a:ln/>
        </p:spPr>
        <p:txBody>
          <a:bodyPr wrap="square" lIns="0" tIns="0" rIns="0" bIns="0" rtlCol="0" anchor="ctr"/>
          <a:lstStyle/>
          <a:p>
            <a:pPr marL="0" indent="0">
              <a:buNone/>
            </a:pPr>
            <a:r>
              <a:rPr lang="en-US" sz="1600" b="1" dirty="0">
                <a:solidFill>
                  <a:schemeClr val="tx2"/>
                </a:solidFill>
              </a:rPr>
              <a:t>Monitor: </a:t>
            </a:r>
            <a:r>
              <a:rPr lang="en-US" sz="1600" dirty="0">
                <a:solidFill>
                  <a:schemeClr val="tx1"/>
                </a:solidFill>
              </a:rPr>
              <a:t>Flow F has changed route.</a:t>
            </a:r>
            <a:endParaRPr lang="en-US" sz="1600" dirty="0"/>
          </a:p>
        </p:txBody>
      </p:sp>
      <p:sp>
        <p:nvSpPr>
          <p:cNvPr id="32" name="Shape 30"/>
          <p:cNvSpPr/>
          <p:nvPr/>
        </p:nvSpPr>
        <p:spPr>
          <a:xfrm>
            <a:off x="6355665" y="3414516"/>
            <a:ext cx="457200" cy="457200"/>
          </a:xfrm>
          <a:prstGeom prst="ellipse">
            <a:avLst/>
          </a:prstGeom>
          <a:solidFill>
            <a:schemeClr val="accent3"/>
          </a:solidFill>
          <a:ln w="12700">
            <a:solidFill>
              <a:schemeClr val="accent3"/>
            </a:solidFill>
            <a:prstDash val="solid"/>
          </a:ln>
        </p:spPr>
      </p:sp>
      <p:sp>
        <p:nvSpPr>
          <p:cNvPr id="33" name="Text 31"/>
          <p:cNvSpPr txBox="1"/>
          <p:nvPr/>
        </p:nvSpPr>
        <p:spPr>
          <a:xfrm>
            <a:off x="6355665" y="3414516"/>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A</a:t>
            </a:r>
            <a:endParaRPr lang="en-US" sz="1400" dirty="0"/>
          </a:p>
        </p:txBody>
      </p:sp>
      <p:sp>
        <p:nvSpPr>
          <p:cNvPr id="34" name="Text 32"/>
          <p:cNvSpPr txBox="1"/>
          <p:nvPr/>
        </p:nvSpPr>
        <p:spPr>
          <a:xfrm>
            <a:off x="6995745" y="3304788"/>
            <a:ext cx="5029200" cy="676656"/>
          </a:xfrm>
          <a:prstGeom prst="rect">
            <a:avLst/>
          </a:prstGeom>
          <a:noFill/>
          <a:ln/>
        </p:spPr>
        <p:txBody>
          <a:bodyPr wrap="square" lIns="0" tIns="0" rIns="0" bIns="0" rtlCol="0" anchor="ctr"/>
          <a:lstStyle/>
          <a:p>
            <a:pPr marL="0" indent="0">
              <a:buNone/>
            </a:pPr>
            <a:r>
              <a:rPr lang="en-US" sz="1600" b="1" dirty="0">
                <a:solidFill>
                  <a:schemeClr val="tx2"/>
                </a:solidFill>
              </a:rPr>
              <a:t>Analyse: </a:t>
            </a:r>
            <a:r>
              <a:rPr lang="en-US" sz="1600" dirty="0">
                <a:solidFill>
                  <a:schemeClr val="tx1"/>
                </a:solidFill>
              </a:rPr>
              <a:t>F now traverses a non-compliant jurisdiction.</a:t>
            </a:r>
            <a:endParaRPr lang="en-US" sz="1600" dirty="0"/>
          </a:p>
        </p:txBody>
      </p:sp>
      <p:sp>
        <p:nvSpPr>
          <p:cNvPr id="35" name="Shape 33"/>
          <p:cNvSpPr/>
          <p:nvPr/>
        </p:nvSpPr>
        <p:spPr>
          <a:xfrm>
            <a:off x="6355665" y="4164324"/>
            <a:ext cx="457200" cy="457200"/>
          </a:xfrm>
          <a:prstGeom prst="ellipse">
            <a:avLst/>
          </a:prstGeom>
          <a:solidFill>
            <a:schemeClr val="accent2"/>
          </a:solidFill>
          <a:ln w="12700">
            <a:solidFill>
              <a:schemeClr val="accent2"/>
            </a:solidFill>
            <a:prstDash val="solid"/>
          </a:ln>
        </p:spPr>
      </p:sp>
      <p:sp>
        <p:nvSpPr>
          <p:cNvPr id="36" name="Text 34"/>
          <p:cNvSpPr txBox="1"/>
          <p:nvPr/>
        </p:nvSpPr>
        <p:spPr>
          <a:xfrm>
            <a:off x="6355665" y="4164324"/>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P</a:t>
            </a:r>
            <a:endParaRPr lang="en-US" sz="1400" dirty="0"/>
          </a:p>
        </p:txBody>
      </p:sp>
      <p:sp>
        <p:nvSpPr>
          <p:cNvPr id="37" name="Text 35"/>
          <p:cNvSpPr txBox="1"/>
          <p:nvPr/>
        </p:nvSpPr>
        <p:spPr>
          <a:xfrm>
            <a:off x="6995745" y="4054596"/>
            <a:ext cx="5029200" cy="676656"/>
          </a:xfrm>
          <a:prstGeom prst="rect">
            <a:avLst/>
          </a:prstGeom>
          <a:noFill/>
          <a:ln/>
        </p:spPr>
        <p:txBody>
          <a:bodyPr wrap="square" lIns="0" tIns="0" rIns="0" bIns="0" rtlCol="0" anchor="ctr"/>
          <a:lstStyle/>
          <a:p>
            <a:pPr marL="0" indent="0">
              <a:buNone/>
            </a:pPr>
            <a:r>
              <a:rPr lang="en-US" sz="1600" b="1" dirty="0">
                <a:solidFill>
                  <a:schemeClr val="tx2"/>
                </a:solidFill>
              </a:rPr>
              <a:t>Plan: </a:t>
            </a:r>
            <a:r>
              <a:rPr lang="en-US" sz="1600" dirty="0">
                <a:solidFill>
                  <a:schemeClr val="tx1"/>
                </a:solidFill>
              </a:rPr>
              <a:t>A compliant alternative via AS-D is found.</a:t>
            </a:r>
            <a:endParaRPr lang="en-US" sz="1600" dirty="0"/>
          </a:p>
        </p:txBody>
      </p:sp>
      <p:sp>
        <p:nvSpPr>
          <p:cNvPr id="38" name="Shape 36"/>
          <p:cNvSpPr/>
          <p:nvPr/>
        </p:nvSpPr>
        <p:spPr>
          <a:xfrm>
            <a:off x="6355665" y="4914132"/>
            <a:ext cx="457200" cy="457200"/>
          </a:xfrm>
          <a:prstGeom prst="ellipse">
            <a:avLst/>
          </a:prstGeom>
          <a:solidFill>
            <a:schemeClr val="accent6"/>
          </a:solidFill>
          <a:ln w="12700">
            <a:solidFill>
              <a:schemeClr val="accent6"/>
            </a:solidFill>
            <a:prstDash val="solid"/>
          </a:ln>
        </p:spPr>
      </p:sp>
      <p:sp>
        <p:nvSpPr>
          <p:cNvPr id="39" name="Text 37"/>
          <p:cNvSpPr txBox="1"/>
          <p:nvPr/>
        </p:nvSpPr>
        <p:spPr>
          <a:xfrm>
            <a:off x="6355665" y="4914132"/>
            <a:ext cx="457200" cy="457200"/>
          </a:xfrm>
          <a:prstGeom prst="rect">
            <a:avLst/>
          </a:prstGeom>
          <a:noFill/>
          <a:ln/>
        </p:spPr>
        <p:txBody>
          <a:bodyPr wrap="square" lIns="0" tIns="0" rIns="0" bIns="0" rtlCol="0" anchor="ctr"/>
          <a:lstStyle/>
          <a:p>
            <a:pPr marL="0" indent="0" algn="ctr">
              <a:buNone/>
            </a:pPr>
            <a:r>
              <a:rPr lang="en-US" sz="1400" b="1" dirty="0">
                <a:solidFill>
                  <a:schemeClr val="bg1"/>
                </a:solidFill>
              </a:rPr>
              <a:t>E</a:t>
            </a:r>
            <a:endParaRPr lang="en-US" sz="1400" dirty="0"/>
          </a:p>
        </p:txBody>
      </p:sp>
      <p:sp>
        <p:nvSpPr>
          <p:cNvPr id="40" name="Text 38"/>
          <p:cNvSpPr txBox="1"/>
          <p:nvPr/>
        </p:nvSpPr>
        <p:spPr>
          <a:xfrm>
            <a:off x="6995745" y="4804404"/>
            <a:ext cx="5029200" cy="676656"/>
          </a:xfrm>
          <a:prstGeom prst="rect">
            <a:avLst/>
          </a:prstGeom>
          <a:noFill/>
          <a:ln/>
        </p:spPr>
        <p:txBody>
          <a:bodyPr wrap="square" lIns="0" tIns="0" rIns="0" bIns="0" rtlCol="0" anchor="ctr"/>
          <a:lstStyle/>
          <a:p>
            <a:pPr marL="0" indent="0">
              <a:buNone/>
            </a:pPr>
            <a:r>
              <a:rPr lang="en-US" sz="1600" b="1" dirty="0">
                <a:solidFill>
                  <a:schemeClr val="tx2"/>
                </a:solidFill>
              </a:rPr>
              <a:t>Execute: </a:t>
            </a:r>
            <a:r>
              <a:rPr lang="en-US" sz="1600" dirty="0">
                <a:solidFill>
                  <a:schemeClr val="tx1"/>
                </a:solidFill>
              </a:rPr>
              <a:t>Applied via NETCONF, only after logical validation.</a:t>
            </a:r>
            <a:endParaRPr lang="en-US" sz="1600" dirty="0"/>
          </a:p>
        </p:txBody>
      </p:sp>
      <p:sp>
        <p:nvSpPr>
          <p:cNvPr id="41" name="Takeaway"/>
          <p:cNvSpPr/>
          <p:nvPr/>
        </p:nvSpPr>
        <p:spPr>
          <a:xfrm>
            <a:off x="777825" y="5663940"/>
            <a:ext cx="11274552" cy="594360"/>
          </a:xfrm>
          <a:prstGeom prst="roundRect">
            <a:avLst>
              <a:gd name="adj" fmla="val 15385"/>
            </a:avLst>
          </a:prstGeom>
          <a:solidFill>
            <a:schemeClr val="accent1">
              <a:alpha val="15000"/>
            </a:schemeClr>
          </a:solidFill>
          <a:ln w="12700">
            <a:solidFill>
              <a:schemeClr val="accent1"/>
            </a:solidFill>
            <a:prstDash val="solid"/>
          </a:ln>
        </p:spPr>
      </p:sp>
      <p:sp>
        <p:nvSpPr>
          <p:cNvPr id="42" name="Text 40"/>
          <p:cNvSpPr txBox="1"/>
          <p:nvPr/>
        </p:nvSpPr>
        <p:spPr>
          <a:xfrm>
            <a:off x="960705" y="5663940"/>
            <a:ext cx="10881360" cy="594360"/>
          </a:xfrm>
          <a:prstGeom prst="rect">
            <a:avLst/>
          </a:prstGeom>
          <a:noFill/>
          <a:ln/>
        </p:spPr>
        <p:txBody>
          <a:bodyPr wrap="square" lIns="0" tIns="0" rIns="0" bIns="0" rtlCol="0" anchor="ctr"/>
          <a:lstStyle/>
          <a:p>
            <a:pPr marL="0" indent="0">
              <a:buNone/>
            </a:pPr>
            <a:r>
              <a:rPr lang="en-US" sz="1600" b="1" dirty="0">
                <a:solidFill>
                  <a:schemeClr val="accent1"/>
                </a:solidFill>
              </a:rPr>
              <a:t>Takeaway: </a:t>
            </a:r>
            <a:r>
              <a:rPr lang="en-US" sz="1600" dirty="0">
                <a:solidFill>
                  <a:schemeClr val="tx1"/>
                </a:solidFill>
              </a:rPr>
              <a:t>the network becomes jurisdiction-aware; compliance is checked by logical inference, not manual audits.</a:t>
            </a:r>
            <a:endParaRPr lang="en-US" sz="1600" dirty="0"/>
          </a:p>
        </p:txBody>
      </p:sp>
      <p:sp>
        <p:nvSpPr>
          <p:cNvPr id="45" name="CaixaDeTexto 44">
            <a:extLst>
              <a:ext uri="{FF2B5EF4-FFF2-40B4-BE49-F238E27FC236}">
                <a16:creationId xmlns:a16="http://schemas.microsoft.com/office/drawing/2014/main" id="{861A4E49-FB9B-1640-3C06-C47F98F03042}"/>
              </a:ext>
            </a:extLst>
          </p:cNvPr>
          <p:cNvSpPr txBox="1"/>
          <p:nvPr/>
        </p:nvSpPr>
        <p:spPr>
          <a:xfrm>
            <a:off x="29664" y="3387106"/>
            <a:ext cx="779380" cy="1200329"/>
          </a:xfrm>
          <a:prstGeom prst="rect">
            <a:avLst/>
          </a:prstGeom>
          <a:noFill/>
        </p:spPr>
        <p:txBody>
          <a:bodyPr wrap="none" rtlCol="0">
            <a:spAutoFit/>
          </a:bodyPr>
          <a:lstStyle/>
          <a:p>
            <a:pPr algn="ctr"/>
            <a:r>
              <a:rPr lang="pt-BR" sz="2400" b="1" dirty="0">
                <a:solidFill>
                  <a:schemeClr val="accent4">
                    <a:lumMod val="75000"/>
                  </a:schemeClr>
                </a:solidFill>
              </a:rPr>
              <a:t>Use</a:t>
            </a:r>
            <a:br>
              <a:rPr lang="pt-BR" sz="2400" b="1" dirty="0">
                <a:solidFill>
                  <a:schemeClr val="accent4">
                    <a:lumMod val="75000"/>
                  </a:schemeClr>
                </a:solidFill>
              </a:rPr>
            </a:br>
            <a:r>
              <a:rPr lang="pt-BR" sz="2400" b="1" dirty="0">
                <a:solidFill>
                  <a:schemeClr val="accent4">
                    <a:lumMod val="75000"/>
                  </a:schemeClr>
                </a:solidFill>
              </a:rPr>
              <a:t>Case</a:t>
            </a:r>
            <a:br>
              <a:rPr lang="pt-BR" sz="2400" b="1" dirty="0">
                <a:solidFill>
                  <a:schemeClr val="accent4">
                    <a:lumMod val="75000"/>
                  </a:schemeClr>
                </a:solidFill>
              </a:rPr>
            </a:br>
            <a:r>
              <a:rPr lang="pt-BR" sz="2400" b="1" dirty="0">
                <a:solidFill>
                  <a:schemeClr val="accent4">
                    <a:lumMod val="75000"/>
                  </a:schemeClr>
                </a:solidFill>
              </a:rPr>
              <a:t>(I)</a:t>
            </a:r>
          </a:p>
        </p:txBody>
      </p:sp>
      <p:sp>
        <p:nvSpPr>
          <p:cNvPr id="48" name="CaixaDeTexto 47">
            <a:extLst>
              <a:ext uri="{FF2B5EF4-FFF2-40B4-BE49-F238E27FC236}">
                <a16:creationId xmlns:a16="http://schemas.microsoft.com/office/drawing/2014/main" id="{CD3E7774-FE39-BD4C-45E6-C57111F5D1F4}"/>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50" name="Slide Number Placeholder 0">
            <a:extLst>
              <a:ext uri="{FF2B5EF4-FFF2-40B4-BE49-F238E27FC236}">
                <a16:creationId xmlns:a16="http://schemas.microsoft.com/office/drawing/2014/main" id="{BE73B3D2-0354-F703-1178-EA5D6902178D}"/>
              </a:ext>
            </a:extLst>
          </p:cNvPr>
          <p:cNvSpPr txBox="1">
            <a:spLocks/>
          </p:cNvSpPr>
          <p:nvPr/>
        </p:nvSpPr>
        <p:spPr>
          <a:xfrm>
            <a:off x="138001" y="6502518"/>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18</a:t>
            </a:fld>
            <a:endParaRPr lang="en-US" dirty="0">
              <a:solidFill>
                <a:srgbClr val="0070C0"/>
              </a:solidFill>
            </a:endParaRPr>
          </a:p>
        </p:txBody>
      </p:sp>
      <p:pic>
        <p:nvPicPr>
          <p:cNvPr id="53" name="Imagem 52" descr="Logo CGI.br">
            <a:extLst>
              <a:ext uri="{FF2B5EF4-FFF2-40B4-BE49-F238E27FC236}">
                <a16:creationId xmlns:a16="http://schemas.microsoft.com/office/drawing/2014/main" id="{EAFEE2DB-3FF8-CDCB-0A65-57CBE75EB711}"/>
              </a:ext>
            </a:extLst>
          </p:cNvPr>
          <p:cNvPicPr>
            <a:picLocks noChangeAspect="1"/>
          </p:cNvPicPr>
          <p:nvPr/>
        </p:nvPicPr>
        <p:blipFill>
          <a:blip r:embed="rId3"/>
          <a:stretch>
            <a:fillRect/>
          </a:stretch>
        </p:blipFill>
        <p:spPr>
          <a:xfrm>
            <a:off x="10803749" y="6250375"/>
            <a:ext cx="1057275" cy="6096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761520" y="320040"/>
            <a:ext cx="5259662" cy="685800"/>
          </a:xfrm>
          <a:prstGeom prst="rect">
            <a:avLst/>
          </a:prstGeom>
          <a:noFill/>
          <a:ln/>
        </p:spPr>
        <p:txBody>
          <a:bodyPr wrap="square" lIns="0" tIns="0" rIns="0" bIns="0" rtlCol="0" anchor="ctr">
            <a:normAutofit/>
          </a:bodyPr>
          <a:lstStyle/>
          <a:p>
            <a:pPr marL="0" indent="0" algn="ctr">
              <a:buNone/>
            </a:pPr>
            <a:r>
              <a:rPr lang="en-US" sz="3400" b="1" dirty="0">
                <a:solidFill>
                  <a:schemeClr val="tx2"/>
                </a:solidFill>
              </a:rPr>
              <a:t>Responding to a DDoS Attack</a:t>
            </a:r>
            <a:endParaRPr lang="en-US" sz="3400" dirty="0"/>
          </a:p>
        </p:txBody>
      </p:sp>
      <p:sp>
        <p:nvSpPr>
          <p:cNvPr id="3" name="Key idea"/>
          <p:cNvSpPr txBox="1"/>
          <p:nvPr/>
        </p:nvSpPr>
        <p:spPr>
          <a:xfrm>
            <a:off x="754075" y="1051560"/>
            <a:ext cx="11274552" cy="457200"/>
          </a:xfrm>
          <a:prstGeom prst="rect">
            <a:avLst/>
          </a:prstGeom>
          <a:noFill/>
          <a:ln/>
        </p:spPr>
        <p:txBody>
          <a:bodyPr wrap="square" lIns="0" tIns="0" rIns="0" bIns="0" rtlCol="0" anchor="ctr"/>
          <a:lstStyle/>
          <a:p>
            <a:pPr marL="0" indent="0">
              <a:buNone/>
            </a:pPr>
            <a:r>
              <a:rPr lang="en-US" sz="1700" i="1" dirty="0">
                <a:solidFill>
                  <a:schemeClr val="tx1"/>
                </a:solidFill>
              </a:rPr>
              <a:t>Conventional defences react to the </a:t>
            </a:r>
            <a:r>
              <a:rPr lang="en-US" sz="1700" b="1" i="1" dirty="0">
                <a:solidFill>
                  <a:schemeClr val="accent3"/>
                </a:solidFill>
              </a:rPr>
              <a:t>symptom</a:t>
            </a:r>
            <a:r>
              <a:rPr lang="en-US" sz="1700" i="1" dirty="0">
                <a:solidFill>
                  <a:schemeClr val="tx1"/>
                </a:solidFill>
              </a:rPr>
              <a:t> (suspicious IPs). DT-II reacts to the </a:t>
            </a:r>
            <a:r>
              <a:rPr lang="en-US" sz="1700" b="1" i="1" dirty="0">
                <a:solidFill>
                  <a:schemeClr val="accent1"/>
                </a:solidFill>
              </a:rPr>
              <a:t>meaning</a:t>
            </a:r>
            <a:r>
              <a:rPr lang="en-US" sz="1700" i="1" dirty="0">
                <a:solidFill>
                  <a:schemeClr val="tx1"/>
                </a:solidFill>
              </a:rPr>
              <a:t>: which services depend on what, and which agreements apply.</a:t>
            </a:r>
            <a:endParaRPr lang="en-US" sz="1700" dirty="0"/>
          </a:p>
        </p:txBody>
      </p:sp>
      <p:sp>
        <p:nvSpPr>
          <p:cNvPr id="4" name="Text 2"/>
          <p:cNvSpPr txBox="1"/>
          <p:nvPr/>
        </p:nvSpPr>
        <p:spPr>
          <a:xfrm>
            <a:off x="754075" y="1737360"/>
            <a:ext cx="274320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SCENARIO</a:t>
            </a:r>
            <a:endParaRPr lang="en-US" sz="1200" dirty="0"/>
          </a:p>
        </p:txBody>
      </p:sp>
      <p:sp>
        <p:nvSpPr>
          <p:cNvPr id="5" name="Scenario External botnet"/>
          <p:cNvSpPr/>
          <p:nvPr/>
        </p:nvSpPr>
        <p:spPr>
          <a:xfrm>
            <a:off x="722071" y="2103120"/>
            <a:ext cx="2423160" cy="868680"/>
          </a:xfrm>
          <a:prstGeom prst="roundRect">
            <a:avLst>
              <a:gd name="adj" fmla="val 12632"/>
            </a:avLst>
          </a:prstGeom>
          <a:solidFill>
            <a:schemeClr val="accent3"/>
          </a:solidFill>
          <a:ln w="12700">
            <a:solidFill>
              <a:schemeClr val="accent3"/>
            </a:solidFill>
            <a:prstDash val="solid"/>
          </a:ln>
        </p:spPr>
      </p:sp>
      <p:sp>
        <p:nvSpPr>
          <p:cNvPr id="6" name="Text 4"/>
          <p:cNvSpPr txBox="1"/>
          <p:nvPr/>
        </p:nvSpPr>
        <p:spPr>
          <a:xfrm>
            <a:off x="722071" y="2103120"/>
            <a:ext cx="2423160" cy="868680"/>
          </a:xfrm>
          <a:prstGeom prst="rect">
            <a:avLst/>
          </a:prstGeom>
          <a:noFill/>
          <a:ln/>
        </p:spPr>
        <p:txBody>
          <a:bodyPr wrap="square" lIns="635" tIns="635" rIns="635" bIns="635" rtlCol="0" anchor="ctr"/>
          <a:lstStyle/>
          <a:p>
            <a:pPr marL="0" indent="0" algn="ctr">
              <a:buNone/>
            </a:pPr>
            <a:r>
              <a:rPr lang="en-US" sz="1600" b="1" dirty="0">
                <a:solidFill>
                  <a:schemeClr val="bg1"/>
                </a:solidFill>
              </a:rPr>
              <a:t>External botnet</a:t>
            </a:r>
            <a:endParaRPr lang="en-US" sz="1600" dirty="0"/>
          </a:p>
          <a:p>
            <a:pPr marL="0" indent="0" algn="ctr">
              <a:buNone/>
            </a:pPr>
            <a:r>
              <a:rPr lang="en-US" sz="1200" dirty="0">
                <a:solidFill>
                  <a:schemeClr val="bg1"/>
                </a:solidFill>
              </a:rPr>
              <a:t>attack source</a:t>
            </a:r>
            <a:endParaRPr lang="en-US" sz="1600" dirty="0"/>
          </a:p>
        </p:txBody>
      </p:sp>
      <p:sp>
        <p:nvSpPr>
          <p:cNvPr id="7" name="Shape 5"/>
          <p:cNvSpPr/>
          <p:nvPr/>
        </p:nvSpPr>
        <p:spPr>
          <a:xfrm>
            <a:off x="3218383" y="2537460"/>
            <a:ext cx="402336" cy="0"/>
          </a:xfrm>
          <a:prstGeom prst="line">
            <a:avLst/>
          </a:prstGeom>
          <a:noFill/>
          <a:ln w="25400">
            <a:solidFill>
              <a:schemeClr val="accent5"/>
            </a:solidFill>
            <a:prstDash val="solid"/>
            <a:tailEnd type="triangle"/>
          </a:ln>
        </p:spPr>
      </p:sp>
      <p:sp>
        <p:nvSpPr>
          <p:cNvPr id="8" name="Scenario Link_01"/>
          <p:cNvSpPr/>
          <p:nvPr/>
        </p:nvSpPr>
        <p:spPr>
          <a:xfrm>
            <a:off x="3693871" y="2103120"/>
            <a:ext cx="2423160" cy="868680"/>
          </a:xfrm>
          <a:prstGeom prst="roundRect">
            <a:avLst>
              <a:gd name="adj" fmla="val 12632"/>
            </a:avLst>
          </a:prstGeom>
          <a:solidFill>
            <a:schemeClr val="accent2"/>
          </a:solidFill>
          <a:ln w="12700">
            <a:solidFill>
              <a:schemeClr val="accent2"/>
            </a:solidFill>
            <a:prstDash val="solid"/>
          </a:ln>
        </p:spPr>
      </p:sp>
      <p:sp>
        <p:nvSpPr>
          <p:cNvPr id="9" name="Text 7"/>
          <p:cNvSpPr txBox="1"/>
          <p:nvPr/>
        </p:nvSpPr>
        <p:spPr>
          <a:xfrm>
            <a:off x="3693871" y="2103120"/>
            <a:ext cx="2423160" cy="868680"/>
          </a:xfrm>
          <a:prstGeom prst="rect">
            <a:avLst/>
          </a:prstGeom>
          <a:noFill/>
          <a:ln/>
        </p:spPr>
        <p:txBody>
          <a:bodyPr wrap="square" lIns="635" tIns="635" rIns="635" bIns="635" rtlCol="0" anchor="ctr"/>
          <a:lstStyle/>
          <a:p>
            <a:pPr marL="0" indent="0" algn="ctr">
              <a:buNone/>
            </a:pPr>
            <a:r>
              <a:rPr lang="en-US" sz="1600" b="1" dirty="0">
                <a:solidFill>
                  <a:schemeClr val="tx1"/>
                </a:solidFill>
              </a:rPr>
              <a:t>Link_01</a:t>
            </a:r>
            <a:endParaRPr lang="en-US" sz="1600" dirty="0"/>
          </a:p>
          <a:p>
            <a:pPr marL="0" indent="0" algn="ctr">
              <a:buNone/>
            </a:pPr>
            <a:r>
              <a:rPr lang="en-US" sz="1200" dirty="0">
                <a:solidFill>
                  <a:schemeClr val="tx1"/>
                </a:solidFill>
              </a:rPr>
              <a:t>1 → 100 Gbps · saturated</a:t>
            </a:r>
            <a:endParaRPr lang="en-US" sz="1600" dirty="0"/>
          </a:p>
        </p:txBody>
      </p:sp>
      <p:sp>
        <p:nvSpPr>
          <p:cNvPr id="10" name="Shape 8"/>
          <p:cNvSpPr/>
          <p:nvPr/>
        </p:nvSpPr>
        <p:spPr>
          <a:xfrm>
            <a:off x="6190183" y="2537460"/>
            <a:ext cx="402336" cy="0"/>
          </a:xfrm>
          <a:prstGeom prst="line">
            <a:avLst/>
          </a:prstGeom>
          <a:noFill/>
          <a:ln w="25400">
            <a:solidFill>
              <a:schemeClr val="accent5"/>
            </a:solidFill>
            <a:prstDash val="solid"/>
            <a:tailEnd type="triangle"/>
          </a:ln>
        </p:spPr>
      </p:sp>
      <p:sp>
        <p:nvSpPr>
          <p:cNvPr id="11" name="Scenario DNS service"/>
          <p:cNvSpPr/>
          <p:nvPr/>
        </p:nvSpPr>
        <p:spPr>
          <a:xfrm>
            <a:off x="6665671" y="2103120"/>
            <a:ext cx="2423160" cy="868680"/>
          </a:xfrm>
          <a:prstGeom prst="roundRect">
            <a:avLst>
              <a:gd name="adj" fmla="val 12632"/>
            </a:avLst>
          </a:prstGeom>
          <a:solidFill>
            <a:schemeClr val="tx2"/>
          </a:solidFill>
          <a:ln w="12700">
            <a:solidFill>
              <a:schemeClr val="tx2"/>
            </a:solidFill>
            <a:prstDash val="solid"/>
          </a:ln>
        </p:spPr>
      </p:sp>
      <p:sp>
        <p:nvSpPr>
          <p:cNvPr id="12" name="Text 10"/>
          <p:cNvSpPr txBox="1"/>
          <p:nvPr/>
        </p:nvSpPr>
        <p:spPr>
          <a:xfrm>
            <a:off x="6665671" y="2103120"/>
            <a:ext cx="2423160" cy="868680"/>
          </a:xfrm>
          <a:prstGeom prst="rect">
            <a:avLst/>
          </a:prstGeom>
          <a:noFill/>
          <a:ln/>
        </p:spPr>
        <p:txBody>
          <a:bodyPr wrap="square" lIns="635" tIns="635" rIns="635" bIns="635" rtlCol="0" anchor="ctr"/>
          <a:lstStyle/>
          <a:p>
            <a:pPr marL="0" indent="0" algn="ctr">
              <a:buNone/>
            </a:pPr>
            <a:r>
              <a:rPr lang="en-US" sz="1600" b="1" dirty="0">
                <a:solidFill>
                  <a:schemeClr val="bg1"/>
                </a:solidFill>
              </a:rPr>
              <a:t>DNS service</a:t>
            </a:r>
            <a:endParaRPr lang="en-US" sz="1600" dirty="0"/>
          </a:p>
          <a:p>
            <a:pPr marL="0" indent="0" algn="ctr">
              <a:buNone/>
            </a:pPr>
            <a:r>
              <a:rPr lang="en-US" sz="1200" dirty="0">
                <a:solidFill>
                  <a:schemeClr val="bg1"/>
                </a:solidFill>
              </a:rPr>
              <a:t>critical</a:t>
            </a:r>
            <a:endParaRPr lang="en-US" sz="1600" dirty="0"/>
          </a:p>
        </p:txBody>
      </p:sp>
      <p:sp>
        <p:nvSpPr>
          <p:cNvPr id="13" name="Shape 11"/>
          <p:cNvSpPr/>
          <p:nvPr/>
        </p:nvSpPr>
        <p:spPr>
          <a:xfrm>
            <a:off x="9161983" y="2537460"/>
            <a:ext cx="402336" cy="0"/>
          </a:xfrm>
          <a:prstGeom prst="line">
            <a:avLst/>
          </a:prstGeom>
          <a:noFill/>
          <a:ln w="25400">
            <a:solidFill>
              <a:schemeClr val="accent5"/>
            </a:solidFill>
            <a:prstDash val="solid"/>
            <a:tailEnd type="triangle"/>
          </a:ln>
        </p:spPr>
      </p:sp>
      <p:sp>
        <p:nvSpPr>
          <p:cNvPr id="14" name="Scenario Users"/>
          <p:cNvSpPr/>
          <p:nvPr/>
        </p:nvSpPr>
        <p:spPr>
          <a:xfrm>
            <a:off x="9637471" y="2103120"/>
            <a:ext cx="2423160" cy="868680"/>
          </a:xfrm>
          <a:prstGeom prst="roundRect">
            <a:avLst>
              <a:gd name="adj" fmla="val 12632"/>
            </a:avLst>
          </a:prstGeom>
          <a:solidFill>
            <a:schemeClr val="bg2"/>
          </a:solidFill>
          <a:ln w="12700">
            <a:solidFill>
              <a:schemeClr val="bg2"/>
            </a:solidFill>
            <a:prstDash val="solid"/>
          </a:ln>
        </p:spPr>
      </p:sp>
      <p:sp>
        <p:nvSpPr>
          <p:cNvPr id="15" name="Text 13"/>
          <p:cNvSpPr txBox="1"/>
          <p:nvPr/>
        </p:nvSpPr>
        <p:spPr>
          <a:xfrm>
            <a:off x="9637471" y="2103120"/>
            <a:ext cx="2423160" cy="868680"/>
          </a:xfrm>
          <a:prstGeom prst="rect">
            <a:avLst/>
          </a:prstGeom>
          <a:noFill/>
          <a:ln/>
        </p:spPr>
        <p:txBody>
          <a:bodyPr wrap="square" lIns="635" tIns="635" rIns="635" bIns="635" rtlCol="0" anchor="ctr"/>
          <a:lstStyle/>
          <a:p>
            <a:pPr marL="0" indent="0" algn="ctr">
              <a:buNone/>
            </a:pPr>
            <a:r>
              <a:rPr lang="en-US" sz="1600" b="1" dirty="0">
                <a:solidFill>
                  <a:schemeClr val="tx1"/>
                </a:solidFill>
              </a:rPr>
              <a:t>Users</a:t>
            </a:r>
            <a:endParaRPr lang="en-US" sz="1600" dirty="0"/>
          </a:p>
          <a:p>
            <a:pPr marL="0" indent="0" algn="ctr">
              <a:buNone/>
            </a:pPr>
            <a:r>
              <a:rPr lang="en-US" sz="1200" dirty="0">
                <a:solidFill>
                  <a:schemeClr val="tx1"/>
                </a:solidFill>
              </a:rPr>
              <a:t>everything else depends on DNS</a:t>
            </a:r>
            <a:endParaRPr lang="en-US" sz="1600" dirty="0"/>
          </a:p>
        </p:txBody>
      </p:sp>
      <p:sp>
        <p:nvSpPr>
          <p:cNvPr id="16" name="Text 14"/>
          <p:cNvSpPr txBox="1"/>
          <p:nvPr/>
        </p:nvSpPr>
        <p:spPr>
          <a:xfrm>
            <a:off x="754075" y="3246120"/>
            <a:ext cx="548640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THE MAPE-K RESPONSE</a:t>
            </a:r>
            <a:endParaRPr lang="en-US" sz="1200" dirty="0"/>
          </a:p>
        </p:txBody>
      </p:sp>
      <p:sp>
        <p:nvSpPr>
          <p:cNvPr id="17" name="Monitor card"/>
          <p:cNvSpPr/>
          <p:nvPr/>
        </p:nvSpPr>
        <p:spPr>
          <a:xfrm>
            <a:off x="754075" y="3611880"/>
            <a:ext cx="2606040" cy="2057400"/>
          </a:xfrm>
          <a:prstGeom prst="roundRect">
            <a:avLst>
              <a:gd name="adj" fmla="val 5333"/>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18" name="Shape 16"/>
          <p:cNvSpPr/>
          <p:nvPr/>
        </p:nvSpPr>
        <p:spPr>
          <a:xfrm>
            <a:off x="982675" y="3840480"/>
            <a:ext cx="640080" cy="640080"/>
          </a:xfrm>
          <a:prstGeom prst="ellipse">
            <a:avLst/>
          </a:prstGeom>
          <a:solidFill>
            <a:schemeClr val="accent4"/>
          </a:solidFill>
          <a:ln w="12700">
            <a:solidFill>
              <a:schemeClr val="accent4"/>
            </a:solidFill>
            <a:prstDash val="solid"/>
          </a:ln>
        </p:spPr>
      </p:sp>
      <p:sp>
        <p:nvSpPr>
          <p:cNvPr id="19" name="Text 17"/>
          <p:cNvSpPr txBox="1"/>
          <p:nvPr/>
        </p:nvSpPr>
        <p:spPr>
          <a:xfrm>
            <a:off x="982675" y="3840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M</a:t>
            </a:r>
            <a:endParaRPr lang="en-US" sz="2000" dirty="0"/>
          </a:p>
        </p:txBody>
      </p:sp>
      <p:sp>
        <p:nvSpPr>
          <p:cNvPr id="20" name="Text 18"/>
          <p:cNvSpPr txBox="1"/>
          <p:nvPr/>
        </p:nvSpPr>
        <p:spPr>
          <a:xfrm>
            <a:off x="1759915" y="3813048"/>
            <a:ext cx="1463040" cy="694944"/>
          </a:xfrm>
          <a:prstGeom prst="rect">
            <a:avLst/>
          </a:prstGeom>
          <a:noFill/>
          <a:ln/>
        </p:spPr>
        <p:txBody>
          <a:bodyPr wrap="square" lIns="0" tIns="0" rIns="0" bIns="0" rtlCol="0" anchor="ctr"/>
          <a:lstStyle/>
          <a:p>
            <a:pPr marL="0" indent="0">
              <a:buNone/>
            </a:pPr>
            <a:r>
              <a:rPr lang="en-US" sz="1800" b="1" dirty="0">
                <a:solidFill>
                  <a:schemeClr val="tx2"/>
                </a:solidFill>
              </a:rPr>
              <a:t>Monitor</a:t>
            </a:r>
            <a:endParaRPr lang="en-US" sz="1800" dirty="0"/>
          </a:p>
          <a:p>
            <a:pPr marL="0" indent="0">
              <a:buNone/>
            </a:pPr>
            <a:r>
              <a:rPr lang="en-US" sz="1200" dirty="0">
                <a:solidFill>
                  <a:schemeClr val="accent5"/>
                </a:solidFill>
              </a:rPr>
              <a:t>Steps 1–2</a:t>
            </a:r>
            <a:endParaRPr lang="en-US" sz="1800" dirty="0"/>
          </a:p>
        </p:txBody>
      </p:sp>
      <p:sp>
        <p:nvSpPr>
          <p:cNvPr id="21" name="Text 19"/>
          <p:cNvSpPr txBox="1"/>
          <p:nvPr/>
        </p:nvSpPr>
        <p:spPr>
          <a:xfrm>
            <a:off x="982675" y="4663440"/>
            <a:ext cx="2148840" cy="868680"/>
          </a:xfrm>
          <a:prstGeom prst="rect">
            <a:avLst/>
          </a:prstGeom>
          <a:noFill/>
          <a:ln/>
        </p:spPr>
        <p:txBody>
          <a:bodyPr wrap="square" lIns="0" tIns="0" rIns="0" bIns="0" rtlCol="0" anchor="t"/>
          <a:lstStyle/>
          <a:p>
            <a:pPr marL="0" indent="0">
              <a:buNone/>
            </a:pPr>
            <a:r>
              <a:rPr lang="en-US" sz="1400" dirty="0">
                <a:solidFill>
                  <a:schemeClr val="tx1"/>
                </a:solidFill>
              </a:rPr>
              <a:t>Telemetry becomes ABox facts: the flow is anomalous, Link_01 is saturated.</a:t>
            </a:r>
            <a:endParaRPr lang="en-US" sz="1400" dirty="0"/>
          </a:p>
        </p:txBody>
      </p:sp>
      <p:sp>
        <p:nvSpPr>
          <p:cNvPr id="22" name="Analyse card"/>
          <p:cNvSpPr/>
          <p:nvPr/>
        </p:nvSpPr>
        <p:spPr>
          <a:xfrm>
            <a:off x="3643579" y="3611880"/>
            <a:ext cx="2606040" cy="2057400"/>
          </a:xfrm>
          <a:prstGeom prst="roundRect">
            <a:avLst>
              <a:gd name="adj" fmla="val 5333"/>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3" name="Shape 21"/>
          <p:cNvSpPr/>
          <p:nvPr/>
        </p:nvSpPr>
        <p:spPr>
          <a:xfrm>
            <a:off x="3872179" y="3840480"/>
            <a:ext cx="640080" cy="640080"/>
          </a:xfrm>
          <a:prstGeom prst="ellipse">
            <a:avLst/>
          </a:prstGeom>
          <a:solidFill>
            <a:schemeClr val="accent3"/>
          </a:solidFill>
          <a:ln w="12700">
            <a:solidFill>
              <a:schemeClr val="accent3"/>
            </a:solidFill>
            <a:prstDash val="solid"/>
          </a:ln>
        </p:spPr>
      </p:sp>
      <p:sp>
        <p:nvSpPr>
          <p:cNvPr id="24" name="Text 22"/>
          <p:cNvSpPr txBox="1"/>
          <p:nvPr/>
        </p:nvSpPr>
        <p:spPr>
          <a:xfrm>
            <a:off x="3872179" y="3840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A</a:t>
            </a:r>
            <a:endParaRPr lang="en-US" sz="2000" dirty="0"/>
          </a:p>
        </p:txBody>
      </p:sp>
      <p:sp>
        <p:nvSpPr>
          <p:cNvPr id="25" name="Text 23"/>
          <p:cNvSpPr txBox="1"/>
          <p:nvPr/>
        </p:nvSpPr>
        <p:spPr>
          <a:xfrm>
            <a:off x="4649419" y="3813048"/>
            <a:ext cx="1463040" cy="694944"/>
          </a:xfrm>
          <a:prstGeom prst="rect">
            <a:avLst/>
          </a:prstGeom>
          <a:noFill/>
          <a:ln/>
        </p:spPr>
        <p:txBody>
          <a:bodyPr wrap="square" lIns="0" tIns="0" rIns="0" bIns="0" rtlCol="0" anchor="ctr"/>
          <a:lstStyle/>
          <a:p>
            <a:pPr marL="0" indent="0">
              <a:buNone/>
            </a:pPr>
            <a:r>
              <a:rPr lang="en-US" sz="1800" b="1" dirty="0">
                <a:solidFill>
                  <a:schemeClr val="tx2"/>
                </a:solidFill>
              </a:rPr>
              <a:t>Analyse</a:t>
            </a:r>
            <a:endParaRPr lang="en-US" sz="1800" dirty="0"/>
          </a:p>
          <a:p>
            <a:pPr marL="0" indent="0">
              <a:buNone/>
            </a:pPr>
            <a:r>
              <a:rPr lang="en-US" sz="1200" dirty="0">
                <a:solidFill>
                  <a:schemeClr val="accent5"/>
                </a:solidFill>
              </a:rPr>
              <a:t>Steps 3–4</a:t>
            </a:r>
            <a:endParaRPr lang="en-US" sz="1800" dirty="0"/>
          </a:p>
        </p:txBody>
      </p:sp>
      <p:sp>
        <p:nvSpPr>
          <p:cNvPr id="26" name="Text 24"/>
          <p:cNvSpPr txBox="1"/>
          <p:nvPr/>
        </p:nvSpPr>
        <p:spPr>
          <a:xfrm>
            <a:off x="3872179" y="4663440"/>
            <a:ext cx="2148840" cy="868680"/>
          </a:xfrm>
          <a:prstGeom prst="rect">
            <a:avLst/>
          </a:prstGeom>
          <a:noFill/>
          <a:ln/>
        </p:spPr>
        <p:txBody>
          <a:bodyPr wrap="square" lIns="0" tIns="0" rIns="0" bIns="0" rtlCol="0" anchor="t"/>
          <a:lstStyle/>
          <a:p>
            <a:pPr marL="0" indent="0">
              <a:buNone/>
            </a:pPr>
            <a:r>
              <a:rPr lang="en-US" sz="1400" dirty="0">
                <a:solidFill>
                  <a:schemeClr val="tx1"/>
                </a:solidFill>
              </a:rPr>
              <a:t>The reasoner infers that DNS is at risk and identifies the source AS and its agreement.</a:t>
            </a:r>
            <a:endParaRPr lang="en-US" sz="1400" dirty="0"/>
          </a:p>
        </p:txBody>
      </p:sp>
      <p:sp>
        <p:nvSpPr>
          <p:cNvPr id="27" name="Plan card"/>
          <p:cNvSpPr/>
          <p:nvPr/>
        </p:nvSpPr>
        <p:spPr>
          <a:xfrm>
            <a:off x="6533083" y="3611880"/>
            <a:ext cx="2606040" cy="2057400"/>
          </a:xfrm>
          <a:prstGeom prst="roundRect">
            <a:avLst>
              <a:gd name="adj" fmla="val 5333"/>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8" name="Shape 26"/>
          <p:cNvSpPr/>
          <p:nvPr/>
        </p:nvSpPr>
        <p:spPr>
          <a:xfrm>
            <a:off x="6761683" y="3840480"/>
            <a:ext cx="640080" cy="640080"/>
          </a:xfrm>
          <a:prstGeom prst="ellipse">
            <a:avLst/>
          </a:prstGeom>
          <a:solidFill>
            <a:schemeClr val="accent2"/>
          </a:solidFill>
          <a:ln w="12700">
            <a:solidFill>
              <a:schemeClr val="accent2"/>
            </a:solidFill>
            <a:prstDash val="solid"/>
          </a:ln>
        </p:spPr>
      </p:sp>
      <p:sp>
        <p:nvSpPr>
          <p:cNvPr id="29" name="Text 27"/>
          <p:cNvSpPr txBox="1"/>
          <p:nvPr/>
        </p:nvSpPr>
        <p:spPr>
          <a:xfrm>
            <a:off x="6761683" y="3840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P</a:t>
            </a:r>
            <a:endParaRPr lang="en-US" sz="2000" dirty="0"/>
          </a:p>
        </p:txBody>
      </p:sp>
      <p:sp>
        <p:nvSpPr>
          <p:cNvPr id="30" name="Text 28"/>
          <p:cNvSpPr txBox="1"/>
          <p:nvPr/>
        </p:nvSpPr>
        <p:spPr>
          <a:xfrm>
            <a:off x="7538923" y="3813048"/>
            <a:ext cx="1463040" cy="694944"/>
          </a:xfrm>
          <a:prstGeom prst="rect">
            <a:avLst/>
          </a:prstGeom>
          <a:noFill/>
          <a:ln/>
        </p:spPr>
        <p:txBody>
          <a:bodyPr wrap="square" lIns="0" tIns="0" rIns="0" bIns="0" rtlCol="0" anchor="ctr"/>
          <a:lstStyle/>
          <a:p>
            <a:pPr marL="0" indent="0">
              <a:buNone/>
            </a:pPr>
            <a:r>
              <a:rPr lang="en-US" sz="1800" b="1" dirty="0">
                <a:solidFill>
                  <a:schemeClr val="tx2"/>
                </a:solidFill>
              </a:rPr>
              <a:t>Plan</a:t>
            </a:r>
            <a:endParaRPr lang="en-US" sz="1800" dirty="0"/>
          </a:p>
          <a:p>
            <a:pPr marL="0" indent="0">
              <a:buNone/>
            </a:pPr>
            <a:r>
              <a:rPr lang="en-US" sz="1200" dirty="0">
                <a:solidFill>
                  <a:schemeClr val="accent5"/>
                </a:solidFill>
              </a:rPr>
              <a:t>Steps 5–7</a:t>
            </a:r>
            <a:endParaRPr lang="en-US" sz="1800" dirty="0"/>
          </a:p>
        </p:txBody>
      </p:sp>
      <p:sp>
        <p:nvSpPr>
          <p:cNvPr id="31" name="Text 29"/>
          <p:cNvSpPr txBox="1"/>
          <p:nvPr/>
        </p:nvSpPr>
        <p:spPr>
          <a:xfrm>
            <a:off x="6761683" y="4663440"/>
            <a:ext cx="2148840" cy="868680"/>
          </a:xfrm>
          <a:prstGeom prst="rect">
            <a:avLst/>
          </a:prstGeom>
          <a:noFill/>
          <a:ln/>
        </p:spPr>
        <p:txBody>
          <a:bodyPr wrap="square" lIns="0" tIns="0" rIns="0" bIns="0" rtlCol="0" anchor="t"/>
          <a:lstStyle/>
          <a:p>
            <a:pPr marL="0" indent="0">
              <a:buNone/>
            </a:pPr>
            <a:r>
              <a:rPr lang="en-US" sz="1400" dirty="0">
                <a:solidFill>
                  <a:schemeClr val="tx1"/>
                </a:solidFill>
              </a:rPr>
              <a:t>TBox rule: critical service at risk + external source → mitigate at the edge. The plan is validated first.</a:t>
            </a:r>
            <a:endParaRPr lang="en-US" sz="1400" dirty="0"/>
          </a:p>
        </p:txBody>
      </p:sp>
      <p:sp>
        <p:nvSpPr>
          <p:cNvPr id="32" name="Execute card"/>
          <p:cNvSpPr/>
          <p:nvPr/>
        </p:nvSpPr>
        <p:spPr>
          <a:xfrm>
            <a:off x="9422587" y="3611880"/>
            <a:ext cx="2606040" cy="2057400"/>
          </a:xfrm>
          <a:prstGeom prst="roundRect">
            <a:avLst>
              <a:gd name="adj" fmla="val 5333"/>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33" name="Shape 31"/>
          <p:cNvSpPr/>
          <p:nvPr/>
        </p:nvSpPr>
        <p:spPr>
          <a:xfrm>
            <a:off x="9651187" y="3840480"/>
            <a:ext cx="640080" cy="640080"/>
          </a:xfrm>
          <a:prstGeom prst="ellipse">
            <a:avLst/>
          </a:prstGeom>
          <a:solidFill>
            <a:schemeClr val="accent6"/>
          </a:solidFill>
          <a:ln w="12700">
            <a:solidFill>
              <a:schemeClr val="accent6"/>
            </a:solidFill>
            <a:prstDash val="solid"/>
          </a:ln>
        </p:spPr>
      </p:sp>
      <p:sp>
        <p:nvSpPr>
          <p:cNvPr id="34" name="Text 32"/>
          <p:cNvSpPr txBox="1"/>
          <p:nvPr/>
        </p:nvSpPr>
        <p:spPr>
          <a:xfrm>
            <a:off x="9651187" y="3840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rPr>
              <a:t>E</a:t>
            </a:r>
            <a:endParaRPr lang="en-US" sz="2000" dirty="0"/>
          </a:p>
        </p:txBody>
      </p:sp>
      <p:sp>
        <p:nvSpPr>
          <p:cNvPr id="35" name="Text 33"/>
          <p:cNvSpPr txBox="1"/>
          <p:nvPr/>
        </p:nvSpPr>
        <p:spPr>
          <a:xfrm>
            <a:off x="10428427" y="3813048"/>
            <a:ext cx="1463040" cy="694944"/>
          </a:xfrm>
          <a:prstGeom prst="rect">
            <a:avLst/>
          </a:prstGeom>
          <a:noFill/>
          <a:ln/>
        </p:spPr>
        <p:txBody>
          <a:bodyPr wrap="square" lIns="0" tIns="0" rIns="0" bIns="0" rtlCol="0" anchor="ctr"/>
          <a:lstStyle/>
          <a:p>
            <a:pPr marL="0" indent="0">
              <a:buNone/>
            </a:pPr>
            <a:r>
              <a:rPr lang="en-US" sz="1800" b="1" dirty="0">
                <a:solidFill>
                  <a:schemeClr val="tx2"/>
                </a:solidFill>
              </a:rPr>
              <a:t>Execute</a:t>
            </a:r>
            <a:endParaRPr lang="en-US" sz="1800" dirty="0"/>
          </a:p>
          <a:p>
            <a:pPr marL="0" indent="0">
              <a:buNone/>
            </a:pPr>
            <a:r>
              <a:rPr lang="en-US" sz="1200" dirty="0">
                <a:solidFill>
                  <a:schemeClr val="accent5"/>
                </a:solidFill>
              </a:rPr>
              <a:t>Steps 8–10</a:t>
            </a:r>
            <a:endParaRPr lang="en-US" sz="1800" dirty="0"/>
          </a:p>
        </p:txBody>
      </p:sp>
      <p:sp>
        <p:nvSpPr>
          <p:cNvPr id="36" name="Text 34"/>
          <p:cNvSpPr txBox="1"/>
          <p:nvPr/>
        </p:nvSpPr>
        <p:spPr>
          <a:xfrm>
            <a:off x="9651187" y="4663440"/>
            <a:ext cx="2148840" cy="868680"/>
          </a:xfrm>
          <a:prstGeom prst="rect">
            <a:avLst/>
          </a:prstGeom>
          <a:noFill/>
          <a:ln/>
        </p:spPr>
        <p:txBody>
          <a:bodyPr wrap="square" lIns="0" tIns="0" rIns="0" bIns="0" rtlCol="0" anchor="t"/>
          <a:lstStyle/>
          <a:p>
            <a:pPr marL="0" indent="0">
              <a:buNone/>
            </a:pPr>
            <a:r>
              <a:rPr lang="en-US" sz="1400" dirty="0">
                <a:solidFill>
                  <a:schemeClr val="tx1"/>
                </a:solidFill>
              </a:rPr>
              <a:t>Filter applied via NETCONF, confirmed, and the ABox updated to “protected”.</a:t>
            </a:r>
            <a:endParaRPr lang="en-US" sz="1400" dirty="0"/>
          </a:p>
        </p:txBody>
      </p:sp>
      <p:sp>
        <p:nvSpPr>
          <p:cNvPr id="43" name="CaixaDeTexto 42">
            <a:extLst>
              <a:ext uri="{FF2B5EF4-FFF2-40B4-BE49-F238E27FC236}">
                <a16:creationId xmlns:a16="http://schemas.microsoft.com/office/drawing/2014/main" id="{A81E467D-F7E5-9CE1-8740-547B58AFE0D8}"/>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45" name="Slide Number Placeholder 0">
            <a:extLst>
              <a:ext uri="{FF2B5EF4-FFF2-40B4-BE49-F238E27FC236}">
                <a16:creationId xmlns:a16="http://schemas.microsoft.com/office/drawing/2014/main" id="{AA85C177-415A-89A6-B1C0-620C1A441ADA}"/>
              </a:ext>
            </a:extLst>
          </p:cNvPr>
          <p:cNvSpPr txBox="1">
            <a:spLocks/>
          </p:cNvSpPr>
          <p:nvPr/>
        </p:nvSpPr>
        <p:spPr>
          <a:xfrm>
            <a:off x="138001" y="6502518"/>
            <a:ext cx="457200" cy="27432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19</a:t>
            </a:fld>
            <a:endParaRPr lang="en-US" dirty="0">
              <a:solidFill>
                <a:srgbClr val="0070C0"/>
              </a:solidFill>
            </a:endParaRPr>
          </a:p>
        </p:txBody>
      </p:sp>
      <p:pic>
        <p:nvPicPr>
          <p:cNvPr id="47" name="Imagem 46" descr="Logo CGI.br">
            <a:extLst>
              <a:ext uri="{FF2B5EF4-FFF2-40B4-BE49-F238E27FC236}">
                <a16:creationId xmlns:a16="http://schemas.microsoft.com/office/drawing/2014/main" id="{D1594D7B-3A75-FCCE-B68C-92BD74D7B8F3}"/>
              </a:ext>
            </a:extLst>
          </p:cNvPr>
          <p:cNvPicPr>
            <a:picLocks noChangeAspect="1"/>
          </p:cNvPicPr>
          <p:nvPr/>
        </p:nvPicPr>
        <p:blipFill>
          <a:blip r:embed="rId3"/>
          <a:stretch>
            <a:fillRect/>
          </a:stretch>
        </p:blipFill>
        <p:spPr>
          <a:xfrm>
            <a:off x="10803749" y="6250375"/>
            <a:ext cx="1057275" cy="609600"/>
          </a:xfrm>
          <a:prstGeom prst="rect">
            <a:avLst/>
          </a:prstGeom>
        </p:spPr>
      </p:pic>
      <p:sp>
        <p:nvSpPr>
          <p:cNvPr id="49" name="CaixaDeTexto 48">
            <a:extLst>
              <a:ext uri="{FF2B5EF4-FFF2-40B4-BE49-F238E27FC236}">
                <a16:creationId xmlns:a16="http://schemas.microsoft.com/office/drawing/2014/main" id="{B5A74FF9-79DE-4FFC-EF7D-A8A7E2C4E45F}"/>
              </a:ext>
            </a:extLst>
          </p:cNvPr>
          <p:cNvSpPr txBox="1"/>
          <p:nvPr/>
        </p:nvSpPr>
        <p:spPr>
          <a:xfrm>
            <a:off x="-17836" y="3387106"/>
            <a:ext cx="779380" cy="1200329"/>
          </a:xfrm>
          <a:prstGeom prst="rect">
            <a:avLst/>
          </a:prstGeom>
          <a:noFill/>
        </p:spPr>
        <p:txBody>
          <a:bodyPr wrap="none" rtlCol="0">
            <a:spAutoFit/>
          </a:bodyPr>
          <a:lstStyle/>
          <a:p>
            <a:pPr algn="ctr"/>
            <a:r>
              <a:rPr lang="pt-BR" sz="2400" b="1" dirty="0">
                <a:solidFill>
                  <a:schemeClr val="accent4">
                    <a:lumMod val="75000"/>
                  </a:schemeClr>
                </a:solidFill>
              </a:rPr>
              <a:t>Use</a:t>
            </a:r>
            <a:br>
              <a:rPr lang="pt-BR" sz="2400" b="1" dirty="0">
                <a:solidFill>
                  <a:schemeClr val="accent4">
                    <a:lumMod val="75000"/>
                  </a:schemeClr>
                </a:solidFill>
              </a:rPr>
            </a:br>
            <a:r>
              <a:rPr lang="pt-BR" sz="2400" b="1" dirty="0">
                <a:solidFill>
                  <a:schemeClr val="accent4">
                    <a:lumMod val="75000"/>
                  </a:schemeClr>
                </a:solidFill>
              </a:rPr>
              <a:t>Case</a:t>
            </a:r>
            <a:br>
              <a:rPr lang="pt-BR" sz="2400" b="1" dirty="0">
                <a:solidFill>
                  <a:schemeClr val="accent4">
                    <a:lumMod val="75000"/>
                  </a:schemeClr>
                </a:solidFill>
              </a:rPr>
            </a:br>
            <a:r>
              <a:rPr lang="pt-BR" sz="2400" b="1" dirty="0">
                <a:solidFill>
                  <a:schemeClr val="accent4">
                    <a:lumMod val="75000"/>
                  </a:schemeClr>
                </a:solidFill>
              </a:rPr>
              <a:t>(II)</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749645" y="320040"/>
            <a:ext cx="5259662" cy="685800"/>
          </a:xfrm>
          <a:prstGeom prst="rect">
            <a:avLst/>
          </a:prstGeom>
          <a:noFill/>
          <a:ln/>
        </p:spPr>
        <p:txBody>
          <a:bodyPr wrap="square" lIns="0" tIns="0" rIns="0" bIns="0" rtlCol="0" anchor="ctr">
            <a:normAutofit fontScale="90000"/>
          </a:bodyPr>
          <a:lstStyle/>
          <a:p>
            <a:pPr marL="0" indent="0">
              <a:buNone/>
            </a:pPr>
            <a:r>
              <a:rPr lang="en-US" sz="3400" b="1" dirty="0">
                <a:solidFill>
                  <a:schemeClr val="tx2"/>
                </a:solidFill>
              </a:rPr>
              <a:t>Sequence Flow of the Mitigation</a:t>
            </a:r>
            <a:endParaRPr lang="en-US" sz="3400" dirty="0"/>
          </a:p>
        </p:txBody>
      </p:sp>
      <p:pic>
        <p:nvPicPr>
          <p:cNvPr id="3" name="Sequence diagram" descr="Sequence diagram of the DDoS mitigation: telemetry, ABox declaration, reasoning, inference of DNS at risk, plan validation against the compliance regime, mitigation deduction, NETCONF filter, confirmation and ABox update."/>
          <p:cNvPicPr>
            <a:picLocks noChangeAspect="1"/>
          </p:cNvPicPr>
          <p:nvPr/>
        </p:nvPicPr>
        <p:blipFill>
          <a:blip r:embed="rId3"/>
          <a:stretch>
            <a:fillRect/>
          </a:stretch>
        </p:blipFill>
        <p:spPr>
          <a:xfrm>
            <a:off x="1362249" y="1188720"/>
            <a:ext cx="10034455" cy="4114800"/>
          </a:xfrm>
          <a:prstGeom prst="rect">
            <a:avLst/>
          </a:prstGeom>
        </p:spPr>
      </p:pic>
      <p:sp>
        <p:nvSpPr>
          <p:cNvPr id="4" name="Chip Monitor"/>
          <p:cNvSpPr/>
          <p:nvPr/>
        </p:nvSpPr>
        <p:spPr>
          <a:xfrm>
            <a:off x="742200" y="5532120"/>
            <a:ext cx="2606040" cy="594360"/>
          </a:xfrm>
          <a:prstGeom prst="roundRect">
            <a:avLst>
              <a:gd name="adj" fmla="val 15385"/>
            </a:avLst>
          </a:prstGeom>
          <a:solidFill>
            <a:schemeClr val="accent4"/>
          </a:solidFill>
          <a:ln w="12700">
            <a:solidFill>
              <a:schemeClr val="accent4"/>
            </a:solidFill>
            <a:prstDash val="solid"/>
          </a:ln>
        </p:spPr>
      </p:sp>
      <p:sp>
        <p:nvSpPr>
          <p:cNvPr id="5" name="Text 2"/>
          <p:cNvSpPr txBox="1"/>
          <p:nvPr/>
        </p:nvSpPr>
        <p:spPr>
          <a:xfrm>
            <a:off x="742200" y="5532120"/>
            <a:ext cx="2606040" cy="594360"/>
          </a:xfrm>
          <a:prstGeom prst="rect">
            <a:avLst/>
          </a:prstGeom>
          <a:noFill/>
          <a:ln/>
        </p:spPr>
        <p:txBody>
          <a:bodyPr wrap="square" lIns="0" tIns="0" rIns="0" bIns="0" rtlCol="0" anchor="ctr"/>
          <a:lstStyle/>
          <a:p>
            <a:pPr marL="0" indent="0" algn="ctr">
              <a:buNone/>
            </a:pPr>
            <a:r>
              <a:rPr lang="en-US" sz="1600" b="1" dirty="0">
                <a:solidFill>
                  <a:schemeClr val="bg1"/>
                </a:solidFill>
              </a:rPr>
              <a:t>Monitor  </a:t>
            </a:r>
            <a:r>
              <a:rPr lang="en-US" sz="1600" dirty="0">
                <a:solidFill>
                  <a:schemeClr val="bg1"/>
                </a:solidFill>
              </a:rPr>
              <a:t>Steps 1–2</a:t>
            </a:r>
            <a:endParaRPr lang="en-US" sz="1600" dirty="0"/>
          </a:p>
        </p:txBody>
      </p:sp>
      <p:sp>
        <p:nvSpPr>
          <p:cNvPr id="6" name="Chip Analyse"/>
          <p:cNvSpPr/>
          <p:nvPr/>
        </p:nvSpPr>
        <p:spPr>
          <a:xfrm>
            <a:off x="3631704" y="5532120"/>
            <a:ext cx="2606040" cy="594360"/>
          </a:xfrm>
          <a:prstGeom prst="roundRect">
            <a:avLst>
              <a:gd name="adj" fmla="val 15385"/>
            </a:avLst>
          </a:prstGeom>
          <a:solidFill>
            <a:schemeClr val="accent3"/>
          </a:solidFill>
          <a:ln w="12700">
            <a:solidFill>
              <a:schemeClr val="accent3"/>
            </a:solidFill>
            <a:prstDash val="solid"/>
          </a:ln>
        </p:spPr>
      </p:sp>
      <p:sp>
        <p:nvSpPr>
          <p:cNvPr id="7" name="Text 4"/>
          <p:cNvSpPr txBox="1"/>
          <p:nvPr/>
        </p:nvSpPr>
        <p:spPr>
          <a:xfrm>
            <a:off x="3631704" y="5532120"/>
            <a:ext cx="2606040" cy="594360"/>
          </a:xfrm>
          <a:prstGeom prst="rect">
            <a:avLst/>
          </a:prstGeom>
          <a:noFill/>
          <a:ln/>
        </p:spPr>
        <p:txBody>
          <a:bodyPr wrap="square" lIns="0" tIns="0" rIns="0" bIns="0" rtlCol="0" anchor="ctr"/>
          <a:lstStyle/>
          <a:p>
            <a:pPr marL="0" indent="0" algn="ctr">
              <a:buNone/>
            </a:pPr>
            <a:r>
              <a:rPr lang="en-US" sz="1600" b="1" dirty="0">
                <a:solidFill>
                  <a:schemeClr val="bg1"/>
                </a:solidFill>
              </a:rPr>
              <a:t>Analyse  </a:t>
            </a:r>
            <a:r>
              <a:rPr lang="en-US" sz="1600" dirty="0">
                <a:solidFill>
                  <a:schemeClr val="bg1"/>
                </a:solidFill>
              </a:rPr>
              <a:t>Steps 3–4</a:t>
            </a:r>
            <a:endParaRPr lang="en-US" sz="1600" dirty="0"/>
          </a:p>
        </p:txBody>
      </p:sp>
      <p:sp>
        <p:nvSpPr>
          <p:cNvPr id="8" name="Chip Plan"/>
          <p:cNvSpPr/>
          <p:nvPr/>
        </p:nvSpPr>
        <p:spPr>
          <a:xfrm>
            <a:off x="6521208" y="5532120"/>
            <a:ext cx="2606040" cy="594360"/>
          </a:xfrm>
          <a:prstGeom prst="roundRect">
            <a:avLst>
              <a:gd name="adj" fmla="val 15385"/>
            </a:avLst>
          </a:prstGeom>
          <a:solidFill>
            <a:schemeClr val="accent2"/>
          </a:solidFill>
          <a:ln w="12700">
            <a:solidFill>
              <a:schemeClr val="accent2"/>
            </a:solidFill>
            <a:prstDash val="solid"/>
          </a:ln>
        </p:spPr>
      </p:sp>
      <p:sp>
        <p:nvSpPr>
          <p:cNvPr id="9" name="Text 6"/>
          <p:cNvSpPr txBox="1"/>
          <p:nvPr/>
        </p:nvSpPr>
        <p:spPr>
          <a:xfrm>
            <a:off x="6521208" y="5532120"/>
            <a:ext cx="2606040" cy="594360"/>
          </a:xfrm>
          <a:prstGeom prst="rect">
            <a:avLst/>
          </a:prstGeom>
          <a:noFill/>
          <a:ln/>
        </p:spPr>
        <p:txBody>
          <a:bodyPr wrap="square" lIns="0" tIns="0" rIns="0" bIns="0" rtlCol="0" anchor="ctr"/>
          <a:lstStyle/>
          <a:p>
            <a:pPr marL="0" indent="0" algn="ctr">
              <a:buNone/>
            </a:pPr>
            <a:r>
              <a:rPr lang="en-US" sz="1600" b="1" dirty="0">
                <a:solidFill>
                  <a:schemeClr val="bg1"/>
                </a:solidFill>
              </a:rPr>
              <a:t>Plan  </a:t>
            </a:r>
            <a:r>
              <a:rPr lang="en-US" sz="1600" dirty="0">
                <a:solidFill>
                  <a:schemeClr val="bg1"/>
                </a:solidFill>
              </a:rPr>
              <a:t>Steps 5–7</a:t>
            </a:r>
            <a:endParaRPr lang="en-US" sz="1600" dirty="0"/>
          </a:p>
        </p:txBody>
      </p:sp>
      <p:sp>
        <p:nvSpPr>
          <p:cNvPr id="10" name="Chip Execute"/>
          <p:cNvSpPr/>
          <p:nvPr/>
        </p:nvSpPr>
        <p:spPr>
          <a:xfrm>
            <a:off x="9410712" y="5532120"/>
            <a:ext cx="2606040" cy="594360"/>
          </a:xfrm>
          <a:prstGeom prst="roundRect">
            <a:avLst>
              <a:gd name="adj" fmla="val 15385"/>
            </a:avLst>
          </a:prstGeom>
          <a:solidFill>
            <a:schemeClr val="accent6"/>
          </a:solidFill>
          <a:ln w="12700">
            <a:solidFill>
              <a:schemeClr val="accent6"/>
            </a:solidFill>
            <a:prstDash val="solid"/>
          </a:ln>
        </p:spPr>
      </p:sp>
      <p:sp>
        <p:nvSpPr>
          <p:cNvPr id="11" name="Text 8"/>
          <p:cNvSpPr txBox="1"/>
          <p:nvPr/>
        </p:nvSpPr>
        <p:spPr>
          <a:xfrm>
            <a:off x="9410712" y="5532120"/>
            <a:ext cx="2606040" cy="594360"/>
          </a:xfrm>
          <a:prstGeom prst="rect">
            <a:avLst/>
          </a:prstGeom>
          <a:noFill/>
          <a:ln/>
        </p:spPr>
        <p:txBody>
          <a:bodyPr wrap="square" lIns="0" tIns="0" rIns="0" bIns="0" rtlCol="0" anchor="ctr"/>
          <a:lstStyle/>
          <a:p>
            <a:pPr marL="0" indent="0" algn="ctr">
              <a:buNone/>
            </a:pPr>
            <a:r>
              <a:rPr lang="en-US" sz="1600" b="1" dirty="0">
                <a:solidFill>
                  <a:schemeClr val="bg1"/>
                </a:solidFill>
              </a:rPr>
              <a:t>Execute  </a:t>
            </a:r>
            <a:r>
              <a:rPr lang="en-US" sz="1600" dirty="0">
                <a:solidFill>
                  <a:schemeClr val="bg1"/>
                </a:solidFill>
              </a:rPr>
              <a:t>Steps 8–10</a:t>
            </a:r>
            <a:endParaRPr lang="en-US" sz="1600" dirty="0"/>
          </a:p>
        </p:txBody>
      </p:sp>
      <p:sp>
        <p:nvSpPr>
          <p:cNvPr id="13" name="CaixaDeTexto 12">
            <a:extLst>
              <a:ext uri="{FF2B5EF4-FFF2-40B4-BE49-F238E27FC236}">
                <a16:creationId xmlns:a16="http://schemas.microsoft.com/office/drawing/2014/main" id="{704EFD91-81C5-5D9F-4254-41CED61DCD19}"/>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15" name="Slide Number Placeholder 0">
            <a:extLst>
              <a:ext uri="{FF2B5EF4-FFF2-40B4-BE49-F238E27FC236}">
                <a16:creationId xmlns:a16="http://schemas.microsoft.com/office/drawing/2014/main" id="{2F6AE0A8-A039-36A1-175A-41F07772EA94}"/>
              </a:ext>
            </a:extLst>
          </p:cNvPr>
          <p:cNvSpPr txBox="1">
            <a:spLocks/>
          </p:cNvSpPr>
          <p:nvPr/>
        </p:nvSpPr>
        <p:spPr>
          <a:xfrm>
            <a:off x="138001" y="6502518"/>
            <a:ext cx="457200" cy="27432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20</a:t>
            </a:fld>
            <a:endParaRPr lang="en-US" dirty="0">
              <a:solidFill>
                <a:srgbClr val="0070C0"/>
              </a:solidFill>
            </a:endParaRPr>
          </a:p>
        </p:txBody>
      </p:sp>
      <p:pic>
        <p:nvPicPr>
          <p:cNvPr id="17" name="Imagem 16" descr="Logo CGI.br">
            <a:extLst>
              <a:ext uri="{FF2B5EF4-FFF2-40B4-BE49-F238E27FC236}">
                <a16:creationId xmlns:a16="http://schemas.microsoft.com/office/drawing/2014/main" id="{350397A9-A337-EB6F-426C-13E344AB18B4}"/>
              </a:ext>
            </a:extLst>
          </p:cNvPr>
          <p:cNvPicPr>
            <a:picLocks noChangeAspect="1"/>
          </p:cNvPicPr>
          <p:nvPr/>
        </p:nvPicPr>
        <p:blipFill>
          <a:blip r:embed="rId4"/>
          <a:stretch>
            <a:fillRect/>
          </a:stretch>
        </p:blipFill>
        <p:spPr>
          <a:xfrm>
            <a:off x="10803749" y="6250375"/>
            <a:ext cx="1057275" cy="609600"/>
          </a:xfrm>
          <a:prstGeom prst="rect">
            <a:avLst/>
          </a:prstGeom>
        </p:spPr>
      </p:pic>
      <p:sp>
        <p:nvSpPr>
          <p:cNvPr id="19" name="CaixaDeTexto 18">
            <a:extLst>
              <a:ext uri="{FF2B5EF4-FFF2-40B4-BE49-F238E27FC236}">
                <a16:creationId xmlns:a16="http://schemas.microsoft.com/office/drawing/2014/main" id="{172FAC8A-9E61-65BA-84D4-7DBD53114918}"/>
              </a:ext>
            </a:extLst>
          </p:cNvPr>
          <p:cNvSpPr txBox="1"/>
          <p:nvPr/>
        </p:nvSpPr>
        <p:spPr>
          <a:xfrm>
            <a:off x="127560" y="2828835"/>
            <a:ext cx="779380" cy="1200329"/>
          </a:xfrm>
          <a:prstGeom prst="rect">
            <a:avLst/>
          </a:prstGeom>
          <a:noFill/>
        </p:spPr>
        <p:txBody>
          <a:bodyPr wrap="none" rtlCol="0">
            <a:spAutoFit/>
          </a:bodyPr>
          <a:lstStyle/>
          <a:p>
            <a:pPr algn="ctr"/>
            <a:r>
              <a:rPr lang="pt-BR" sz="2400" b="1" dirty="0">
                <a:solidFill>
                  <a:schemeClr val="accent4">
                    <a:lumMod val="75000"/>
                  </a:schemeClr>
                </a:solidFill>
              </a:rPr>
              <a:t>Use</a:t>
            </a:r>
            <a:br>
              <a:rPr lang="pt-BR" sz="2400" b="1" dirty="0">
                <a:solidFill>
                  <a:schemeClr val="accent4">
                    <a:lumMod val="75000"/>
                  </a:schemeClr>
                </a:solidFill>
              </a:rPr>
            </a:br>
            <a:r>
              <a:rPr lang="pt-BR" sz="2400" b="1" dirty="0">
                <a:solidFill>
                  <a:schemeClr val="accent4">
                    <a:lumMod val="75000"/>
                  </a:schemeClr>
                </a:solidFill>
              </a:rPr>
              <a:t>Case</a:t>
            </a:r>
            <a:br>
              <a:rPr lang="pt-BR" sz="2400" b="1" dirty="0">
                <a:solidFill>
                  <a:schemeClr val="accent4">
                    <a:lumMod val="75000"/>
                  </a:schemeClr>
                </a:solidFill>
              </a:rPr>
            </a:br>
            <a:r>
              <a:rPr lang="pt-BR" sz="2400" b="1" dirty="0">
                <a:solidFill>
                  <a:schemeClr val="accent4">
                    <a:lumMod val="75000"/>
                  </a:schemeClr>
                </a:solidFill>
              </a:rPr>
              <a:t>(II)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737779" y="173088"/>
            <a:ext cx="5259662" cy="623455"/>
          </a:xfrm>
          <a:prstGeom prst="rect">
            <a:avLst/>
          </a:prstGeom>
          <a:noFill/>
          <a:ln/>
        </p:spPr>
        <p:txBody>
          <a:bodyPr wrap="square" lIns="0" tIns="0" rIns="0" bIns="0" rtlCol="0" anchor="ctr"/>
          <a:lstStyle/>
          <a:p>
            <a:pPr marL="0" indent="0" algn="ctr">
              <a:buNone/>
            </a:pPr>
            <a:r>
              <a:rPr lang="en-US" sz="3400" b="1" dirty="0">
                <a:solidFill>
                  <a:schemeClr val="tx2"/>
                </a:solidFill>
              </a:rPr>
              <a:t>Why a Semantic Defence?</a:t>
            </a:r>
            <a:endParaRPr lang="en-US" sz="3400" dirty="0"/>
          </a:p>
        </p:txBody>
      </p:sp>
      <p:sp>
        <p:nvSpPr>
          <p:cNvPr id="3" name="Text 1"/>
          <p:cNvSpPr txBox="1"/>
          <p:nvPr/>
        </p:nvSpPr>
        <p:spPr>
          <a:xfrm>
            <a:off x="730334" y="1010595"/>
            <a:ext cx="548640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HOW THE REASONER INFERS THE RISK</a:t>
            </a:r>
            <a:endParaRPr lang="en-US" sz="1200" dirty="0"/>
          </a:p>
        </p:txBody>
      </p:sp>
      <p:sp>
        <p:nvSpPr>
          <p:cNvPr id="4" name="Chain Flow"/>
          <p:cNvSpPr/>
          <p:nvPr/>
        </p:nvSpPr>
        <p:spPr>
          <a:xfrm>
            <a:off x="730334" y="1513515"/>
            <a:ext cx="1417320" cy="777240"/>
          </a:xfrm>
          <a:prstGeom prst="roundRect">
            <a:avLst>
              <a:gd name="adj" fmla="val 11765"/>
            </a:avLst>
          </a:prstGeom>
          <a:solidFill>
            <a:schemeClr val="bg2"/>
          </a:solidFill>
          <a:ln w="15875">
            <a:solidFill>
              <a:schemeClr val="accent1"/>
            </a:solidFill>
            <a:prstDash val="solid"/>
          </a:ln>
        </p:spPr>
      </p:sp>
      <p:sp>
        <p:nvSpPr>
          <p:cNvPr id="5" name="Text 3"/>
          <p:cNvSpPr txBox="1"/>
          <p:nvPr/>
        </p:nvSpPr>
        <p:spPr>
          <a:xfrm>
            <a:off x="730334" y="1513515"/>
            <a:ext cx="1417320" cy="777240"/>
          </a:xfrm>
          <a:prstGeom prst="rect">
            <a:avLst/>
          </a:prstGeom>
          <a:noFill/>
          <a:ln/>
        </p:spPr>
        <p:txBody>
          <a:bodyPr wrap="square" lIns="381" tIns="381" rIns="381" bIns="381" rtlCol="0" anchor="ctr"/>
          <a:lstStyle/>
          <a:p>
            <a:pPr marL="0" indent="0" algn="ctr">
              <a:buNone/>
            </a:pPr>
            <a:r>
              <a:rPr lang="en-US" sz="1600" b="1" dirty="0">
                <a:solidFill>
                  <a:schemeClr val="tx1"/>
                </a:solidFill>
              </a:rPr>
              <a:t>Flow</a:t>
            </a:r>
            <a:endParaRPr lang="en-US" sz="1600" dirty="0"/>
          </a:p>
          <a:p>
            <a:pPr marL="0" indent="0" algn="ctr">
              <a:buNone/>
            </a:pPr>
            <a:r>
              <a:rPr lang="en-US" sz="1100" dirty="0">
                <a:solidFill>
                  <a:schemeClr val="tx1"/>
                </a:solidFill>
              </a:rPr>
              <a:t>anomalous</a:t>
            </a:r>
            <a:endParaRPr lang="en-US" sz="1600" dirty="0"/>
          </a:p>
        </p:txBody>
      </p:sp>
      <p:sp>
        <p:nvSpPr>
          <p:cNvPr id="6" name="Chain Link_01"/>
          <p:cNvSpPr/>
          <p:nvPr/>
        </p:nvSpPr>
        <p:spPr>
          <a:xfrm>
            <a:off x="2897462" y="1513515"/>
            <a:ext cx="1417320" cy="777240"/>
          </a:xfrm>
          <a:prstGeom prst="roundRect">
            <a:avLst>
              <a:gd name="adj" fmla="val 11765"/>
            </a:avLst>
          </a:prstGeom>
          <a:solidFill>
            <a:schemeClr val="bg2"/>
          </a:solidFill>
          <a:ln w="15875">
            <a:solidFill>
              <a:schemeClr val="accent1"/>
            </a:solidFill>
            <a:prstDash val="solid"/>
          </a:ln>
        </p:spPr>
      </p:sp>
      <p:sp>
        <p:nvSpPr>
          <p:cNvPr id="7" name="Text 5"/>
          <p:cNvSpPr txBox="1"/>
          <p:nvPr/>
        </p:nvSpPr>
        <p:spPr>
          <a:xfrm>
            <a:off x="2897462" y="1513515"/>
            <a:ext cx="1417320" cy="777240"/>
          </a:xfrm>
          <a:prstGeom prst="rect">
            <a:avLst/>
          </a:prstGeom>
          <a:noFill/>
          <a:ln/>
        </p:spPr>
        <p:txBody>
          <a:bodyPr wrap="square" lIns="381" tIns="381" rIns="381" bIns="381" rtlCol="0" anchor="ctr"/>
          <a:lstStyle/>
          <a:p>
            <a:pPr marL="0" indent="0" algn="ctr">
              <a:buNone/>
            </a:pPr>
            <a:r>
              <a:rPr lang="en-US" sz="1600" b="1" dirty="0">
                <a:solidFill>
                  <a:schemeClr val="tx1"/>
                </a:solidFill>
              </a:rPr>
              <a:t>Link_01</a:t>
            </a:r>
            <a:endParaRPr lang="en-US" sz="1600" dirty="0"/>
          </a:p>
          <a:p>
            <a:pPr marL="0" indent="0" algn="ctr">
              <a:buNone/>
            </a:pPr>
            <a:r>
              <a:rPr lang="en-US" sz="1100" dirty="0">
                <a:solidFill>
                  <a:schemeClr val="tx1"/>
                </a:solidFill>
              </a:rPr>
              <a:t>edge link</a:t>
            </a:r>
            <a:endParaRPr lang="en-US" sz="1600" dirty="0"/>
          </a:p>
        </p:txBody>
      </p:sp>
      <p:sp>
        <p:nvSpPr>
          <p:cNvPr id="8" name="Chain DNS"/>
          <p:cNvSpPr/>
          <p:nvPr/>
        </p:nvSpPr>
        <p:spPr>
          <a:xfrm>
            <a:off x="5064590" y="1513515"/>
            <a:ext cx="1417320" cy="777240"/>
          </a:xfrm>
          <a:prstGeom prst="roundRect">
            <a:avLst>
              <a:gd name="adj" fmla="val 11765"/>
            </a:avLst>
          </a:prstGeom>
          <a:solidFill>
            <a:schemeClr val="bg2"/>
          </a:solidFill>
          <a:ln w="15875">
            <a:solidFill>
              <a:schemeClr val="accent1"/>
            </a:solidFill>
            <a:prstDash val="solid"/>
          </a:ln>
        </p:spPr>
      </p:sp>
      <p:sp>
        <p:nvSpPr>
          <p:cNvPr id="9" name="Text 7"/>
          <p:cNvSpPr txBox="1"/>
          <p:nvPr/>
        </p:nvSpPr>
        <p:spPr>
          <a:xfrm>
            <a:off x="5064590" y="1513515"/>
            <a:ext cx="1417320" cy="777240"/>
          </a:xfrm>
          <a:prstGeom prst="rect">
            <a:avLst/>
          </a:prstGeom>
          <a:noFill/>
          <a:ln/>
        </p:spPr>
        <p:txBody>
          <a:bodyPr wrap="square" lIns="381" tIns="381" rIns="381" bIns="381" rtlCol="0" anchor="ctr"/>
          <a:lstStyle/>
          <a:p>
            <a:pPr marL="0" indent="0" algn="ctr">
              <a:buNone/>
            </a:pPr>
            <a:r>
              <a:rPr lang="en-US" sz="1600" b="1" dirty="0">
                <a:solidFill>
                  <a:schemeClr val="tx1"/>
                </a:solidFill>
              </a:rPr>
              <a:t>DNS</a:t>
            </a:r>
            <a:endParaRPr lang="en-US" sz="1600" dirty="0"/>
          </a:p>
          <a:p>
            <a:pPr marL="0" indent="0" algn="ctr">
              <a:buNone/>
            </a:pPr>
            <a:r>
              <a:rPr lang="en-US" sz="1100" dirty="0">
                <a:solidFill>
                  <a:schemeClr val="tx1"/>
                </a:solidFill>
              </a:rPr>
              <a:t>critical service</a:t>
            </a:r>
            <a:endParaRPr lang="en-US" sz="1600" dirty="0"/>
          </a:p>
        </p:txBody>
      </p:sp>
      <p:sp>
        <p:nvSpPr>
          <p:cNvPr id="10" name="Shape 8"/>
          <p:cNvSpPr/>
          <p:nvPr/>
        </p:nvSpPr>
        <p:spPr>
          <a:xfrm>
            <a:off x="2202518" y="1902135"/>
            <a:ext cx="640080" cy="0"/>
          </a:xfrm>
          <a:prstGeom prst="line">
            <a:avLst/>
          </a:prstGeom>
          <a:noFill/>
          <a:ln w="25400">
            <a:solidFill>
              <a:schemeClr val="accent1"/>
            </a:solidFill>
            <a:prstDash val="solid"/>
            <a:tailEnd type="triangle"/>
          </a:ln>
        </p:spPr>
      </p:sp>
      <p:sp>
        <p:nvSpPr>
          <p:cNvPr id="11" name="Text 9"/>
          <p:cNvSpPr txBox="1"/>
          <p:nvPr/>
        </p:nvSpPr>
        <p:spPr>
          <a:xfrm>
            <a:off x="2056214" y="1531803"/>
            <a:ext cx="932688" cy="274320"/>
          </a:xfrm>
          <a:prstGeom prst="rect">
            <a:avLst/>
          </a:prstGeom>
          <a:noFill/>
          <a:ln/>
        </p:spPr>
        <p:txBody>
          <a:bodyPr wrap="square" lIns="0" tIns="0" rIns="0" bIns="0" rtlCol="0" anchor="ctr"/>
          <a:lstStyle/>
          <a:p>
            <a:pPr marL="0" indent="0" algn="ctr">
              <a:buNone/>
            </a:pPr>
            <a:r>
              <a:rPr lang="en-US" sz="1100" i="1" dirty="0">
                <a:solidFill>
                  <a:schemeClr val="accent1"/>
                </a:solidFill>
              </a:rPr>
              <a:t>saturates</a:t>
            </a:r>
            <a:endParaRPr lang="en-US" sz="1100" dirty="0"/>
          </a:p>
        </p:txBody>
      </p:sp>
      <p:sp>
        <p:nvSpPr>
          <p:cNvPr id="12" name="Shape 10"/>
          <p:cNvSpPr/>
          <p:nvPr/>
        </p:nvSpPr>
        <p:spPr>
          <a:xfrm>
            <a:off x="4369646" y="1902135"/>
            <a:ext cx="640080" cy="0"/>
          </a:xfrm>
          <a:prstGeom prst="line">
            <a:avLst/>
          </a:prstGeom>
          <a:noFill/>
          <a:ln w="25400">
            <a:solidFill>
              <a:schemeClr val="accent1"/>
            </a:solidFill>
            <a:prstDash val="solid"/>
            <a:tailEnd type="triangle"/>
          </a:ln>
        </p:spPr>
      </p:sp>
      <p:sp>
        <p:nvSpPr>
          <p:cNvPr id="13" name="Text 11"/>
          <p:cNvSpPr txBox="1"/>
          <p:nvPr/>
        </p:nvSpPr>
        <p:spPr>
          <a:xfrm>
            <a:off x="4223342" y="1531803"/>
            <a:ext cx="932688" cy="274320"/>
          </a:xfrm>
          <a:prstGeom prst="rect">
            <a:avLst/>
          </a:prstGeom>
          <a:noFill/>
          <a:ln/>
        </p:spPr>
        <p:txBody>
          <a:bodyPr wrap="square" lIns="0" tIns="0" rIns="0" bIns="0" rtlCol="0" anchor="ctr"/>
          <a:lstStyle/>
          <a:p>
            <a:pPr marL="0" indent="0" algn="ctr">
              <a:buNone/>
            </a:pPr>
            <a:r>
              <a:rPr lang="en-US" sz="1100" i="1" dirty="0">
                <a:solidFill>
                  <a:schemeClr val="accent1"/>
                </a:solidFill>
              </a:rPr>
              <a:t>supports</a:t>
            </a:r>
            <a:endParaRPr lang="en-US" sz="1100" dirty="0"/>
          </a:p>
        </p:txBody>
      </p:sp>
      <p:sp>
        <p:nvSpPr>
          <p:cNvPr id="14" name="Shape 12"/>
          <p:cNvSpPr/>
          <p:nvPr/>
        </p:nvSpPr>
        <p:spPr>
          <a:xfrm>
            <a:off x="1438994" y="2290755"/>
            <a:ext cx="0" cy="320040"/>
          </a:xfrm>
          <a:prstGeom prst="line">
            <a:avLst/>
          </a:prstGeom>
          <a:noFill/>
          <a:ln w="25400">
            <a:solidFill>
              <a:schemeClr val="accent3"/>
            </a:solidFill>
            <a:prstDash val="dash"/>
          </a:ln>
        </p:spPr>
      </p:sp>
      <p:sp>
        <p:nvSpPr>
          <p:cNvPr id="15" name="Shape 13"/>
          <p:cNvSpPr/>
          <p:nvPr/>
        </p:nvSpPr>
        <p:spPr>
          <a:xfrm>
            <a:off x="1438994" y="2610795"/>
            <a:ext cx="4334256" cy="0"/>
          </a:xfrm>
          <a:prstGeom prst="line">
            <a:avLst/>
          </a:prstGeom>
          <a:noFill/>
          <a:ln w="25400">
            <a:solidFill>
              <a:schemeClr val="accent3"/>
            </a:solidFill>
            <a:prstDash val="dash"/>
          </a:ln>
        </p:spPr>
      </p:sp>
      <p:sp>
        <p:nvSpPr>
          <p:cNvPr id="16" name="Shape 14"/>
          <p:cNvSpPr/>
          <p:nvPr/>
        </p:nvSpPr>
        <p:spPr>
          <a:xfrm flipV="1">
            <a:off x="5773250" y="2290755"/>
            <a:ext cx="0" cy="320040"/>
          </a:xfrm>
          <a:prstGeom prst="line">
            <a:avLst/>
          </a:prstGeom>
          <a:noFill/>
          <a:ln w="25400">
            <a:solidFill>
              <a:schemeClr val="accent3"/>
            </a:solidFill>
            <a:prstDash val="dash"/>
            <a:tailEnd type="triangle"/>
          </a:ln>
        </p:spPr>
      </p:sp>
      <p:sp>
        <p:nvSpPr>
          <p:cNvPr id="17" name="Text 15"/>
          <p:cNvSpPr txBox="1"/>
          <p:nvPr/>
        </p:nvSpPr>
        <p:spPr>
          <a:xfrm>
            <a:off x="2353394" y="2656515"/>
            <a:ext cx="2743200" cy="274320"/>
          </a:xfrm>
          <a:prstGeom prst="rect">
            <a:avLst/>
          </a:prstGeom>
          <a:noFill/>
          <a:ln/>
        </p:spPr>
        <p:txBody>
          <a:bodyPr wrap="square" lIns="0" tIns="0" rIns="0" bIns="0" rtlCol="0" anchor="ctr"/>
          <a:lstStyle/>
          <a:p>
            <a:pPr marL="0" indent="0" algn="ctr">
              <a:buNone/>
            </a:pPr>
            <a:r>
              <a:rPr lang="en-US" sz="1200" i="1" dirty="0">
                <a:solidFill>
                  <a:schemeClr val="accent3"/>
                </a:solidFill>
              </a:rPr>
              <a:t>inferred: </a:t>
            </a:r>
            <a:r>
              <a:rPr lang="en-US" sz="1200" b="1" i="1" dirty="0">
                <a:solidFill>
                  <a:schemeClr val="accent3"/>
                </a:solidFill>
              </a:rPr>
              <a:t>threatens</a:t>
            </a:r>
            <a:endParaRPr lang="en-US" sz="1200" dirty="0"/>
          </a:p>
        </p:txBody>
      </p:sp>
      <p:sp>
        <p:nvSpPr>
          <p:cNvPr id="18" name="Property chain"/>
          <p:cNvSpPr txBox="1"/>
          <p:nvPr/>
        </p:nvSpPr>
        <p:spPr>
          <a:xfrm>
            <a:off x="730334" y="3159435"/>
            <a:ext cx="5760720" cy="365760"/>
          </a:xfrm>
          <a:prstGeom prst="rect">
            <a:avLst/>
          </a:prstGeom>
          <a:noFill/>
          <a:ln/>
        </p:spPr>
        <p:txBody>
          <a:bodyPr wrap="square" lIns="0" tIns="0" rIns="0" bIns="0" rtlCol="0" anchor="ctr"/>
          <a:lstStyle/>
          <a:p>
            <a:pPr marL="0" indent="0">
              <a:buNone/>
            </a:pPr>
            <a:r>
              <a:rPr lang="en-US" sz="1600" b="1" dirty="0">
                <a:solidFill>
                  <a:schemeClr val="tx2"/>
                </a:solidFill>
              </a:rPr>
              <a:t>saturates ∘ supports ⊑ threatens</a:t>
            </a:r>
            <a:endParaRPr lang="en-US" sz="1600" dirty="0"/>
          </a:p>
        </p:txBody>
      </p:sp>
      <p:sp>
        <p:nvSpPr>
          <p:cNvPr id="19" name="Text 17"/>
          <p:cNvSpPr txBox="1"/>
          <p:nvPr/>
        </p:nvSpPr>
        <p:spPr>
          <a:xfrm>
            <a:off x="730334" y="3570915"/>
            <a:ext cx="5760720" cy="914400"/>
          </a:xfrm>
          <a:prstGeom prst="rect">
            <a:avLst/>
          </a:prstGeom>
          <a:noFill/>
          <a:ln/>
        </p:spPr>
        <p:txBody>
          <a:bodyPr wrap="square" lIns="0" tIns="0" rIns="0" bIns="0" rtlCol="0" anchor="t"/>
          <a:lstStyle/>
          <a:p>
            <a:pPr marL="0" indent="0">
              <a:buNone/>
            </a:pPr>
            <a:r>
              <a:rPr lang="en-US" sz="1400" dirty="0">
                <a:solidFill>
                  <a:schemeClr val="tx1"/>
                </a:solidFill>
              </a:rPr>
              <a:t>If a flow saturates a link and the link supports a service, the flow threatens the service. Nobody declares that DNS is at risk: the reasoner concludes it.</a:t>
            </a:r>
            <a:endParaRPr lang="en-US" sz="1400" dirty="0"/>
          </a:p>
        </p:txBody>
      </p:sp>
      <p:sp>
        <p:nvSpPr>
          <p:cNvPr id="20" name="Text 18"/>
          <p:cNvSpPr txBox="1"/>
          <p:nvPr/>
        </p:nvSpPr>
        <p:spPr>
          <a:xfrm>
            <a:off x="6948254" y="1010595"/>
            <a:ext cx="5029200" cy="274320"/>
          </a:xfrm>
          <a:prstGeom prst="rect">
            <a:avLst/>
          </a:prstGeom>
          <a:noFill/>
          <a:ln/>
        </p:spPr>
        <p:txBody>
          <a:bodyPr wrap="square" lIns="0" tIns="0" rIns="0" bIns="0" rtlCol="0" anchor="ctr"/>
          <a:lstStyle/>
          <a:p>
            <a:pPr marL="0" indent="0">
              <a:buNone/>
            </a:pPr>
            <a:r>
              <a:rPr lang="en-US" sz="1200" b="1" kern="0" spc="200" dirty="0">
                <a:solidFill>
                  <a:schemeClr val="accent5"/>
                </a:solidFill>
              </a:rPr>
              <a:t>ADVANTAGES OVER IP BLOCKING</a:t>
            </a:r>
            <a:endParaRPr lang="en-US" sz="1200" dirty="0"/>
          </a:p>
        </p:txBody>
      </p:sp>
      <p:sp>
        <p:nvSpPr>
          <p:cNvPr id="21" name="Context awareness"/>
          <p:cNvSpPr/>
          <p:nvPr/>
        </p:nvSpPr>
        <p:spPr>
          <a:xfrm>
            <a:off x="6948254" y="1376355"/>
            <a:ext cx="2450592" cy="1828800"/>
          </a:xfrm>
          <a:prstGeom prst="roundRect">
            <a:avLst>
              <a:gd name="adj" fmla="val 6000"/>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2" name="Shape 20"/>
          <p:cNvSpPr/>
          <p:nvPr/>
        </p:nvSpPr>
        <p:spPr>
          <a:xfrm>
            <a:off x="7131134" y="1577523"/>
            <a:ext cx="365760" cy="365760"/>
          </a:xfrm>
          <a:prstGeom prst="ellipse">
            <a:avLst/>
          </a:prstGeom>
          <a:solidFill>
            <a:schemeClr val="accent1"/>
          </a:solidFill>
          <a:ln w="12700">
            <a:solidFill>
              <a:schemeClr val="accent1"/>
            </a:solidFill>
            <a:prstDash val="solid"/>
          </a:ln>
        </p:spPr>
      </p:sp>
      <p:sp>
        <p:nvSpPr>
          <p:cNvPr id="23" name="Text 21"/>
          <p:cNvSpPr txBox="1"/>
          <p:nvPr/>
        </p:nvSpPr>
        <p:spPr>
          <a:xfrm>
            <a:off x="7131134" y="1577523"/>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1</a:t>
            </a:r>
            <a:endParaRPr lang="en-US" sz="1300" dirty="0"/>
          </a:p>
        </p:txBody>
      </p:sp>
      <p:sp>
        <p:nvSpPr>
          <p:cNvPr id="24" name="Text 22"/>
          <p:cNvSpPr txBox="1"/>
          <p:nvPr/>
        </p:nvSpPr>
        <p:spPr>
          <a:xfrm>
            <a:off x="7606622" y="1486083"/>
            <a:ext cx="1673352" cy="548640"/>
          </a:xfrm>
          <a:prstGeom prst="rect">
            <a:avLst/>
          </a:prstGeom>
          <a:noFill/>
          <a:ln/>
        </p:spPr>
        <p:txBody>
          <a:bodyPr wrap="square" lIns="0" tIns="0" rIns="0" bIns="0" rtlCol="0" anchor="ctr"/>
          <a:lstStyle/>
          <a:p>
            <a:pPr marL="0" indent="0">
              <a:buNone/>
            </a:pPr>
            <a:r>
              <a:rPr lang="en-US" sz="1500" b="1" dirty="0">
                <a:solidFill>
                  <a:schemeClr val="tx2"/>
                </a:solidFill>
              </a:rPr>
              <a:t>Context awareness</a:t>
            </a:r>
            <a:endParaRPr lang="en-US" sz="1500" dirty="0"/>
          </a:p>
        </p:txBody>
      </p:sp>
      <p:sp>
        <p:nvSpPr>
          <p:cNvPr id="25" name="Text 23"/>
          <p:cNvSpPr txBox="1"/>
          <p:nvPr/>
        </p:nvSpPr>
        <p:spPr>
          <a:xfrm>
            <a:off x="7131134" y="2153595"/>
            <a:ext cx="2084832" cy="914400"/>
          </a:xfrm>
          <a:prstGeom prst="rect">
            <a:avLst/>
          </a:prstGeom>
          <a:noFill/>
          <a:ln/>
        </p:spPr>
        <p:txBody>
          <a:bodyPr wrap="square" lIns="0" tIns="0" rIns="0" bIns="0" rtlCol="0" anchor="t"/>
          <a:lstStyle/>
          <a:p>
            <a:pPr marL="0" indent="0">
              <a:buNone/>
            </a:pPr>
            <a:r>
              <a:rPr lang="en-US" sz="1400" dirty="0">
                <a:solidFill>
                  <a:schemeClr val="tx1"/>
                </a:solidFill>
              </a:rPr>
              <a:t>If the source AS has a cooperation agreement, ask it to filter at source instead of just blocking.</a:t>
            </a:r>
            <a:endParaRPr lang="en-US" sz="1400" dirty="0"/>
          </a:p>
        </p:txBody>
      </p:sp>
      <p:sp>
        <p:nvSpPr>
          <p:cNvPr id="26" name="Mereological resilience"/>
          <p:cNvSpPr/>
          <p:nvPr/>
        </p:nvSpPr>
        <p:spPr>
          <a:xfrm>
            <a:off x="9581726" y="1376355"/>
            <a:ext cx="2450592" cy="1828800"/>
          </a:xfrm>
          <a:prstGeom prst="roundRect">
            <a:avLst>
              <a:gd name="adj" fmla="val 6000"/>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27" name="Shape 25"/>
          <p:cNvSpPr/>
          <p:nvPr/>
        </p:nvSpPr>
        <p:spPr>
          <a:xfrm>
            <a:off x="9764606" y="1577523"/>
            <a:ext cx="365760" cy="365760"/>
          </a:xfrm>
          <a:prstGeom prst="ellipse">
            <a:avLst/>
          </a:prstGeom>
          <a:solidFill>
            <a:schemeClr val="accent1"/>
          </a:solidFill>
          <a:ln w="12700">
            <a:solidFill>
              <a:schemeClr val="accent1"/>
            </a:solidFill>
            <a:prstDash val="solid"/>
          </a:ln>
        </p:spPr>
      </p:sp>
      <p:sp>
        <p:nvSpPr>
          <p:cNvPr id="28" name="Text 26"/>
          <p:cNvSpPr txBox="1"/>
          <p:nvPr/>
        </p:nvSpPr>
        <p:spPr>
          <a:xfrm>
            <a:off x="9764606" y="1577523"/>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2</a:t>
            </a:r>
            <a:endParaRPr lang="en-US" sz="1300" dirty="0"/>
          </a:p>
        </p:txBody>
      </p:sp>
      <p:sp>
        <p:nvSpPr>
          <p:cNvPr id="29" name="Text 27"/>
          <p:cNvSpPr txBox="1"/>
          <p:nvPr/>
        </p:nvSpPr>
        <p:spPr>
          <a:xfrm>
            <a:off x="10240094" y="1486083"/>
            <a:ext cx="1673352" cy="548640"/>
          </a:xfrm>
          <a:prstGeom prst="rect">
            <a:avLst/>
          </a:prstGeom>
          <a:noFill/>
          <a:ln/>
        </p:spPr>
        <p:txBody>
          <a:bodyPr wrap="square" lIns="0" tIns="0" rIns="0" bIns="0" rtlCol="0" anchor="ctr"/>
          <a:lstStyle/>
          <a:p>
            <a:pPr marL="0" indent="0">
              <a:buNone/>
            </a:pPr>
            <a:r>
              <a:rPr lang="en-US" sz="1500" b="1" dirty="0">
                <a:solidFill>
                  <a:schemeClr val="tx2"/>
                </a:solidFill>
              </a:rPr>
              <a:t>Mereological resilience</a:t>
            </a:r>
            <a:endParaRPr lang="en-US" sz="1500" dirty="0"/>
          </a:p>
        </p:txBody>
      </p:sp>
      <p:sp>
        <p:nvSpPr>
          <p:cNvPr id="30" name="Text 28"/>
          <p:cNvSpPr txBox="1"/>
          <p:nvPr/>
        </p:nvSpPr>
        <p:spPr>
          <a:xfrm>
            <a:off x="9764606" y="2153595"/>
            <a:ext cx="2084832" cy="914400"/>
          </a:xfrm>
          <a:prstGeom prst="rect">
            <a:avLst/>
          </a:prstGeom>
          <a:noFill/>
          <a:ln/>
        </p:spPr>
        <p:txBody>
          <a:bodyPr wrap="square" lIns="0" tIns="0" rIns="0" bIns="0" rtlCol="0" anchor="t"/>
          <a:lstStyle/>
          <a:p>
            <a:pPr marL="0" indent="0">
              <a:buNone/>
            </a:pPr>
            <a:r>
              <a:rPr lang="en-US" sz="1400" dirty="0">
                <a:solidFill>
                  <a:schemeClr val="tx1"/>
                </a:solidFill>
              </a:rPr>
              <a:t>The model knows the parts of the network and their roles: sacrifice non-vital channels, keep DNS.</a:t>
            </a:r>
            <a:endParaRPr lang="en-US" sz="1400" dirty="0"/>
          </a:p>
        </p:txBody>
      </p:sp>
      <p:sp>
        <p:nvSpPr>
          <p:cNvPr id="31" name="Traceability"/>
          <p:cNvSpPr/>
          <p:nvPr/>
        </p:nvSpPr>
        <p:spPr>
          <a:xfrm>
            <a:off x="6948254" y="3388035"/>
            <a:ext cx="2450592" cy="1828800"/>
          </a:xfrm>
          <a:prstGeom prst="roundRect">
            <a:avLst>
              <a:gd name="adj" fmla="val 6000"/>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32" name="Shape 30"/>
          <p:cNvSpPr/>
          <p:nvPr/>
        </p:nvSpPr>
        <p:spPr>
          <a:xfrm>
            <a:off x="7131134" y="3589203"/>
            <a:ext cx="365760" cy="365760"/>
          </a:xfrm>
          <a:prstGeom prst="ellipse">
            <a:avLst/>
          </a:prstGeom>
          <a:solidFill>
            <a:schemeClr val="accent1"/>
          </a:solidFill>
          <a:ln w="12700">
            <a:solidFill>
              <a:schemeClr val="accent1"/>
            </a:solidFill>
            <a:prstDash val="solid"/>
          </a:ln>
        </p:spPr>
      </p:sp>
      <p:sp>
        <p:nvSpPr>
          <p:cNvPr id="33" name="Text 31"/>
          <p:cNvSpPr txBox="1"/>
          <p:nvPr/>
        </p:nvSpPr>
        <p:spPr>
          <a:xfrm>
            <a:off x="7131134" y="3589203"/>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3</a:t>
            </a:r>
            <a:endParaRPr lang="en-US" sz="1300" dirty="0"/>
          </a:p>
        </p:txBody>
      </p:sp>
      <p:sp>
        <p:nvSpPr>
          <p:cNvPr id="34" name="Text 32"/>
          <p:cNvSpPr txBox="1"/>
          <p:nvPr/>
        </p:nvSpPr>
        <p:spPr>
          <a:xfrm>
            <a:off x="7606622" y="3497763"/>
            <a:ext cx="1673352" cy="548640"/>
          </a:xfrm>
          <a:prstGeom prst="rect">
            <a:avLst/>
          </a:prstGeom>
          <a:noFill/>
          <a:ln/>
        </p:spPr>
        <p:txBody>
          <a:bodyPr wrap="square" lIns="0" tIns="0" rIns="0" bIns="0" rtlCol="0" anchor="ctr"/>
          <a:lstStyle/>
          <a:p>
            <a:pPr marL="0" indent="0">
              <a:buNone/>
            </a:pPr>
            <a:r>
              <a:rPr lang="en-US" sz="1500" b="1" dirty="0">
                <a:solidFill>
                  <a:schemeClr val="tx2"/>
                </a:solidFill>
              </a:rPr>
              <a:t>Traceability</a:t>
            </a:r>
            <a:endParaRPr lang="en-US" sz="1500" dirty="0"/>
          </a:p>
        </p:txBody>
      </p:sp>
      <p:sp>
        <p:nvSpPr>
          <p:cNvPr id="35" name="Text 33"/>
          <p:cNvSpPr txBox="1"/>
          <p:nvPr/>
        </p:nvSpPr>
        <p:spPr>
          <a:xfrm>
            <a:off x="7131134" y="4165275"/>
            <a:ext cx="2084832" cy="914400"/>
          </a:xfrm>
          <a:prstGeom prst="rect">
            <a:avLst/>
          </a:prstGeom>
          <a:noFill/>
          <a:ln/>
        </p:spPr>
        <p:txBody>
          <a:bodyPr wrap="square" lIns="0" tIns="0" rIns="0" bIns="0" rtlCol="0" anchor="t"/>
          <a:lstStyle/>
          <a:p>
            <a:pPr marL="0" indent="0">
              <a:buNone/>
            </a:pPr>
            <a:r>
              <a:rPr lang="en-US" sz="1400" dirty="0">
                <a:solidFill>
                  <a:schemeClr val="tx1"/>
                </a:solidFill>
              </a:rPr>
              <a:t>Every action is explained by the axioms that justified it.</a:t>
            </a:r>
            <a:endParaRPr lang="en-US" sz="1400" dirty="0"/>
          </a:p>
        </p:txBody>
      </p:sp>
      <p:sp>
        <p:nvSpPr>
          <p:cNvPr id="36" name="Compliance"/>
          <p:cNvSpPr/>
          <p:nvPr/>
        </p:nvSpPr>
        <p:spPr>
          <a:xfrm>
            <a:off x="9581726" y="3388035"/>
            <a:ext cx="2450592" cy="1828800"/>
          </a:xfrm>
          <a:prstGeom prst="roundRect">
            <a:avLst>
              <a:gd name="adj" fmla="val 6000"/>
            </a:avLst>
          </a:prstGeom>
          <a:solidFill>
            <a:schemeClr val="bg2"/>
          </a:solidFill>
          <a:ln w="12700">
            <a:solidFill>
              <a:schemeClr val="bg2"/>
            </a:solidFill>
            <a:prstDash val="solid"/>
          </a:ln>
          <a:effectLst>
            <a:outerShdw blurRad="76200" dist="25400" dir="5400000" algn="bl" rotWithShape="0">
              <a:srgbClr val="1B2A3A">
                <a:alpha val="15000"/>
              </a:srgbClr>
            </a:outerShdw>
          </a:effectLst>
        </p:spPr>
      </p:sp>
      <p:sp>
        <p:nvSpPr>
          <p:cNvPr id="37" name="Shape 35"/>
          <p:cNvSpPr/>
          <p:nvPr/>
        </p:nvSpPr>
        <p:spPr>
          <a:xfrm>
            <a:off x="9764606" y="3589203"/>
            <a:ext cx="365760" cy="365760"/>
          </a:xfrm>
          <a:prstGeom prst="ellipse">
            <a:avLst/>
          </a:prstGeom>
          <a:solidFill>
            <a:schemeClr val="accent1"/>
          </a:solidFill>
          <a:ln w="12700">
            <a:solidFill>
              <a:schemeClr val="accent1"/>
            </a:solidFill>
            <a:prstDash val="solid"/>
          </a:ln>
        </p:spPr>
      </p:sp>
      <p:sp>
        <p:nvSpPr>
          <p:cNvPr id="38" name="Text 36"/>
          <p:cNvSpPr txBox="1"/>
          <p:nvPr/>
        </p:nvSpPr>
        <p:spPr>
          <a:xfrm>
            <a:off x="9764606" y="3589203"/>
            <a:ext cx="365760" cy="365760"/>
          </a:xfrm>
          <a:prstGeom prst="rect">
            <a:avLst/>
          </a:prstGeom>
          <a:noFill/>
          <a:ln/>
        </p:spPr>
        <p:txBody>
          <a:bodyPr wrap="square" lIns="0" tIns="0" rIns="0" bIns="0" rtlCol="0" anchor="ctr"/>
          <a:lstStyle/>
          <a:p>
            <a:pPr marL="0" indent="0" algn="ctr">
              <a:buNone/>
            </a:pPr>
            <a:r>
              <a:rPr lang="en-US" sz="1300" b="1" dirty="0">
                <a:solidFill>
                  <a:schemeClr val="bg1"/>
                </a:solidFill>
              </a:rPr>
              <a:t>4</a:t>
            </a:r>
            <a:endParaRPr lang="en-US" sz="1300" dirty="0"/>
          </a:p>
        </p:txBody>
      </p:sp>
      <p:sp>
        <p:nvSpPr>
          <p:cNvPr id="39" name="Text 37"/>
          <p:cNvSpPr txBox="1"/>
          <p:nvPr/>
        </p:nvSpPr>
        <p:spPr>
          <a:xfrm>
            <a:off x="10240094" y="3497763"/>
            <a:ext cx="1673352" cy="548640"/>
          </a:xfrm>
          <a:prstGeom prst="rect">
            <a:avLst/>
          </a:prstGeom>
          <a:noFill/>
          <a:ln/>
        </p:spPr>
        <p:txBody>
          <a:bodyPr wrap="square" lIns="0" tIns="0" rIns="0" bIns="0" rtlCol="0" anchor="ctr"/>
          <a:lstStyle/>
          <a:p>
            <a:pPr marL="0" indent="0">
              <a:buNone/>
            </a:pPr>
            <a:r>
              <a:rPr lang="en-US" sz="1500" b="1" dirty="0">
                <a:solidFill>
                  <a:schemeClr val="tx2"/>
                </a:solidFill>
              </a:rPr>
              <a:t>Compliance</a:t>
            </a:r>
            <a:endParaRPr lang="en-US" sz="1500" dirty="0"/>
          </a:p>
        </p:txBody>
      </p:sp>
      <p:sp>
        <p:nvSpPr>
          <p:cNvPr id="40" name="Text 38"/>
          <p:cNvSpPr txBox="1"/>
          <p:nvPr/>
        </p:nvSpPr>
        <p:spPr>
          <a:xfrm>
            <a:off x="9764606" y="4165275"/>
            <a:ext cx="2084832" cy="914400"/>
          </a:xfrm>
          <a:prstGeom prst="rect">
            <a:avLst/>
          </a:prstGeom>
          <a:noFill/>
          <a:ln/>
        </p:spPr>
        <p:txBody>
          <a:bodyPr wrap="square" lIns="0" tIns="0" rIns="0" bIns="0" rtlCol="0" anchor="t"/>
          <a:lstStyle/>
          <a:p>
            <a:pPr marL="0" indent="0">
              <a:buNone/>
            </a:pPr>
            <a:r>
              <a:rPr lang="en-US" sz="1400" dirty="0">
                <a:solidFill>
                  <a:schemeClr val="tx1"/>
                </a:solidFill>
              </a:rPr>
              <a:t>No configuration is applied before it is validated against the compliance regime (Use Case I).</a:t>
            </a:r>
            <a:endParaRPr lang="en-US" sz="1400" dirty="0"/>
          </a:p>
        </p:txBody>
      </p:sp>
      <p:sp>
        <p:nvSpPr>
          <p:cNvPr id="41" name="Takeaway"/>
          <p:cNvSpPr/>
          <p:nvPr/>
        </p:nvSpPr>
        <p:spPr>
          <a:xfrm>
            <a:off x="730334" y="5628315"/>
            <a:ext cx="11274552" cy="594360"/>
          </a:xfrm>
          <a:prstGeom prst="roundRect">
            <a:avLst>
              <a:gd name="adj" fmla="val 15385"/>
            </a:avLst>
          </a:prstGeom>
          <a:solidFill>
            <a:schemeClr val="accent1">
              <a:alpha val="15000"/>
            </a:schemeClr>
          </a:solidFill>
          <a:ln w="12700">
            <a:solidFill>
              <a:schemeClr val="accent1"/>
            </a:solidFill>
            <a:prstDash val="solid"/>
          </a:ln>
        </p:spPr>
      </p:sp>
      <p:sp>
        <p:nvSpPr>
          <p:cNvPr id="42" name="Text 40"/>
          <p:cNvSpPr txBox="1"/>
          <p:nvPr/>
        </p:nvSpPr>
        <p:spPr>
          <a:xfrm>
            <a:off x="913214" y="5628315"/>
            <a:ext cx="10881360" cy="594360"/>
          </a:xfrm>
          <a:prstGeom prst="rect">
            <a:avLst/>
          </a:prstGeom>
          <a:noFill/>
          <a:ln/>
        </p:spPr>
        <p:txBody>
          <a:bodyPr wrap="square" lIns="0" tIns="0" rIns="0" bIns="0" rtlCol="0" anchor="ctr"/>
          <a:lstStyle/>
          <a:p>
            <a:pPr marL="0" indent="0">
              <a:buNone/>
            </a:pPr>
            <a:r>
              <a:rPr lang="en-US" sz="1600" b="1" dirty="0">
                <a:solidFill>
                  <a:schemeClr val="accent1"/>
                </a:solidFill>
              </a:rPr>
              <a:t>Takeaway: </a:t>
            </a:r>
            <a:r>
              <a:rPr lang="en-US" sz="1600" dirty="0">
                <a:solidFill>
                  <a:schemeClr val="tx1"/>
                </a:solidFill>
              </a:rPr>
              <a:t>the defence knows what is at stake and why it acts, not just which IPs to block.</a:t>
            </a:r>
            <a:endParaRPr lang="en-US" sz="1600" dirty="0"/>
          </a:p>
        </p:txBody>
      </p:sp>
      <p:sp>
        <p:nvSpPr>
          <p:cNvPr id="45" name="CaixaDeTexto 44">
            <a:extLst>
              <a:ext uri="{FF2B5EF4-FFF2-40B4-BE49-F238E27FC236}">
                <a16:creationId xmlns:a16="http://schemas.microsoft.com/office/drawing/2014/main" id="{4518B934-686D-A851-A150-80ED1B11AD7C}"/>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47" name="Slide Number Placeholder 0">
            <a:extLst>
              <a:ext uri="{FF2B5EF4-FFF2-40B4-BE49-F238E27FC236}">
                <a16:creationId xmlns:a16="http://schemas.microsoft.com/office/drawing/2014/main" id="{1E97173D-F7FF-ABEF-4D00-E5B162C8142F}"/>
              </a:ext>
            </a:extLst>
          </p:cNvPr>
          <p:cNvSpPr txBox="1">
            <a:spLocks/>
          </p:cNvSpPr>
          <p:nvPr/>
        </p:nvSpPr>
        <p:spPr>
          <a:xfrm>
            <a:off x="138001" y="6502518"/>
            <a:ext cx="457200" cy="274320"/>
          </a:xfrm>
          <a:prstGeom prst="rect">
            <a:avLst/>
          </a:prstGeom>
          <a:extLst>
            <a:ext uri="{C572A759-6A51-4108-AA02-DFA0A04FC94B}">
              <ma14:wrappingTextBoxFlag xmlns:ma14="http://schemas.microsoft.com/office/mac/drawingml/2011/main" xmlns=""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21</a:t>
            </a:fld>
            <a:endParaRPr lang="en-US" dirty="0">
              <a:solidFill>
                <a:srgbClr val="0070C0"/>
              </a:solidFill>
            </a:endParaRPr>
          </a:p>
        </p:txBody>
      </p:sp>
      <p:pic>
        <p:nvPicPr>
          <p:cNvPr id="49" name="Imagem 48" descr="Logo CGI.br">
            <a:extLst>
              <a:ext uri="{FF2B5EF4-FFF2-40B4-BE49-F238E27FC236}">
                <a16:creationId xmlns:a16="http://schemas.microsoft.com/office/drawing/2014/main" id="{EB28D2F2-20C0-59C3-CA0E-88AEA648B4AC}"/>
              </a:ext>
            </a:extLst>
          </p:cNvPr>
          <p:cNvPicPr>
            <a:picLocks noChangeAspect="1"/>
          </p:cNvPicPr>
          <p:nvPr/>
        </p:nvPicPr>
        <p:blipFill>
          <a:blip r:embed="rId3"/>
          <a:stretch>
            <a:fillRect/>
          </a:stretch>
        </p:blipFill>
        <p:spPr>
          <a:xfrm>
            <a:off x="10803749" y="6250375"/>
            <a:ext cx="1057275" cy="609600"/>
          </a:xfrm>
          <a:prstGeom prst="rect">
            <a:avLst/>
          </a:prstGeom>
        </p:spPr>
      </p:pic>
      <p:sp>
        <p:nvSpPr>
          <p:cNvPr id="51" name="CaixaDeTexto 50">
            <a:extLst>
              <a:ext uri="{FF2B5EF4-FFF2-40B4-BE49-F238E27FC236}">
                <a16:creationId xmlns:a16="http://schemas.microsoft.com/office/drawing/2014/main" id="{FD51BF71-7DA3-7D5E-AD52-0F41915AA4ED}"/>
              </a:ext>
            </a:extLst>
          </p:cNvPr>
          <p:cNvSpPr txBox="1"/>
          <p:nvPr/>
        </p:nvSpPr>
        <p:spPr>
          <a:xfrm>
            <a:off x="12895" y="3936675"/>
            <a:ext cx="779380" cy="1200329"/>
          </a:xfrm>
          <a:prstGeom prst="rect">
            <a:avLst/>
          </a:prstGeom>
          <a:noFill/>
        </p:spPr>
        <p:txBody>
          <a:bodyPr wrap="none" rtlCol="0">
            <a:spAutoFit/>
          </a:bodyPr>
          <a:lstStyle/>
          <a:p>
            <a:pPr algn="ctr"/>
            <a:r>
              <a:rPr lang="pt-BR" sz="2400" b="1" dirty="0">
                <a:solidFill>
                  <a:schemeClr val="accent4">
                    <a:lumMod val="75000"/>
                  </a:schemeClr>
                </a:solidFill>
              </a:rPr>
              <a:t>Use</a:t>
            </a:r>
            <a:br>
              <a:rPr lang="pt-BR" sz="2400" b="1" dirty="0">
                <a:solidFill>
                  <a:schemeClr val="accent4">
                    <a:lumMod val="75000"/>
                  </a:schemeClr>
                </a:solidFill>
              </a:rPr>
            </a:br>
            <a:r>
              <a:rPr lang="pt-BR" sz="2400" b="1" dirty="0">
                <a:solidFill>
                  <a:schemeClr val="accent4">
                    <a:lumMod val="75000"/>
                  </a:schemeClr>
                </a:solidFill>
              </a:rPr>
              <a:t>Case</a:t>
            </a:r>
            <a:br>
              <a:rPr lang="pt-BR" sz="2400" b="1" dirty="0">
                <a:solidFill>
                  <a:schemeClr val="accent4">
                    <a:lumMod val="75000"/>
                  </a:schemeClr>
                </a:solidFill>
              </a:rPr>
            </a:br>
            <a:r>
              <a:rPr lang="pt-BR" sz="2400" b="1" dirty="0">
                <a:solidFill>
                  <a:schemeClr val="accent4">
                    <a:lumMod val="75000"/>
                  </a:schemeClr>
                </a:solidFill>
              </a:rPr>
              <a:t>(II)</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BAC03-9BB0-A2E7-EB91-288C9AA8FD48}"/>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BB1CA3CE-C619-1970-1989-D79D2B111320}"/>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4" name="CaixaDeTexto 3">
            <a:extLst>
              <a:ext uri="{FF2B5EF4-FFF2-40B4-BE49-F238E27FC236}">
                <a16:creationId xmlns:a16="http://schemas.microsoft.com/office/drawing/2014/main" id="{83D11B92-D0EA-D413-8F5E-A66B1A0B5848}"/>
              </a:ext>
            </a:extLst>
          </p:cNvPr>
          <p:cNvSpPr txBox="1"/>
          <p:nvPr/>
        </p:nvSpPr>
        <p:spPr>
          <a:xfrm>
            <a:off x="378476" y="6324393"/>
            <a:ext cx="3742874" cy="369332"/>
          </a:xfrm>
          <a:prstGeom prst="rect">
            <a:avLst/>
          </a:prstGeom>
          <a:noFill/>
        </p:spPr>
        <p:txBody>
          <a:bodyPr wrap="square">
            <a:spAutoFit/>
          </a:bodyPr>
          <a:lstStyle/>
          <a:p>
            <a:r>
              <a:rPr lang="pt-BR" b="1" dirty="0">
                <a:solidFill>
                  <a:srgbClr val="002060"/>
                </a:solidFill>
              </a:rPr>
              <a:t>IFSPe, ITA, UFABC, UFRGS, UNICAP</a:t>
            </a:r>
          </a:p>
        </p:txBody>
      </p:sp>
      <p:sp>
        <p:nvSpPr>
          <p:cNvPr id="5" name="CaixaDeTexto 4">
            <a:extLst>
              <a:ext uri="{FF2B5EF4-FFF2-40B4-BE49-F238E27FC236}">
                <a16:creationId xmlns:a16="http://schemas.microsoft.com/office/drawing/2014/main" id="{EE46A0CC-56C5-B68B-44DA-2C0F899F8489}"/>
              </a:ext>
            </a:extLst>
          </p:cNvPr>
          <p:cNvSpPr txBox="1"/>
          <p:nvPr/>
        </p:nvSpPr>
        <p:spPr>
          <a:xfrm>
            <a:off x="316049" y="2468572"/>
            <a:ext cx="1933864" cy="461665"/>
          </a:xfrm>
          <a:prstGeom prst="rect">
            <a:avLst/>
          </a:prstGeom>
          <a:noFill/>
        </p:spPr>
        <p:txBody>
          <a:bodyPr wrap="none" rtlCol="0">
            <a:spAutoFit/>
          </a:bodyPr>
          <a:lstStyle/>
          <a:p>
            <a:pPr algn="ctr"/>
            <a:r>
              <a:rPr lang="pt-BR" sz="2400" b="1" dirty="0" err="1">
                <a:solidFill>
                  <a:schemeClr val="accent4">
                    <a:lumMod val="75000"/>
                  </a:schemeClr>
                </a:solidFill>
              </a:rPr>
              <a:t>Contributions</a:t>
            </a:r>
            <a:endParaRPr lang="pt-BR" sz="2400" b="1" dirty="0">
              <a:solidFill>
                <a:schemeClr val="accent4">
                  <a:lumMod val="75000"/>
                </a:schemeClr>
              </a:solidFill>
            </a:endParaRPr>
          </a:p>
        </p:txBody>
      </p:sp>
      <p:sp>
        <p:nvSpPr>
          <p:cNvPr id="7" name="CaixaDeTexto 6">
            <a:extLst>
              <a:ext uri="{FF2B5EF4-FFF2-40B4-BE49-F238E27FC236}">
                <a16:creationId xmlns:a16="http://schemas.microsoft.com/office/drawing/2014/main" id="{E38145AF-4ADC-D20E-02AB-61FF8AA7B251}"/>
              </a:ext>
            </a:extLst>
          </p:cNvPr>
          <p:cNvSpPr txBox="1"/>
          <p:nvPr/>
        </p:nvSpPr>
        <p:spPr>
          <a:xfrm>
            <a:off x="2990158" y="540851"/>
            <a:ext cx="8635785" cy="3936145"/>
          </a:xfrm>
          <a:prstGeom prst="rect">
            <a:avLst/>
          </a:prstGeom>
          <a:noFill/>
        </p:spPr>
        <p:txBody>
          <a:bodyPr wrap="square">
            <a:spAutoFit/>
          </a:bodyPr>
          <a:lstStyle/>
          <a:p>
            <a:pPr marL="285750" indent="-285750" algn="just">
              <a:buFont typeface="Arial" panose="020B0604020202020204" pitchFamily="34" charset="0"/>
              <a:buChar char="•"/>
            </a:pPr>
            <a:r>
              <a:rPr lang="pt-BR" sz="2000" dirty="0" err="1"/>
              <a:t>an</a:t>
            </a:r>
            <a:r>
              <a:rPr lang="pt-BR" sz="2000" dirty="0"/>
              <a:t> </a:t>
            </a:r>
            <a:r>
              <a:rPr lang="pt-BR" sz="2000" dirty="0" err="1"/>
              <a:t>ontology-driven</a:t>
            </a:r>
            <a:r>
              <a:rPr lang="pt-BR" sz="2000" dirty="0"/>
              <a:t> </a:t>
            </a:r>
            <a:r>
              <a:rPr lang="pt-BR" sz="2000" dirty="0" err="1"/>
              <a:t>reference</a:t>
            </a:r>
            <a:r>
              <a:rPr lang="pt-BR" sz="2000" dirty="0"/>
              <a:t> model for II </a:t>
            </a:r>
            <a:r>
              <a:rPr lang="pt-BR" sz="2000" dirty="0" err="1"/>
              <a:t>centred</a:t>
            </a:r>
            <a:r>
              <a:rPr lang="pt-BR" sz="2000" dirty="0"/>
              <a:t> </a:t>
            </a:r>
            <a:r>
              <a:rPr lang="pt-BR" sz="2000" dirty="0" err="1"/>
              <a:t>on</a:t>
            </a:r>
            <a:r>
              <a:rPr lang="pt-BR" sz="2000" dirty="0"/>
              <a:t> Node–Connection–</a:t>
            </a:r>
            <a:r>
              <a:rPr lang="pt-BR" sz="2000" dirty="0" err="1"/>
              <a:t>Channel</a:t>
            </a:r>
            <a:r>
              <a:rPr lang="pt-BR" sz="2000" dirty="0"/>
              <a:t>, </a:t>
            </a:r>
            <a:r>
              <a:rPr lang="pt-BR" sz="2000" dirty="0" err="1"/>
              <a:t>grounded</a:t>
            </a:r>
            <a:r>
              <a:rPr lang="pt-BR" sz="2000" dirty="0"/>
              <a:t> in </a:t>
            </a:r>
            <a:r>
              <a:rPr lang="pt-BR" sz="2000" b="1" dirty="0"/>
              <a:t>UFO</a:t>
            </a:r>
            <a:r>
              <a:rPr lang="pt-BR" sz="2000" dirty="0"/>
              <a:t> and </a:t>
            </a:r>
            <a:r>
              <a:rPr lang="pt-BR" sz="2000" dirty="0" err="1"/>
              <a:t>developed</a:t>
            </a:r>
            <a:r>
              <a:rPr lang="pt-BR" sz="2000" dirty="0"/>
              <a:t> in </a:t>
            </a:r>
            <a:r>
              <a:rPr lang="pt-BR" sz="2000" b="1" dirty="0" err="1"/>
              <a:t>OntoUML</a:t>
            </a:r>
            <a:r>
              <a:rPr lang="pt-BR" sz="2000" dirty="0"/>
              <a:t>;</a:t>
            </a:r>
          </a:p>
          <a:p>
            <a:pPr marL="285750" indent="-285750" algn="just">
              <a:buFont typeface="Arial" panose="020B0604020202020204" pitchFamily="34" charset="0"/>
              <a:buChar char="•"/>
            </a:pPr>
            <a:r>
              <a:rPr lang="pt-BR" sz="2000" dirty="0" err="1"/>
              <a:t>an</a:t>
            </a:r>
            <a:r>
              <a:rPr lang="pt-BR" sz="2000" dirty="0"/>
              <a:t> </a:t>
            </a:r>
            <a:r>
              <a:rPr lang="pt-BR" sz="2000" dirty="0" err="1"/>
              <a:t>operationalisation</a:t>
            </a:r>
            <a:r>
              <a:rPr lang="pt-BR" sz="2000" dirty="0"/>
              <a:t> in </a:t>
            </a:r>
            <a:r>
              <a:rPr lang="pt-BR" sz="2000" b="1" dirty="0"/>
              <a:t>DL/OWL</a:t>
            </a:r>
            <a:r>
              <a:rPr lang="pt-BR" sz="2000" dirty="0"/>
              <a:t> </a:t>
            </a:r>
            <a:r>
              <a:rPr lang="pt-BR" sz="2000" dirty="0" err="1"/>
              <a:t>supporting</a:t>
            </a:r>
            <a:r>
              <a:rPr lang="pt-BR" sz="2000" dirty="0"/>
              <a:t> </a:t>
            </a:r>
            <a:r>
              <a:rPr lang="pt-BR" sz="2000" dirty="0" err="1"/>
              <a:t>automated</a:t>
            </a:r>
            <a:r>
              <a:rPr lang="pt-BR" sz="2000" dirty="0"/>
              <a:t> </a:t>
            </a:r>
            <a:r>
              <a:rPr lang="pt-BR" sz="2000" dirty="0" err="1"/>
              <a:t>reasoning</a:t>
            </a:r>
            <a:r>
              <a:rPr lang="pt-BR" sz="2000" dirty="0"/>
              <a:t> over </a:t>
            </a:r>
            <a:r>
              <a:rPr lang="pt-BR" sz="2000" b="1" dirty="0"/>
              <a:t>TBox</a:t>
            </a:r>
            <a:r>
              <a:rPr lang="pt-BR" sz="2000" dirty="0"/>
              <a:t>, </a:t>
            </a:r>
            <a:r>
              <a:rPr lang="pt-BR" sz="2000" b="1" dirty="0"/>
              <a:t>ABox</a:t>
            </a:r>
            <a:r>
              <a:rPr lang="pt-BR" sz="2000" dirty="0"/>
              <a:t>, and </a:t>
            </a:r>
            <a:r>
              <a:rPr lang="pt-BR" sz="2000" b="1" dirty="0"/>
              <a:t>RBox</a:t>
            </a:r>
            <a:r>
              <a:rPr lang="pt-BR" sz="2000" dirty="0"/>
              <a:t>;</a:t>
            </a:r>
          </a:p>
          <a:p>
            <a:pPr marL="285750" indent="-285750" algn="just">
              <a:buFont typeface="Arial" panose="020B0604020202020204" pitchFamily="34" charset="0"/>
              <a:buChar char="•"/>
            </a:pPr>
            <a:r>
              <a:rPr lang="pt-BR" sz="2000" dirty="0"/>
              <a:t>a </a:t>
            </a:r>
            <a:r>
              <a:rPr lang="pt-BR" sz="2000" dirty="0" err="1"/>
              <a:t>synchronisation</a:t>
            </a:r>
            <a:r>
              <a:rPr lang="pt-BR" sz="2000" dirty="0"/>
              <a:t> approach </a:t>
            </a:r>
            <a:r>
              <a:rPr lang="pt-BR" sz="2000" dirty="0" err="1"/>
              <a:t>aligning</a:t>
            </a:r>
            <a:r>
              <a:rPr lang="pt-BR" sz="2000" dirty="0"/>
              <a:t> </a:t>
            </a:r>
            <a:r>
              <a:rPr lang="pt-BR" sz="2000" dirty="0" err="1"/>
              <a:t>the</a:t>
            </a:r>
            <a:r>
              <a:rPr lang="pt-BR" sz="2000" dirty="0"/>
              <a:t> KG with model-</a:t>
            </a:r>
            <a:r>
              <a:rPr lang="pt-BR" sz="2000" dirty="0" err="1"/>
              <a:t>driven</a:t>
            </a:r>
            <a:r>
              <a:rPr lang="pt-BR" sz="2000" dirty="0"/>
              <a:t> </a:t>
            </a:r>
            <a:r>
              <a:rPr lang="pt-BR" sz="2000" dirty="0" err="1"/>
              <a:t>telemetry</a:t>
            </a:r>
            <a:r>
              <a:rPr lang="pt-BR" sz="2000" dirty="0"/>
              <a:t> (e.g., </a:t>
            </a:r>
            <a:r>
              <a:rPr lang="pt-BR" sz="2000" b="1" dirty="0"/>
              <a:t>YANG-</a:t>
            </a:r>
            <a:r>
              <a:rPr lang="pt-BR" sz="2000" b="1" dirty="0" err="1"/>
              <a:t>Push</a:t>
            </a:r>
            <a:r>
              <a:rPr lang="pt-BR" sz="2000" dirty="0"/>
              <a:t>) for </a:t>
            </a:r>
            <a:r>
              <a:rPr lang="pt-BR" sz="2000" dirty="0" err="1"/>
              <a:t>near</a:t>
            </a:r>
            <a:r>
              <a:rPr lang="pt-BR" sz="2000" dirty="0"/>
              <a:t> real-</a:t>
            </a:r>
            <a:r>
              <a:rPr lang="pt-BR" sz="2000" dirty="0" err="1"/>
              <a:t>timestate</a:t>
            </a:r>
            <a:r>
              <a:rPr lang="pt-BR" sz="2000" dirty="0"/>
              <a:t> updates;</a:t>
            </a:r>
          </a:p>
          <a:p>
            <a:pPr marL="285750" indent="-285750" algn="just">
              <a:buFont typeface="Arial" panose="020B0604020202020204" pitchFamily="34" charset="0"/>
              <a:buChar char="•"/>
            </a:pPr>
            <a:r>
              <a:rPr lang="pt-BR" sz="2000" dirty="0"/>
              <a:t>a governance </a:t>
            </a:r>
            <a:r>
              <a:rPr lang="pt-BR" sz="2000" dirty="0" err="1"/>
              <a:t>mechanism</a:t>
            </a:r>
            <a:r>
              <a:rPr lang="pt-BR" sz="2000" dirty="0"/>
              <a:t> </a:t>
            </a:r>
            <a:r>
              <a:rPr lang="pt-BR" sz="2000" dirty="0" err="1"/>
              <a:t>based</a:t>
            </a:r>
            <a:r>
              <a:rPr lang="pt-BR" sz="2000" dirty="0"/>
              <a:t> </a:t>
            </a:r>
            <a:r>
              <a:rPr lang="pt-BR" sz="2000" dirty="0" err="1"/>
              <a:t>on</a:t>
            </a:r>
            <a:r>
              <a:rPr lang="pt-BR" sz="2000" dirty="0"/>
              <a:t> </a:t>
            </a:r>
            <a:r>
              <a:rPr lang="pt-BR" sz="2000" dirty="0" err="1"/>
              <a:t>an</a:t>
            </a:r>
            <a:r>
              <a:rPr lang="pt-BR" sz="2000" dirty="0"/>
              <a:t> </a:t>
            </a:r>
            <a:r>
              <a:rPr lang="pt-BR" sz="2000" b="1" dirty="0" err="1"/>
              <a:t>Ontological</a:t>
            </a:r>
            <a:r>
              <a:rPr lang="pt-BR" sz="2000" b="1" dirty="0"/>
              <a:t> Compliance Regime</a:t>
            </a:r>
            <a:r>
              <a:rPr lang="pt-BR" sz="2000" dirty="0"/>
              <a:t> and </a:t>
            </a:r>
            <a:r>
              <a:rPr lang="pt-BR" sz="2000" b="1" dirty="0"/>
              <a:t>SLA</a:t>
            </a:r>
            <a:r>
              <a:rPr lang="pt-BR" sz="2000" dirty="0"/>
              <a:t> </a:t>
            </a:r>
            <a:r>
              <a:rPr lang="pt-BR" sz="2000" dirty="0" err="1"/>
              <a:t>constraints</a:t>
            </a:r>
            <a:r>
              <a:rPr lang="pt-BR" sz="2000" dirty="0"/>
              <a:t>, </a:t>
            </a:r>
            <a:r>
              <a:rPr lang="pt-BR" sz="2000" dirty="0" err="1"/>
              <a:t>enabling</a:t>
            </a:r>
            <a:r>
              <a:rPr lang="pt-BR" sz="2000" dirty="0"/>
              <a:t> </a:t>
            </a:r>
            <a:r>
              <a:rPr lang="pt-BR" sz="2000" dirty="0" err="1"/>
              <a:t>auditable</a:t>
            </a:r>
            <a:r>
              <a:rPr lang="pt-BR" sz="2000" dirty="0"/>
              <a:t> and </a:t>
            </a:r>
            <a:r>
              <a:rPr lang="pt-BR" sz="2000" dirty="0" err="1"/>
              <a:t>explainable</a:t>
            </a:r>
            <a:r>
              <a:rPr lang="pt-BR" sz="2000" dirty="0"/>
              <a:t> compliance </a:t>
            </a:r>
            <a:r>
              <a:rPr lang="pt-BR" sz="2000" dirty="0" err="1"/>
              <a:t>checks</a:t>
            </a:r>
            <a:r>
              <a:rPr lang="pt-BR" sz="2000" dirty="0"/>
              <a:t>; </a:t>
            </a:r>
          </a:p>
          <a:p>
            <a:pPr marL="285750" indent="-285750" algn="just">
              <a:buFont typeface="Arial" panose="020B0604020202020204" pitchFamily="34" charset="0"/>
              <a:buChar char="•"/>
            </a:pPr>
            <a:r>
              <a:rPr lang="pt-BR" sz="2000" dirty="0"/>
              <a:t>a </a:t>
            </a:r>
            <a:r>
              <a:rPr lang="pt-BR" sz="2000" dirty="0" err="1"/>
              <a:t>multi-agent</a:t>
            </a:r>
            <a:r>
              <a:rPr lang="pt-BR" sz="2000" dirty="0"/>
              <a:t> Digital Twin </a:t>
            </a:r>
            <a:r>
              <a:rPr lang="pt-BR" sz="2000" dirty="0" err="1"/>
              <a:t>architecture</a:t>
            </a:r>
            <a:r>
              <a:rPr lang="pt-BR" sz="2000" dirty="0"/>
              <a:t> </a:t>
            </a:r>
            <a:r>
              <a:rPr lang="pt-BR" sz="2000" dirty="0" err="1"/>
              <a:t>following</a:t>
            </a:r>
            <a:r>
              <a:rPr lang="pt-BR" sz="2000" dirty="0"/>
              <a:t> </a:t>
            </a:r>
            <a:r>
              <a:rPr lang="pt-BR" sz="2000" dirty="0" err="1"/>
              <a:t>the</a:t>
            </a:r>
            <a:r>
              <a:rPr lang="pt-BR" sz="2000" dirty="0"/>
              <a:t> </a:t>
            </a:r>
            <a:r>
              <a:rPr lang="pt-BR" sz="2000" b="1" dirty="0"/>
              <a:t>MAPE-K</a:t>
            </a:r>
            <a:r>
              <a:rPr lang="pt-BR" sz="2000" dirty="0"/>
              <a:t> </a:t>
            </a:r>
            <a:r>
              <a:rPr lang="pt-BR" sz="2000" dirty="0" err="1"/>
              <a:t>cycle</a:t>
            </a:r>
            <a:r>
              <a:rPr lang="pt-BR" sz="2000" dirty="0"/>
              <a:t> for </a:t>
            </a:r>
            <a:r>
              <a:rPr lang="pt-BR" sz="2000" dirty="0" err="1"/>
              <a:t>policy-driven</a:t>
            </a:r>
            <a:r>
              <a:rPr lang="pt-BR" sz="2000" dirty="0"/>
              <a:t> </a:t>
            </a:r>
            <a:r>
              <a:rPr lang="pt-BR" sz="2000" dirty="0" err="1"/>
              <a:t>actions</a:t>
            </a:r>
            <a:r>
              <a:rPr lang="pt-BR" sz="2000" dirty="0"/>
              <a:t>;</a:t>
            </a:r>
          </a:p>
          <a:p>
            <a:pPr marL="285750" indent="-285750" algn="just">
              <a:buFont typeface="Arial" panose="020B0604020202020204" pitchFamily="34" charset="0"/>
              <a:buChar char="•"/>
            </a:pPr>
            <a:r>
              <a:rPr lang="pt-BR" sz="2000" dirty="0" err="1"/>
              <a:t>Second</a:t>
            </a:r>
            <a:r>
              <a:rPr lang="pt-BR" sz="2000" dirty="0"/>
              <a:t> </a:t>
            </a:r>
            <a:r>
              <a:rPr lang="pt-BR" sz="2000" dirty="0" err="1"/>
              <a:t>edition</a:t>
            </a:r>
            <a:r>
              <a:rPr lang="pt-BR" sz="2000" dirty="0"/>
              <a:t> of </a:t>
            </a:r>
            <a:r>
              <a:rPr lang="pt-BR" sz="2000" dirty="0" err="1"/>
              <a:t>the</a:t>
            </a:r>
            <a:r>
              <a:rPr lang="pt-BR" sz="2000" dirty="0"/>
              <a:t> book </a:t>
            </a:r>
            <a:r>
              <a:rPr lang="pt-BR" sz="2000" b="1" dirty="0"/>
              <a:t>Knowledge Bases</a:t>
            </a:r>
            <a:r>
              <a:rPr lang="pt-BR" sz="2000" dirty="0"/>
              <a:t>, </a:t>
            </a:r>
            <a:r>
              <a:rPr lang="pt-BR" sz="2000" dirty="0" err="1"/>
              <a:t>including</a:t>
            </a:r>
            <a:r>
              <a:rPr lang="pt-BR" sz="2000" dirty="0"/>
              <a:t> </a:t>
            </a:r>
            <a:r>
              <a:rPr lang="pt-BR" sz="2000" dirty="0" err="1"/>
              <a:t>an</a:t>
            </a:r>
            <a:r>
              <a:rPr lang="pt-BR" sz="2000" dirty="0"/>
              <a:t> </a:t>
            </a:r>
            <a:r>
              <a:rPr lang="pt-BR" sz="2000" dirty="0" err="1"/>
              <a:t>English</a:t>
            </a:r>
            <a:r>
              <a:rPr lang="pt-BR" sz="2000" dirty="0"/>
              <a:t> </a:t>
            </a:r>
            <a:r>
              <a:rPr lang="pt-BR" sz="2000" dirty="0" err="1"/>
              <a:t>language</a:t>
            </a:r>
            <a:r>
              <a:rPr lang="pt-BR" sz="2000" dirty="0"/>
              <a:t> </a:t>
            </a:r>
            <a:r>
              <a:rPr lang="pt-BR" sz="2000" dirty="0" err="1"/>
              <a:t>version</a:t>
            </a:r>
            <a:r>
              <a:rPr lang="pt-BR" sz="2000" dirty="0"/>
              <a:t>. It </a:t>
            </a:r>
            <a:r>
              <a:rPr lang="pt-BR" sz="2000" dirty="0" err="1"/>
              <a:t>incorporates</a:t>
            </a:r>
            <a:r>
              <a:rPr lang="pt-BR" sz="2000" dirty="0"/>
              <a:t> </a:t>
            </a:r>
            <a:r>
              <a:rPr lang="pt-BR" sz="2000" dirty="0" err="1"/>
              <a:t>knowledge</a:t>
            </a:r>
            <a:r>
              <a:rPr lang="pt-BR" sz="2000" dirty="0"/>
              <a:t> </a:t>
            </a:r>
            <a:r>
              <a:rPr lang="pt-BR" sz="2000" dirty="0" err="1"/>
              <a:t>gained</a:t>
            </a:r>
            <a:r>
              <a:rPr lang="pt-BR" sz="2000" dirty="0"/>
              <a:t> </a:t>
            </a:r>
            <a:r>
              <a:rPr lang="pt-BR" sz="2000" dirty="0" err="1"/>
              <a:t>through</a:t>
            </a:r>
            <a:r>
              <a:rPr lang="pt-BR" sz="2000" dirty="0"/>
              <a:t> </a:t>
            </a:r>
            <a:r>
              <a:rPr lang="pt-BR" sz="2000" dirty="0" err="1"/>
              <a:t>the</a:t>
            </a:r>
            <a:r>
              <a:rPr lang="pt-BR" sz="2000" dirty="0"/>
              <a:t> </a:t>
            </a:r>
            <a:r>
              <a:rPr lang="pt-BR" sz="2000" dirty="0" err="1"/>
              <a:t>research</a:t>
            </a:r>
            <a:r>
              <a:rPr lang="pt-BR" sz="2000" dirty="0"/>
              <a:t> </a:t>
            </a:r>
            <a:r>
              <a:rPr lang="pt-BR" sz="2000" dirty="0" err="1"/>
              <a:t>project</a:t>
            </a:r>
            <a:r>
              <a:rPr lang="pt-BR" sz="2000" dirty="0"/>
              <a:t>.</a:t>
            </a:r>
          </a:p>
        </p:txBody>
      </p:sp>
      <p:pic>
        <p:nvPicPr>
          <p:cNvPr id="6" name="Imagem 5">
            <a:extLst>
              <a:ext uri="{FF2B5EF4-FFF2-40B4-BE49-F238E27FC236}">
                <a16:creationId xmlns:a16="http://schemas.microsoft.com/office/drawing/2014/main" id="{5D1F4B04-3F2C-5A50-69DE-92998C758D62}"/>
              </a:ext>
            </a:extLst>
          </p:cNvPr>
          <p:cNvPicPr>
            <a:picLocks noChangeAspect="1"/>
          </p:cNvPicPr>
          <p:nvPr/>
        </p:nvPicPr>
        <p:blipFill>
          <a:blip r:embed="rId3"/>
          <a:stretch>
            <a:fillRect/>
          </a:stretch>
        </p:blipFill>
        <p:spPr>
          <a:xfrm>
            <a:off x="6668406" y="4497925"/>
            <a:ext cx="1279288" cy="1830427"/>
          </a:xfrm>
          <a:prstGeom prst="rect">
            <a:avLst/>
          </a:prstGeom>
        </p:spPr>
      </p:pic>
    </p:spTree>
    <p:extLst>
      <p:ext uri="{BB962C8B-B14F-4D97-AF65-F5344CB8AC3E}">
        <p14:creationId xmlns:p14="http://schemas.microsoft.com/office/powerpoint/2010/main" val="2985324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8426E-8400-F165-DDF2-F69C4713C6F1}"/>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708E1B8D-6D69-7F7D-494C-F70A0CC988E7}"/>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5" name="CaixaDeTexto 4">
            <a:extLst>
              <a:ext uri="{FF2B5EF4-FFF2-40B4-BE49-F238E27FC236}">
                <a16:creationId xmlns:a16="http://schemas.microsoft.com/office/drawing/2014/main" id="{B4D02A1D-8F77-AE8D-1904-B52AB4D52DB0}"/>
              </a:ext>
            </a:extLst>
          </p:cNvPr>
          <p:cNvSpPr txBox="1"/>
          <p:nvPr/>
        </p:nvSpPr>
        <p:spPr>
          <a:xfrm>
            <a:off x="78293" y="697951"/>
            <a:ext cx="2171620" cy="830997"/>
          </a:xfrm>
          <a:prstGeom prst="rect">
            <a:avLst/>
          </a:prstGeom>
          <a:noFill/>
        </p:spPr>
        <p:txBody>
          <a:bodyPr wrap="none" rtlCol="0">
            <a:spAutoFit/>
          </a:bodyPr>
          <a:lstStyle/>
          <a:p>
            <a:pPr algn="ctr"/>
            <a:r>
              <a:rPr lang="pt-BR" sz="2400" b="1" dirty="0">
                <a:solidFill>
                  <a:schemeClr val="accent4">
                    <a:lumMod val="75000"/>
                  </a:schemeClr>
                </a:solidFill>
              </a:rPr>
              <a:t>Project</a:t>
            </a:r>
            <a:br>
              <a:rPr lang="pt-BR" sz="2400" b="1" dirty="0">
                <a:solidFill>
                  <a:schemeClr val="accent4">
                    <a:lumMod val="75000"/>
                  </a:schemeClr>
                </a:solidFill>
              </a:rPr>
            </a:br>
            <a:r>
              <a:rPr lang="pt-BR" sz="2400" b="1" dirty="0">
                <a:solidFill>
                  <a:schemeClr val="accent4">
                    <a:lumMod val="75000"/>
                  </a:schemeClr>
                </a:solidFill>
              </a:rPr>
              <a:t>Documentation</a:t>
            </a:r>
          </a:p>
        </p:txBody>
      </p:sp>
      <p:sp>
        <p:nvSpPr>
          <p:cNvPr id="9" name="CaixaDeTexto 8">
            <a:extLst>
              <a:ext uri="{FF2B5EF4-FFF2-40B4-BE49-F238E27FC236}">
                <a16:creationId xmlns:a16="http://schemas.microsoft.com/office/drawing/2014/main" id="{90714268-86B5-CB34-CFEF-660BD949A371}"/>
              </a:ext>
            </a:extLst>
          </p:cNvPr>
          <p:cNvSpPr txBox="1"/>
          <p:nvPr/>
        </p:nvSpPr>
        <p:spPr>
          <a:xfrm>
            <a:off x="475013" y="2274838"/>
            <a:ext cx="10058401" cy="2585323"/>
          </a:xfrm>
          <a:prstGeom prst="rect">
            <a:avLst/>
          </a:prstGeom>
          <a:noFill/>
        </p:spPr>
        <p:txBody>
          <a:bodyPr wrap="square">
            <a:spAutoFit/>
          </a:bodyPr>
          <a:lstStyle/>
          <a:p>
            <a:pPr algn="ctr"/>
            <a:r>
              <a:rPr lang="pt-BR" b="1" dirty="0"/>
              <a:t>Project Digital Twin for Internet Infrastructure</a:t>
            </a:r>
          </a:p>
          <a:p>
            <a:br>
              <a:rPr lang="pt-BR" dirty="0"/>
            </a:br>
            <a:r>
              <a:rPr lang="pt-BR" dirty="0" err="1"/>
              <a:t>Main</a:t>
            </a:r>
            <a:r>
              <a:rPr lang="pt-BR" dirty="0"/>
              <a:t>: </a:t>
            </a:r>
            <a:r>
              <a:rPr lang="pt-BR" dirty="0">
                <a:hlinkClick r:id="rId3"/>
              </a:rPr>
              <a:t>https://github.com/LJuliaoBraga/dtii</a:t>
            </a:r>
            <a:endParaRPr lang="pt-BR" dirty="0"/>
          </a:p>
          <a:p>
            <a:endParaRPr lang="pt-BR" dirty="0"/>
          </a:p>
          <a:p>
            <a:r>
              <a:rPr lang="pt-BR" dirty="0" err="1"/>
              <a:t>English</a:t>
            </a:r>
            <a:r>
              <a:rPr lang="pt-BR" dirty="0"/>
              <a:t>: </a:t>
            </a:r>
            <a:r>
              <a:rPr lang="pt-BR" dirty="0">
                <a:hlinkClick r:id="rId4"/>
              </a:rPr>
              <a:t>https://github.com/LJuliaoBraga/dtii/blob/main/docs/en-us/2026-ProjectDT-II-EN.pdf</a:t>
            </a:r>
            <a:endParaRPr lang="pt-BR" dirty="0"/>
          </a:p>
          <a:p>
            <a:r>
              <a:rPr lang="pt-BR" dirty="0" err="1"/>
              <a:t>Portuguese</a:t>
            </a:r>
            <a:r>
              <a:rPr lang="pt-BR" dirty="0"/>
              <a:t>: </a:t>
            </a:r>
            <a:r>
              <a:rPr lang="pt-BR" dirty="0">
                <a:hlinkClick r:id="rId5"/>
              </a:rPr>
              <a:t>https://github.com/LJuliaoBraga/dtii/blob/main/docs/pt-br/2026-ProjectDT-II-PT.pdf</a:t>
            </a:r>
            <a:endParaRPr lang="pt-BR" dirty="0"/>
          </a:p>
          <a:p>
            <a:br>
              <a:rPr lang="pt-BR" dirty="0"/>
            </a:br>
            <a:r>
              <a:rPr lang="pt-BR" dirty="0"/>
              <a:t>ANMS 2006: </a:t>
            </a:r>
            <a:r>
              <a:rPr lang="pt-BR" dirty="0">
                <a:hlinkClick r:id="rId6"/>
              </a:rPr>
              <a:t>https://github.com/LJuliaoBraga/dtii/blob/main/docs/events/anms%202026/2027_anms.pdf</a:t>
            </a:r>
            <a:endParaRPr lang="pt-BR" dirty="0"/>
          </a:p>
          <a:p>
            <a:endParaRPr lang="pt-BR" dirty="0"/>
          </a:p>
        </p:txBody>
      </p:sp>
      <p:sp>
        <p:nvSpPr>
          <p:cNvPr id="6" name="CaixaDeTexto 5">
            <a:extLst>
              <a:ext uri="{FF2B5EF4-FFF2-40B4-BE49-F238E27FC236}">
                <a16:creationId xmlns:a16="http://schemas.microsoft.com/office/drawing/2014/main" id="{72FC2FB8-A65D-6A63-C30F-CF325389B32F}"/>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8" name="Slide Number Placeholder 0">
            <a:extLst>
              <a:ext uri="{FF2B5EF4-FFF2-40B4-BE49-F238E27FC236}">
                <a16:creationId xmlns:a16="http://schemas.microsoft.com/office/drawing/2014/main" id="{BA12059E-3406-D20F-9C57-F3406301A595}"/>
              </a:ext>
            </a:extLst>
          </p:cNvPr>
          <p:cNvSpPr txBox="1">
            <a:spLocks/>
          </p:cNvSpPr>
          <p:nvPr/>
        </p:nvSpPr>
        <p:spPr>
          <a:xfrm>
            <a:off x="138001" y="6502518"/>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23</a:t>
            </a:fld>
            <a:endParaRPr lang="en-US" dirty="0">
              <a:solidFill>
                <a:srgbClr val="0070C0"/>
              </a:solidFill>
            </a:endParaRPr>
          </a:p>
        </p:txBody>
      </p:sp>
    </p:spTree>
    <p:extLst>
      <p:ext uri="{BB962C8B-B14F-4D97-AF65-F5344CB8AC3E}">
        <p14:creationId xmlns:p14="http://schemas.microsoft.com/office/powerpoint/2010/main" val="1827249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263CF-1A57-F522-3BC7-CF91DB6847D7}"/>
            </a:ext>
          </a:extLst>
        </p:cNvPr>
        <p:cNvGrpSpPr/>
        <p:nvPr/>
      </p:nvGrpSpPr>
      <p:grpSpPr>
        <a:xfrm>
          <a:off x="0" y="0"/>
          <a:ext cx="0" cy="0"/>
          <a:chOff x="0" y="0"/>
          <a:chExt cx="0" cy="0"/>
        </a:xfrm>
      </p:grpSpPr>
      <p:pic>
        <p:nvPicPr>
          <p:cNvPr id="3" name="Imagem 2" descr="Logo CGI.br">
            <a:extLst>
              <a:ext uri="{FF2B5EF4-FFF2-40B4-BE49-F238E27FC236}">
                <a16:creationId xmlns:a16="http://schemas.microsoft.com/office/drawing/2014/main" id="{0622C1ED-D9EF-59E1-9BF7-73783F834605}"/>
              </a:ext>
            </a:extLst>
          </p:cNvPr>
          <p:cNvPicPr>
            <a:picLocks noChangeAspect="1"/>
          </p:cNvPicPr>
          <p:nvPr/>
        </p:nvPicPr>
        <p:blipFill>
          <a:blip r:embed="rId2"/>
          <a:stretch>
            <a:fillRect/>
          </a:stretch>
        </p:blipFill>
        <p:spPr>
          <a:xfrm>
            <a:off x="10756249" y="6084125"/>
            <a:ext cx="1057275" cy="609600"/>
          </a:xfrm>
          <a:prstGeom prst="rect">
            <a:avLst/>
          </a:prstGeom>
        </p:spPr>
      </p:pic>
      <p:sp>
        <p:nvSpPr>
          <p:cNvPr id="2" name="CaixaDeTexto 1">
            <a:extLst>
              <a:ext uri="{FF2B5EF4-FFF2-40B4-BE49-F238E27FC236}">
                <a16:creationId xmlns:a16="http://schemas.microsoft.com/office/drawing/2014/main" id="{AC21CDF0-FA0D-4265-4C44-5647DB257467}"/>
              </a:ext>
            </a:extLst>
          </p:cNvPr>
          <p:cNvSpPr txBox="1"/>
          <p:nvPr/>
        </p:nvSpPr>
        <p:spPr>
          <a:xfrm>
            <a:off x="4231707" y="2766951"/>
            <a:ext cx="3825599" cy="1107996"/>
          </a:xfrm>
          <a:prstGeom prst="rect">
            <a:avLst/>
          </a:prstGeom>
          <a:noFill/>
        </p:spPr>
        <p:txBody>
          <a:bodyPr wrap="none" rtlCol="0">
            <a:spAutoFit/>
          </a:bodyPr>
          <a:lstStyle/>
          <a:p>
            <a:r>
              <a:rPr lang="pt-BR" sz="6600" b="1" dirty="0">
                <a:solidFill>
                  <a:schemeClr val="accent4">
                    <a:lumMod val="75000"/>
                  </a:schemeClr>
                </a:solidFill>
              </a:rPr>
              <a:t>Thank you</a:t>
            </a:r>
          </a:p>
        </p:txBody>
      </p:sp>
      <p:sp>
        <p:nvSpPr>
          <p:cNvPr id="6" name="CaixaDeTexto 5">
            <a:extLst>
              <a:ext uri="{FF2B5EF4-FFF2-40B4-BE49-F238E27FC236}">
                <a16:creationId xmlns:a16="http://schemas.microsoft.com/office/drawing/2014/main" id="{65A7D6F3-5BB9-24D1-F6C9-49227AC29054}"/>
              </a:ext>
            </a:extLst>
          </p:cNvPr>
          <p:cNvSpPr txBox="1"/>
          <p:nvPr/>
        </p:nvSpPr>
        <p:spPr>
          <a:xfrm>
            <a:off x="338511" y="6526268"/>
            <a:ext cx="2112755" cy="246221"/>
          </a:xfrm>
          <a:prstGeom prst="rect">
            <a:avLst/>
          </a:prstGeom>
          <a:noFill/>
        </p:spPr>
        <p:txBody>
          <a:bodyPr wrap="square">
            <a:spAutoFit/>
          </a:bodyPr>
          <a:lstStyle/>
          <a:p>
            <a:r>
              <a:rPr lang="pt-BR" sz="1000" b="1" dirty="0">
                <a:solidFill>
                  <a:srgbClr val="0070C0"/>
                </a:solidFill>
              </a:rPr>
              <a:t>IFSPe, ITA, UFABC, UFRGS, UNICAP</a:t>
            </a:r>
          </a:p>
        </p:txBody>
      </p:sp>
      <p:sp>
        <p:nvSpPr>
          <p:cNvPr id="8" name="Slide Number Placeholder 0">
            <a:extLst>
              <a:ext uri="{FF2B5EF4-FFF2-40B4-BE49-F238E27FC236}">
                <a16:creationId xmlns:a16="http://schemas.microsoft.com/office/drawing/2014/main" id="{2E2CD4A4-2D06-A478-FDC7-46D2B4CCBDC3}"/>
              </a:ext>
            </a:extLst>
          </p:cNvPr>
          <p:cNvSpPr txBox="1">
            <a:spLocks/>
          </p:cNvSpPr>
          <p:nvPr/>
        </p:nvSpPr>
        <p:spPr>
          <a:xfrm>
            <a:off x="138001" y="6502518"/>
            <a:ext cx="457200" cy="274320"/>
          </a:xfrm>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lstStyle>
            <a:defPPr>
              <a:defRPr lang="pt-BR"/>
            </a:defPPr>
            <a:lvl1pPr marL="0" algn="r" defTabSz="914400" rtl="0" eaLnBrk="1" latinLnBrk="0" hangingPunct="1">
              <a:defRPr sz="1000" kern="1200">
                <a:solidFill>
                  <a:schemeClr val="accent5"/>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F7021451-1387-4CA6-816F-3879F97B5CBC}" type="slidenum">
              <a:rPr lang="en-US" smtClean="0">
                <a:solidFill>
                  <a:srgbClr val="0070C0"/>
                </a:solidFill>
              </a:rPr>
              <a:pPr algn="l"/>
              <a:t>24</a:t>
            </a:fld>
            <a:endParaRPr lang="en-US" dirty="0">
              <a:solidFill>
                <a:srgbClr val="0070C0"/>
              </a:solidFill>
            </a:endParaRPr>
          </a:p>
        </p:txBody>
      </p:sp>
    </p:spTree>
    <p:extLst>
      <p:ext uri="{BB962C8B-B14F-4D97-AF65-F5344CB8AC3E}">
        <p14:creationId xmlns:p14="http://schemas.microsoft.com/office/powerpoint/2010/main" val="3211004910"/>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10113</TotalTime>
  <Words>2501</Words>
  <Application>Microsoft Office PowerPoint</Application>
  <PresentationFormat>Widescreen</PresentationFormat>
  <Paragraphs>316</Paragraphs>
  <Slides>24</Slides>
  <Notes>5</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24</vt:i4>
      </vt:variant>
    </vt:vector>
  </HeadingPairs>
  <TitlesOfParts>
    <vt:vector size="28" baseType="lpstr">
      <vt:lpstr>Arial</vt:lpstr>
      <vt:lpstr>Calibri</vt:lpstr>
      <vt:lpstr>Calibri Light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Meaning-Driven Regulatory Compliance</vt:lpstr>
      <vt:lpstr>The Digital Twin in Action (Use Case I)</vt:lpstr>
      <vt:lpstr>Responding to a DDoS Attack</vt:lpstr>
      <vt:lpstr>Sequence Flow of the Mitigation</vt:lpstr>
      <vt:lpstr>Why a Semantic Defence?</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Juliao Braga</dc:creator>
  <cp:lastModifiedBy>Juliao Braga</cp:lastModifiedBy>
  <cp:revision>45</cp:revision>
  <dcterms:created xsi:type="dcterms:W3CDTF">2026-10-15T12:45:15Z</dcterms:created>
  <dcterms:modified xsi:type="dcterms:W3CDTF">2026-10-22T13:29:51Z</dcterms:modified>
</cp:coreProperties>
</file>