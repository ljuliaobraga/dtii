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90" r:id="rId3"/>
    <p:sldId id="269" r:id="rId4"/>
    <p:sldId id="263" r:id="rId5"/>
    <p:sldId id="270" r:id="rId6"/>
    <p:sldId id="271" r:id="rId7"/>
    <p:sldId id="293" r:id="rId8"/>
    <p:sldId id="260" r:id="rId9"/>
    <p:sldId id="264" r:id="rId10"/>
    <p:sldId id="265" r:id="rId11"/>
    <p:sldId id="266" r:id="rId12"/>
    <p:sldId id="267" r:id="rId13"/>
    <p:sldId id="294" r:id="rId14"/>
    <p:sldId id="261" r:id="rId15"/>
    <p:sldId id="277" r:id="rId16"/>
    <p:sldId id="289" r:id="rId17"/>
    <p:sldId id="257" r:id="rId18"/>
    <p:sldId id="291" r:id="rId19"/>
    <p:sldId id="292" r:id="rId20"/>
    <p:sldId id="258" r:id="rId21"/>
    <p:sldId id="295" r:id="rId22"/>
    <p:sldId id="276" r:id="rId23"/>
    <p:sldId id="278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35144-7C10-4E90-973A-18F0031EE1E0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FBECB-438F-4C64-8989-0AEF755397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11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Upper ontologies give general categories; UFO gives the rules to build a domain ontology. Read each analogy aloud, then the AS example. Close with the trade-off: UFO costs more at the start but prevents costly modelling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kinds of MVP participant, colour-coded as in the previous slide. Focus on the bottom box of each column: what each participant stresses in the ontology. ASN++ stresses global routing and peering; ASN+ the regulated edge; the IX the relators, with multilateral sessions and exchange agreements.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idea: compliance follows meaning, not geography. Walk the audience along the path: a hospital in São Paulo sends health data to Europe through three Autonomous Systems. The rule comes from LGPD and GDPR. The knowledge base has three parts: TBox holds the rules, RBox says how obligations propagate along relations, ABox holds the current facts fed by the Digital Twin.</a:t>
            </a:r>
          </a:p>
          <a:p>
            <a:endParaRPr lang="en-US" dirty="0"/>
          </a:p>
          <a:p>
            <a:r>
              <a:rPr lang="pt-BR" dirty="0"/>
              <a:t>Ideia central: a conformidade segue o significado, não a geografia. Vamos acompanhar o percurso: um hospital em São Paulo envia dados de saúde para a Europa por meio de três Sistemas Autônomos. A regra deriva da LGPD e do GDPR. A base de conhecimento é composta por três partes: a TBox contém as regras; a RBox define como as obrigações se propagam ao longo das relações; e a ABox armazena os fatos atuais, alimentados pelo Gêmeo Digital (Digital Twin).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how raw telemetry becomes meaning. Semantic Elevation turns gNMI, YANG-Push and SNMP data into ABox facts the reasoner can use. Bottom: a BGP failure diverts flow F. Monitor sees the new route; Analyse finds the violation; Plan finds a compliant route via AS-D; Execute pushes it with NETCONF only after the reasoner confirms it satisfies the rules. All four stages share the ontology as their knowledge base.</a:t>
            </a:r>
          </a:p>
          <a:p>
            <a:endParaRPr lang="en-US" dirty="0"/>
          </a:p>
          <a:p>
            <a:r>
              <a:rPr lang="pt-BR" dirty="0"/>
              <a:t>Linha superior: como a telemetria bruta se transforma em significado. A "Elevação Semântica" (Semantic </a:t>
            </a:r>
            <a:r>
              <a:rPr lang="pt-BR" dirty="0" err="1"/>
              <a:t>Elevation</a:t>
            </a:r>
            <a:r>
              <a:rPr lang="pt-BR" dirty="0"/>
              <a:t>) converte dados de gNMI, YANG-</a:t>
            </a:r>
            <a:r>
              <a:rPr lang="pt-BR" dirty="0" err="1"/>
              <a:t>Push</a:t>
            </a:r>
            <a:r>
              <a:rPr lang="pt-BR" dirty="0"/>
              <a:t> e SNMP em fatos ABox que o mecanismo de raciocínio (</a:t>
            </a:r>
            <a:r>
              <a:rPr lang="pt-BR" dirty="0" err="1"/>
              <a:t>reasoner</a:t>
            </a:r>
            <a:r>
              <a:rPr lang="pt-BR" dirty="0"/>
              <a:t>) pode utilizar. Parte inferior: uma falha no BGP desvia o fluxo F. O monitor detecta a nova rota; o módulo de análise identifica a violação; o módulo de planejamento encontra uma rota em conformidade via AS-D; o módulo de execução aplica essa rota via NETCONF, mas apenas após o mecanismo de raciocínio confirmar que ela atende às regras. As quatro etapas compartilham a ontologia como sua base de conhecimento.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botnet floods the edge link Link_01, which carries the critical DNS service. Walk through the MAPE-K loop: Monitor turns telemetry into facts; Analyse uses the RBox to infer that DNS is at risk, without anyone stating it; Plan applies a TBox rule that prescribes edge mitigation; Execute pushes a filter via NETCONF and records the new state, closing the loop. The step numbers refer to the sequence diagram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numbered arrow belongs to one MAPE-K stage, shown in the coloured chips below. The whole loop runs without human intervention; the decision is made in the logical core and only then turned into a router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RBox property chain in action. Saturates followed by supports implies threatens, so the reasoner infers that DNS is at risk. Right: four advantages over plain IP blocking. Context awareness uses agreements modelled as relators; mereological resilience uses the part-whole structure of the network; traceability comes from the axioms; compliance links back to Use Case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contributions, from the conceptual model to autonomous action. On the right, the second edition of the book Knowledge Bases, now in English, which incorporates the project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CD4AF-BCED-5B09-336A-A054A2673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39D921-C5A3-BD42-CA1C-0EE30801D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DE442B-D937-4CF0-22E8-F325B341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0D39DC-A549-0D77-417A-66B223576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737BB8-D09F-9632-A59F-7AE0775A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49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A4FD5-F6AE-488C-D2C7-60A57D50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E96E22-2412-9DB8-9EF7-5104F677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00172-1A4E-36DB-E43C-DDBEF002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F78F38-90AF-77B2-DB00-844D032C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8BDC79-8C5F-9E85-1C32-6A476890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3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3496B-901E-8F3F-57D7-2CC629F57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5C5907-867C-780E-D65C-5D3216DD5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D8B629-6968-F797-FA32-3B3920EC2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78508D-1C8F-4F5C-CD60-15AFEFD3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75ED96-B923-C41B-CFA0-76A0518A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13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A01AB-B013-8E01-84A2-3006039C0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1AE1E3-908A-B51A-39DC-8E368CE5F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A8E9DA-5BAF-8C29-B112-230D3A75E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A5A8C1-CEDB-B8C2-5F35-B13DEB6D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69505C-187C-F993-E2E2-95C0FB61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768FE4-8A22-4148-2C71-5314AECE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06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B1B7F-B0B3-B899-86CC-041AF3DC8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B88325-B86E-1456-C911-058A1B336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2E685F-E39C-63E4-838D-E08B74BB1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D9E5B6F-6B43-874A-63D0-62B5C096F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AA8AA2-EA84-8F9C-536D-41C3EF03A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37373B-FE2E-4C45-AB34-17A658D8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DBECEC-166D-FBBB-BA23-5D943375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B235BE-2A50-BA71-F4AD-2228DE6A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20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94F20-B1FC-A81E-CD0D-FC7759F6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2A1D0D-7E87-AB1F-5199-535AB4E5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C3289F-134F-57D9-E6B5-92F30F1EC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C1364B6-7AAF-BAD4-D6F7-BD2BEC5D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17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D3966C-FC5E-802A-26BA-C6808C5F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F0B68A-0F54-39F8-E986-5A6D1614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084BFD-EBF0-7E69-3B23-9A530E66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91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FDB77-4B9F-2981-7784-F4CE36419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A16F50-837D-0341-A009-542AD6809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1B4B09-C346-0472-9AE7-DDDCF7E26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3F7FAB-9074-3E2F-C1AB-1286709EB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9489C2-0A77-B38C-C4D6-C40DCD95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4B91DA-3294-5A15-47F6-F8051CB3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863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CC1A6-474E-0FAB-17DE-ECF8861E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CDE0DD-EC4A-C5B4-5310-AFC2B1BDF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4F13A0-9011-E55C-44FC-B20CB7E01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720D20-451B-8310-F9F7-7C2F7405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9AFB10-C283-7933-6B89-C8519B4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F5A8FC-B11A-2E90-692F-9A01B52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3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85F3D-8543-C49B-9E43-6D3E567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42D29D-2DEC-E540-8DDE-9550D1708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0490E-1F4A-7924-BCB7-AB44F16B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E3B8B4-937B-DEF6-9952-47E6938A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1D3DFA-FCB2-506C-7A2A-69680ADE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42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175726-35EF-ECCE-72FC-FFBFA6948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FEADA1-A6C5-6519-9B0B-15008F074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E00F13-76DB-DFD7-4A7D-7C9BF2A5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717B31-B607-AF86-2ECE-6A2D9D64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1902E-428D-E353-1E6F-EBA12984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040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84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DE_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82880" y="2377440"/>
            <a:ext cx="2194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600" b="1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endParaRPr lang="en-US" sz="2600" dirty="0"/>
          </a:p>
        </p:txBody>
      </p:sp>
      <p:pic>
        <p:nvPicPr>
          <p:cNvPr id="3" name="Image 0" descr="/tmp/claude-0/-home-claude/521987da-d520-5671-b81b-dd9aa139767d/scratchpad/deck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035040"/>
            <a:ext cx="1005840" cy="5760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IFSPe, ITA, UFABC, UFRGS, UNICAP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00800"/>
            <a:ext cx="228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8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D5D2A0-0CC8-9FDF-B51D-DFB4791D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848D12-CE46-A32B-F3BA-D8BEDDBC2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4DC822-8AAC-BE4A-E034-58BA8B545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B120A-D6E6-4D9F-85E7-7E1BF209D1DA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CA5930-4656-093D-9A1B-710A35A3C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6886BD-B706-7DF8-479F-B87BB9596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78B9F-FD3B-44D5-9A7E-7D0646E5D2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44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JuliaoBraga/dtii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LJuliaoBraga/dtii/blob/main/docs/events/anms%202026/AporesentacaoANMS.pdf" TargetMode="External"/><Relationship Id="rId5" Type="http://schemas.openxmlformats.org/officeDocument/2006/relationships/hyperlink" Target="https://github.com/LJuliaoBraga/dtii/blob/main/docs/pt-br/2026-ProjectDT-II-PT.pdf" TargetMode="External"/><Relationship Id="rId4" Type="http://schemas.openxmlformats.org/officeDocument/2006/relationships/hyperlink" Target="https://github.com/LJuliaoBraga/dtii/blob/main/docs/en-us/2026-ProjectDT-II-EN.pdf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636BE7A-12A9-DE72-FB44-09F72230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569466"/>
            <a:ext cx="11183911" cy="343900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E123BE-E8A7-0689-7088-2B29D316D6ED}"/>
              </a:ext>
            </a:extLst>
          </p:cNvPr>
          <p:cNvSpPr txBox="1"/>
          <p:nvPr/>
        </p:nvSpPr>
        <p:spPr>
          <a:xfrm>
            <a:off x="1547959" y="4987636"/>
            <a:ext cx="9208290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IFSPe (PE), ITA (SP), UFABC (SP), UFRGS(RS), </a:t>
            </a:r>
            <a:r>
              <a:rPr lang="pt-BR" sz="2800" b="1" dirty="0" err="1">
                <a:solidFill>
                  <a:srgbClr val="002060"/>
                </a:solidFill>
              </a:rPr>
              <a:t>and</a:t>
            </a:r>
            <a:r>
              <a:rPr lang="pt-BR" sz="2800" b="1" dirty="0">
                <a:solidFill>
                  <a:srgbClr val="002060"/>
                </a:solidFill>
              </a:rPr>
              <a:t> UNICAP (PE)</a:t>
            </a:r>
          </a:p>
        </p:txBody>
      </p:sp>
      <p:pic>
        <p:nvPicPr>
          <p:cNvPr id="7" name="Imagem 6" descr="Logo CGI.br">
            <a:extLst>
              <a:ext uri="{FF2B5EF4-FFF2-40B4-BE49-F238E27FC236}">
                <a16:creationId xmlns:a16="http://schemas.microsoft.com/office/drawing/2014/main" id="{FFE3F2AB-2710-A619-1C8A-6EB66C446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20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9FA4-3FDB-3190-2DF2-98EB0DC2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970D260D-2AB0-12AC-DA93-701728282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D5E8D7E-A393-45FE-3E8C-3E742300DBE9}"/>
              </a:ext>
            </a:extLst>
          </p:cNvPr>
          <p:cNvSpPr/>
          <p:nvPr/>
        </p:nvSpPr>
        <p:spPr>
          <a:xfrm>
            <a:off x="1638787" y="116729"/>
            <a:ext cx="9053899" cy="61059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57E57D1-6E29-DF2E-E843-DED56108FB9B}"/>
              </a:ext>
            </a:extLst>
          </p:cNvPr>
          <p:cNvSpPr txBox="1"/>
          <p:nvPr/>
        </p:nvSpPr>
        <p:spPr>
          <a:xfrm>
            <a:off x="3773545" y="181320"/>
            <a:ext cx="4992200" cy="552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B0F0"/>
                </a:solidFill>
              </a:rPr>
              <a:t>Knowledge Base (Ontology)</a:t>
            </a:r>
          </a:p>
          <a:p>
            <a:endParaRPr lang="pt-BR" sz="3200" dirty="0">
              <a:solidFill>
                <a:srgbClr val="00B0F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EAD6A2-7396-9109-6AE3-F3FECCD73E0F}"/>
              </a:ext>
            </a:extLst>
          </p:cNvPr>
          <p:cNvSpPr txBox="1"/>
          <p:nvPr/>
        </p:nvSpPr>
        <p:spPr>
          <a:xfrm>
            <a:off x="54677" y="2510518"/>
            <a:ext cx="1602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Knowledge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Base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AAA463-2A87-BBBF-FB0D-AEE01E0B398A}"/>
              </a:ext>
            </a:extLst>
          </p:cNvPr>
          <p:cNvSpPr txBox="1"/>
          <p:nvPr/>
        </p:nvSpPr>
        <p:spPr>
          <a:xfrm>
            <a:off x="267261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9" name="Slide Number Placeholder 0">
            <a:extLst>
              <a:ext uri="{FF2B5EF4-FFF2-40B4-BE49-F238E27FC236}">
                <a16:creationId xmlns:a16="http://schemas.microsoft.com/office/drawing/2014/main" id="{889CE6CD-F311-0860-3585-8678B84850F0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2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04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3943-868B-1CAD-3BE1-45D4DDBE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B71E7FAC-7A3B-04C1-F9DE-00BB9FE95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866C20E-697D-DAC1-3BAD-0C7331BEA514}"/>
              </a:ext>
            </a:extLst>
          </p:cNvPr>
          <p:cNvSpPr/>
          <p:nvPr/>
        </p:nvSpPr>
        <p:spPr>
          <a:xfrm>
            <a:off x="1638787" y="116729"/>
            <a:ext cx="9053899" cy="61059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3E997A7-28A9-9F2C-CC28-7C1DB1CBF2D9}"/>
              </a:ext>
            </a:extLst>
          </p:cNvPr>
          <p:cNvSpPr/>
          <p:nvPr/>
        </p:nvSpPr>
        <p:spPr>
          <a:xfrm>
            <a:off x="2123769" y="943126"/>
            <a:ext cx="8083931" cy="51045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A477091-2AB2-4072-5010-7A61146667C4}"/>
              </a:ext>
            </a:extLst>
          </p:cNvPr>
          <p:cNvSpPr txBox="1"/>
          <p:nvPr/>
        </p:nvSpPr>
        <p:spPr>
          <a:xfrm>
            <a:off x="3757472" y="1010764"/>
            <a:ext cx="4254498" cy="6080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tx2">
                    <a:lumMod val="50000"/>
                  </a:schemeClr>
                </a:solidFill>
              </a:rPr>
              <a:t>Description Logic (OWL)</a:t>
            </a:r>
          </a:p>
          <a:p>
            <a:endParaRPr lang="pt-BR" sz="32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90EBF0-B68B-782D-5B12-05C741335552}"/>
              </a:ext>
            </a:extLst>
          </p:cNvPr>
          <p:cNvSpPr txBox="1"/>
          <p:nvPr/>
        </p:nvSpPr>
        <p:spPr>
          <a:xfrm>
            <a:off x="3773545" y="181320"/>
            <a:ext cx="4992200" cy="552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B0F0"/>
                </a:solidFill>
              </a:rPr>
              <a:t>Knowledge Base (Ontology)</a:t>
            </a:r>
          </a:p>
          <a:p>
            <a:endParaRPr lang="pt-BR" sz="3200" dirty="0">
              <a:solidFill>
                <a:srgbClr val="00B0F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A0F049D-83F4-242C-BEDA-475EAF4BB52D}"/>
              </a:ext>
            </a:extLst>
          </p:cNvPr>
          <p:cNvSpPr txBox="1"/>
          <p:nvPr/>
        </p:nvSpPr>
        <p:spPr>
          <a:xfrm>
            <a:off x="54677" y="2510518"/>
            <a:ext cx="1602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Knowledge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Base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47BA07-9D50-4FBC-9B3D-3FC38EF81FBE}"/>
              </a:ext>
            </a:extLst>
          </p:cNvPr>
          <p:cNvSpPr txBox="1"/>
          <p:nvPr/>
        </p:nvSpPr>
        <p:spPr>
          <a:xfrm>
            <a:off x="267261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9" name="Slide Number Placeholder 0">
            <a:extLst>
              <a:ext uri="{FF2B5EF4-FFF2-40B4-BE49-F238E27FC236}">
                <a16:creationId xmlns:a16="http://schemas.microsoft.com/office/drawing/2014/main" id="{1C45892D-BFC0-2428-1898-60F4F06062D2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3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894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0144-F976-AFC6-F5A3-ABFE2D70D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6772F839-A656-5EFD-6B27-C51E1E161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766" y="6096000"/>
            <a:ext cx="1057275" cy="609600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F0DD5971-A2EC-44BF-CDAC-D928834F6772}"/>
              </a:ext>
            </a:extLst>
          </p:cNvPr>
          <p:cNvSpPr/>
          <p:nvPr/>
        </p:nvSpPr>
        <p:spPr>
          <a:xfrm>
            <a:off x="1638787" y="116729"/>
            <a:ext cx="9053899" cy="6207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8DBB8FF-1511-D38C-3036-ADE3657AED3B}"/>
              </a:ext>
            </a:extLst>
          </p:cNvPr>
          <p:cNvSpPr/>
          <p:nvPr/>
        </p:nvSpPr>
        <p:spPr>
          <a:xfrm>
            <a:off x="2123769" y="943126"/>
            <a:ext cx="8083931" cy="51896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99BA09B-1114-5522-3E75-1B405BAD32E7}"/>
              </a:ext>
            </a:extLst>
          </p:cNvPr>
          <p:cNvSpPr/>
          <p:nvPr/>
        </p:nvSpPr>
        <p:spPr>
          <a:xfrm>
            <a:off x="4928741" y="1736250"/>
            <a:ext cx="2434370" cy="21513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35A1739-34F0-DF00-E066-DEDB7B786CF2}"/>
              </a:ext>
            </a:extLst>
          </p:cNvPr>
          <p:cNvSpPr/>
          <p:nvPr/>
        </p:nvSpPr>
        <p:spPr>
          <a:xfrm>
            <a:off x="7513188" y="1736250"/>
            <a:ext cx="2434370" cy="21513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9AEFEC7-26BB-13C6-2834-1E228DBAF1BE}"/>
              </a:ext>
            </a:extLst>
          </p:cNvPr>
          <p:cNvSpPr txBox="1"/>
          <p:nvPr/>
        </p:nvSpPr>
        <p:spPr>
          <a:xfrm>
            <a:off x="5667194" y="1871097"/>
            <a:ext cx="843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ABox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52AC194-2F25-A86C-BDE7-44A0B9D20311}"/>
              </a:ext>
            </a:extLst>
          </p:cNvPr>
          <p:cNvSpPr txBox="1"/>
          <p:nvPr/>
        </p:nvSpPr>
        <p:spPr>
          <a:xfrm>
            <a:off x="8308494" y="1871097"/>
            <a:ext cx="830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RBox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BC23FC4-5FD4-ADF9-BF0B-D005848795EA}"/>
              </a:ext>
            </a:extLst>
          </p:cNvPr>
          <p:cNvSpPr txBox="1"/>
          <p:nvPr/>
        </p:nvSpPr>
        <p:spPr>
          <a:xfrm>
            <a:off x="5362306" y="2285989"/>
            <a:ext cx="149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Assertion Box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0EB5FFB-8CAD-15E2-D8EA-6C4112E13B1E}"/>
              </a:ext>
            </a:extLst>
          </p:cNvPr>
          <p:cNvSpPr txBox="1"/>
          <p:nvPr/>
        </p:nvSpPr>
        <p:spPr>
          <a:xfrm>
            <a:off x="8217571" y="2297959"/>
            <a:ext cx="101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Role Box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06070EC-7628-9E05-B8F3-436BCCC122DA}"/>
              </a:ext>
            </a:extLst>
          </p:cNvPr>
          <p:cNvSpPr txBox="1"/>
          <p:nvPr/>
        </p:nvSpPr>
        <p:spPr>
          <a:xfrm>
            <a:off x="3757472" y="1010764"/>
            <a:ext cx="4254498" cy="6080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tx2">
                    <a:lumMod val="50000"/>
                  </a:schemeClr>
                </a:solidFill>
              </a:rPr>
              <a:t>Description Logic (OWL)</a:t>
            </a:r>
          </a:p>
          <a:p>
            <a:endParaRPr lang="pt-BR" sz="3200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27C0E86-D94A-EA9B-F06D-3771B73687FC}"/>
              </a:ext>
            </a:extLst>
          </p:cNvPr>
          <p:cNvSpPr/>
          <p:nvPr/>
        </p:nvSpPr>
        <p:spPr>
          <a:xfrm>
            <a:off x="2336501" y="1691219"/>
            <a:ext cx="2434370" cy="21513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21A0150-361F-92AC-F01D-AE2F5F68DC1D}"/>
              </a:ext>
            </a:extLst>
          </p:cNvPr>
          <p:cNvSpPr txBox="1"/>
          <p:nvPr/>
        </p:nvSpPr>
        <p:spPr>
          <a:xfrm>
            <a:off x="3026920" y="1871097"/>
            <a:ext cx="810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TBox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5BD233A-2F19-4CBD-26B6-67913A872C76}"/>
              </a:ext>
            </a:extLst>
          </p:cNvPr>
          <p:cNvSpPr txBox="1"/>
          <p:nvPr/>
        </p:nvSpPr>
        <p:spPr>
          <a:xfrm>
            <a:off x="2440477" y="2297959"/>
            <a:ext cx="198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Terminological Box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6A85464-7312-A50D-3AA1-502404C6D63B}"/>
              </a:ext>
            </a:extLst>
          </p:cNvPr>
          <p:cNvSpPr txBox="1"/>
          <p:nvPr/>
        </p:nvSpPr>
        <p:spPr>
          <a:xfrm>
            <a:off x="3773545" y="181320"/>
            <a:ext cx="4992200" cy="552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B0F0"/>
                </a:solidFill>
              </a:rPr>
              <a:t>Knowledge Base (Ontology)</a:t>
            </a:r>
          </a:p>
          <a:p>
            <a:endParaRPr lang="pt-BR" sz="3200" dirty="0">
              <a:solidFill>
                <a:srgbClr val="00B0F0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3119AFD9-BC03-DA1C-062C-EFF2A638CF86}"/>
              </a:ext>
            </a:extLst>
          </p:cNvPr>
          <p:cNvSpPr txBox="1"/>
          <p:nvPr/>
        </p:nvSpPr>
        <p:spPr>
          <a:xfrm>
            <a:off x="54677" y="2510518"/>
            <a:ext cx="1602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Knowledge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Base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DDCC6D-5A50-3AD0-1AC1-CEF3ABBED662}"/>
              </a:ext>
            </a:extLst>
          </p:cNvPr>
          <p:cNvSpPr txBox="1"/>
          <p:nvPr/>
        </p:nvSpPr>
        <p:spPr>
          <a:xfrm>
            <a:off x="267261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6" name="Slide Number Placeholder 0">
            <a:extLst>
              <a:ext uri="{FF2B5EF4-FFF2-40B4-BE49-F238E27FC236}">
                <a16:creationId xmlns:a16="http://schemas.microsoft.com/office/drawing/2014/main" id="{C10EF6CC-77CF-1934-8E3B-7AE4B15379D4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4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02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042DC-B8A5-727C-D1DC-386820AB4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898A1AFA-00D4-002A-13FE-32F56ABF3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4568F9A-327B-91FE-C633-9BBA2E136F6C}"/>
              </a:ext>
            </a:extLst>
          </p:cNvPr>
          <p:cNvSpPr/>
          <p:nvPr/>
        </p:nvSpPr>
        <p:spPr>
          <a:xfrm>
            <a:off x="1638787" y="116729"/>
            <a:ext cx="9053899" cy="6207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1751AF1-9DE4-3BF2-E0D2-AF08552D7FF0}"/>
              </a:ext>
            </a:extLst>
          </p:cNvPr>
          <p:cNvSpPr/>
          <p:nvPr/>
        </p:nvSpPr>
        <p:spPr>
          <a:xfrm>
            <a:off x="2123769" y="943126"/>
            <a:ext cx="8083931" cy="51896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A0F796-DDFA-77E6-BE08-A92A119D4257}"/>
              </a:ext>
            </a:extLst>
          </p:cNvPr>
          <p:cNvSpPr/>
          <p:nvPr/>
        </p:nvSpPr>
        <p:spPr>
          <a:xfrm>
            <a:off x="4928741" y="1736250"/>
            <a:ext cx="2434370" cy="21513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8FA91D-3A32-6A04-F34A-EBF2EDDA45E7}"/>
              </a:ext>
            </a:extLst>
          </p:cNvPr>
          <p:cNvSpPr txBox="1"/>
          <p:nvPr/>
        </p:nvSpPr>
        <p:spPr>
          <a:xfrm>
            <a:off x="4980200" y="3128950"/>
            <a:ext cx="1876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Mary is a Person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Fiat is a Car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Mary drivex Fiat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1475B0C-90D6-5314-7BB4-C8085E2AB14B}"/>
              </a:ext>
            </a:extLst>
          </p:cNvPr>
          <p:cNvSpPr/>
          <p:nvPr/>
        </p:nvSpPr>
        <p:spPr>
          <a:xfrm>
            <a:off x="7513188" y="1736250"/>
            <a:ext cx="2434370" cy="21513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4D07AF2-BD8E-9D50-C23D-6CAE5A40AA40}"/>
              </a:ext>
            </a:extLst>
          </p:cNvPr>
          <p:cNvSpPr txBox="1"/>
          <p:nvPr/>
        </p:nvSpPr>
        <p:spPr>
          <a:xfrm>
            <a:off x="7605874" y="3024741"/>
            <a:ext cx="20334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drives ⊑ interactsWith</a:t>
            </a:r>
            <a:r>
              <a:rPr lang="pt-BR" sz="1200" b="1" baseline="30000" dirty="0">
                <a:solidFill>
                  <a:srgbClr val="7030A0"/>
                </a:solidFill>
              </a:rPr>
              <a:t>(3)</a:t>
            </a: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hasFather ⊑ hasParent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hasBrother is symmetric</a:t>
            </a:r>
            <a:r>
              <a:rPr lang="pt-BR" sz="1200" b="1" baseline="30000" dirty="0">
                <a:solidFill>
                  <a:srgbClr val="7030A0"/>
                </a:solidFill>
              </a:rPr>
              <a:t>(4)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married is functional</a:t>
            </a:r>
            <a:r>
              <a:rPr lang="pt-BR" sz="1200" b="1" baseline="30000" dirty="0">
                <a:solidFill>
                  <a:srgbClr val="7030A0"/>
                </a:solidFill>
              </a:rPr>
              <a:t>(5)</a:t>
            </a:r>
            <a:r>
              <a:rPr lang="pt-BR" sz="1200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5ED63A5-3C70-38E6-4835-EC95E0803F54}"/>
              </a:ext>
            </a:extLst>
          </p:cNvPr>
          <p:cNvSpPr txBox="1"/>
          <p:nvPr/>
        </p:nvSpPr>
        <p:spPr>
          <a:xfrm>
            <a:off x="5667194" y="1871097"/>
            <a:ext cx="843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ABox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BDCD5C0-CD6B-6A4C-30B7-A34FDC37B22F}"/>
              </a:ext>
            </a:extLst>
          </p:cNvPr>
          <p:cNvSpPr txBox="1"/>
          <p:nvPr/>
        </p:nvSpPr>
        <p:spPr>
          <a:xfrm>
            <a:off x="8308494" y="1871097"/>
            <a:ext cx="830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RBox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AC33590-CD4E-8559-9BE9-F5E3E2BF3716}"/>
              </a:ext>
            </a:extLst>
          </p:cNvPr>
          <p:cNvSpPr txBox="1"/>
          <p:nvPr/>
        </p:nvSpPr>
        <p:spPr>
          <a:xfrm>
            <a:off x="5362306" y="2285989"/>
            <a:ext cx="149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Assertion Box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88D009A-45F8-6CBE-C997-E7F9842D72A4}"/>
              </a:ext>
            </a:extLst>
          </p:cNvPr>
          <p:cNvSpPr txBox="1"/>
          <p:nvPr/>
        </p:nvSpPr>
        <p:spPr>
          <a:xfrm>
            <a:off x="8217571" y="2297959"/>
            <a:ext cx="101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Role Box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6B5DE9B-AFC6-5FC3-4D2A-65BD80A2078E}"/>
              </a:ext>
            </a:extLst>
          </p:cNvPr>
          <p:cNvSpPr txBox="1"/>
          <p:nvPr/>
        </p:nvSpPr>
        <p:spPr>
          <a:xfrm>
            <a:off x="5324895" y="2707079"/>
            <a:ext cx="1648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Facts about individuals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D54FCE6-ADC8-1FA1-CA34-C51D5198D267}"/>
              </a:ext>
            </a:extLst>
          </p:cNvPr>
          <p:cNvSpPr txBox="1"/>
          <p:nvPr/>
        </p:nvSpPr>
        <p:spPr>
          <a:xfrm>
            <a:off x="7939250" y="2683949"/>
            <a:ext cx="1397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Relationship Rules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0858230-0625-04EB-86D8-D0B3BC8D860B}"/>
              </a:ext>
            </a:extLst>
          </p:cNvPr>
          <p:cNvSpPr txBox="1"/>
          <p:nvPr/>
        </p:nvSpPr>
        <p:spPr>
          <a:xfrm>
            <a:off x="3757472" y="1010764"/>
            <a:ext cx="4254498" cy="6080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tx2">
                    <a:lumMod val="50000"/>
                  </a:schemeClr>
                </a:solidFill>
              </a:rPr>
              <a:t>Description Logic (OWL)</a:t>
            </a:r>
          </a:p>
          <a:p>
            <a:endParaRPr lang="pt-BR" sz="3200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A158947-7A55-379F-A9DB-DD371897421F}"/>
              </a:ext>
            </a:extLst>
          </p:cNvPr>
          <p:cNvSpPr/>
          <p:nvPr/>
        </p:nvSpPr>
        <p:spPr>
          <a:xfrm>
            <a:off x="2336501" y="1691219"/>
            <a:ext cx="2434370" cy="21513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C7FFFBC-CFD9-C79B-0A85-FE77B87290F9}"/>
              </a:ext>
            </a:extLst>
          </p:cNvPr>
          <p:cNvSpPr txBox="1"/>
          <p:nvPr/>
        </p:nvSpPr>
        <p:spPr>
          <a:xfrm>
            <a:off x="2338342" y="3058113"/>
            <a:ext cx="24343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Person ⊑ Mammal</a:t>
            </a:r>
            <a:r>
              <a:rPr lang="pt-BR" sz="1200" b="1" baseline="30000" dirty="0">
                <a:solidFill>
                  <a:srgbClr val="7030A0"/>
                </a:solidFill>
              </a:rPr>
              <a:t>(1)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Car ⊑ Vehicle</a:t>
            </a:r>
            <a:r>
              <a:rPr lang="pt-BR" sz="1200" b="1" baseline="30000" dirty="0">
                <a:solidFill>
                  <a:srgbClr val="7030A0"/>
                </a:solidFill>
              </a:rPr>
              <a:t>(2)</a:t>
            </a:r>
            <a:r>
              <a:rPr lang="pt-BR" sz="1200" b="1" baseline="30000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50000"/>
                  </a:schemeClr>
                </a:solidFill>
              </a:rPr>
              <a:t>Driver ≡ Person who drives a vehicle</a:t>
            </a:r>
            <a:endParaRPr lang="pt-BR" sz="1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D69D141-500F-AEC6-8291-CEC0E47A4AE1}"/>
              </a:ext>
            </a:extLst>
          </p:cNvPr>
          <p:cNvSpPr txBox="1"/>
          <p:nvPr/>
        </p:nvSpPr>
        <p:spPr>
          <a:xfrm>
            <a:off x="3026920" y="1871097"/>
            <a:ext cx="810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TBox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35F4959-C0BC-F686-9DF5-A9B3A0397AD8}"/>
              </a:ext>
            </a:extLst>
          </p:cNvPr>
          <p:cNvSpPr txBox="1"/>
          <p:nvPr/>
        </p:nvSpPr>
        <p:spPr>
          <a:xfrm>
            <a:off x="2440477" y="2297959"/>
            <a:ext cx="198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Terminological Box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D94A174-597B-C14D-88E6-3B69F2F01155}"/>
              </a:ext>
            </a:extLst>
          </p:cNvPr>
          <p:cNvSpPr txBox="1"/>
          <p:nvPr/>
        </p:nvSpPr>
        <p:spPr>
          <a:xfrm>
            <a:off x="2768291" y="2771492"/>
            <a:ext cx="1446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Concept Definitions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C2530C2-F68F-D912-B2D6-2C4ADA5702B7}"/>
              </a:ext>
            </a:extLst>
          </p:cNvPr>
          <p:cNvSpPr txBox="1"/>
          <p:nvPr/>
        </p:nvSpPr>
        <p:spPr>
          <a:xfrm>
            <a:off x="3773545" y="181320"/>
            <a:ext cx="4992200" cy="552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B0F0"/>
                </a:solidFill>
              </a:rPr>
              <a:t>Knowledge Base (Ontology)</a:t>
            </a:r>
          </a:p>
          <a:p>
            <a:endParaRPr lang="pt-BR" sz="3200" dirty="0">
              <a:solidFill>
                <a:srgbClr val="00B0F0"/>
              </a:solidFill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79A1DB0-18A3-B285-6804-F7E76D2DD25C}"/>
              </a:ext>
            </a:extLst>
          </p:cNvPr>
          <p:cNvSpPr txBox="1"/>
          <p:nvPr/>
        </p:nvSpPr>
        <p:spPr>
          <a:xfrm>
            <a:off x="2152439" y="5031098"/>
            <a:ext cx="2677807" cy="10156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indent="-228600">
              <a:buAutoNum type="arabicParenBoth"/>
            </a:pPr>
            <a:r>
              <a:rPr lang="pt-BR" sz="1000" b="1" dirty="0">
                <a:solidFill>
                  <a:schemeClr val="bg1"/>
                </a:solidFill>
              </a:rPr>
              <a:t>    </a:t>
            </a:r>
            <a:r>
              <a:rPr lang="en-US" sz="1000" b="1" dirty="0">
                <a:solidFill>
                  <a:schemeClr val="bg1"/>
                </a:solidFill>
              </a:rPr>
              <a:t>Every person is a mammal</a:t>
            </a:r>
            <a:endParaRPr lang="pt-BR" sz="1000" b="1" dirty="0">
              <a:solidFill>
                <a:schemeClr val="bg1"/>
              </a:solidFill>
            </a:endParaRPr>
          </a:p>
          <a:p>
            <a:pPr marL="342900" indent="-342900">
              <a:buAutoNum type="arabicParenBoth"/>
            </a:pPr>
            <a:r>
              <a:rPr lang="en-US" sz="1000" b="1" dirty="0">
                <a:solidFill>
                  <a:schemeClr val="bg1"/>
                </a:solidFill>
              </a:rPr>
              <a:t>Every car is a vehicle</a:t>
            </a:r>
          </a:p>
          <a:p>
            <a:pPr marL="342900" indent="-342900">
              <a:buAutoNum type="arabicParenBoth"/>
            </a:pPr>
            <a:r>
              <a:rPr lang="en-US" sz="1000" b="1" dirty="0">
                <a:solidFill>
                  <a:schemeClr val="bg1"/>
                </a:solidFill>
              </a:rPr>
              <a:t>Driving is a type of interaction</a:t>
            </a:r>
          </a:p>
          <a:p>
            <a:pPr marL="342900" indent="-342900">
              <a:buAutoNum type="arabicParenBoth"/>
            </a:pPr>
            <a:r>
              <a:rPr lang="en-US" sz="1000" b="1" dirty="0">
                <a:solidFill>
                  <a:schemeClr val="bg1"/>
                </a:solidFill>
              </a:rPr>
              <a:t>If A is B's brother, then B is A's brother</a:t>
            </a:r>
            <a:endParaRPr lang="pt-BR" sz="1000" b="1" dirty="0">
              <a:solidFill>
                <a:schemeClr val="bg1"/>
              </a:solidFill>
            </a:endParaRPr>
          </a:p>
          <a:p>
            <a:pPr marL="342900" indent="-342900">
              <a:buAutoNum type="arabicParenBoth"/>
            </a:pPr>
            <a:r>
              <a:rPr lang="en-US" sz="1000" b="1" dirty="0">
                <a:solidFill>
                  <a:schemeClr val="bg1"/>
                </a:solidFill>
              </a:rPr>
              <a:t>Each person is married to at most one other person</a:t>
            </a:r>
            <a:endParaRPr lang="pt-BR" sz="1000" dirty="0">
              <a:solidFill>
                <a:schemeClr val="bg1"/>
              </a:solidFill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4D7C209A-7416-4A2C-A0EA-D3E79E84D7FF}"/>
              </a:ext>
            </a:extLst>
          </p:cNvPr>
          <p:cNvSpPr txBox="1"/>
          <p:nvPr/>
        </p:nvSpPr>
        <p:spPr>
          <a:xfrm>
            <a:off x="54677" y="2510518"/>
            <a:ext cx="1602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Knowledge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Base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99CE5D-A55B-CF5D-E8FE-2586F5351B52}"/>
              </a:ext>
            </a:extLst>
          </p:cNvPr>
          <p:cNvSpPr txBox="1"/>
          <p:nvPr/>
        </p:nvSpPr>
        <p:spPr>
          <a:xfrm>
            <a:off x="267261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10" name="Slide Number Placeholder 0">
            <a:extLst>
              <a:ext uri="{FF2B5EF4-FFF2-40B4-BE49-F238E27FC236}">
                <a16:creationId xmlns:a16="http://schemas.microsoft.com/office/drawing/2014/main" id="{57EE0BFB-B1B0-9D11-B563-A98C35971796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5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56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5B58B-75B2-556A-8294-5DCEFE477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DE954877-5253-9F3E-62E3-33829DC5A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391EB18-6441-F2E2-D8EE-48AE6935A65B}"/>
              </a:ext>
            </a:extLst>
          </p:cNvPr>
          <p:cNvSpPr/>
          <p:nvPr/>
        </p:nvSpPr>
        <p:spPr>
          <a:xfrm>
            <a:off x="1638787" y="116729"/>
            <a:ext cx="9053899" cy="6207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A5363D4-9234-C4C7-1C1A-4BFC014C95A8}"/>
              </a:ext>
            </a:extLst>
          </p:cNvPr>
          <p:cNvSpPr/>
          <p:nvPr/>
        </p:nvSpPr>
        <p:spPr>
          <a:xfrm>
            <a:off x="2123769" y="943126"/>
            <a:ext cx="8083931" cy="51896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D5A04AE-B470-D6F9-AE6B-ADA05CE86B64}"/>
              </a:ext>
            </a:extLst>
          </p:cNvPr>
          <p:cNvSpPr/>
          <p:nvPr/>
        </p:nvSpPr>
        <p:spPr>
          <a:xfrm>
            <a:off x="4928741" y="1736250"/>
            <a:ext cx="2434370" cy="21513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B1522A9-AABF-52CB-4AC7-F0A3F99FF605}"/>
              </a:ext>
            </a:extLst>
          </p:cNvPr>
          <p:cNvSpPr txBox="1"/>
          <p:nvPr/>
        </p:nvSpPr>
        <p:spPr>
          <a:xfrm>
            <a:off x="4980200" y="3128950"/>
            <a:ext cx="1876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Mary is a Person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Fiat is a Car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Mary drivex Fiat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15CD849-7EA1-AD27-692F-E58A6AF640A3}"/>
              </a:ext>
            </a:extLst>
          </p:cNvPr>
          <p:cNvSpPr/>
          <p:nvPr/>
        </p:nvSpPr>
        <p:spPr>
          <a:xfrm>
            <a:off x="7513188" y="1736250"/>
            <a:ext cx="2434370" cy="21513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DD69897-924D-BA43-200D-189B590C26E3}"/>
              </a:ext>
            </a:extLst>
          </p:cNvPr>
          <p:cNvSpPr txBox="1"/>
          <p:nvPr/>
        </p:nvSpPr>
        <p:spPr>
          <a:xfrm>
            <a:off x="7605874" y="3024741"/>
            <a:ext cx="20334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drives ⊑ interactsWith</a:t>
            </a:r>
            <a:r>
              <a:rPr lang="pt-BR" sz="1200" b="1" baseline="30000" dirty="0">
                <a:solidFill>
                  <a:srgbClr val="7030A0"/>
                </a:solidFill>
              </a:rPr>
              <a:t>(3)</a:t>
            </a: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hasFather ⊑ hasParent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hasBrother is symmetric</a:t>
            </a:r>
            <a:r>
              <a:rPr lang="pt-BR" sz="1200" b="1" baseline="30000" dirty="0">
                <a:solidFill>
                  <a:srgbClr val="7030A0"/>
                </a:solidFill>
              </a:rPr>
              <a:t>(4)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married is functional</a:t>
            </a:r>
            <a:r>
              <a:rPr lang="pt-BR" sz="1200" b="1" baseline="30000" dirty="0">
                <a:solidFill>
                  <a:srgbClr val="7030A0"/>
                </a:solidFill>
              </a:rPr>
              <a:t>(5)</a:t>
            </a:r>
            <a:r>
              <a:rPr lang="pt-BR" sz="1200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F300394-4C6B-D386-3D1D-D9B375BE6FA8}"/>
              </a:ext>
            </a:extLst>
          </p:cNvPr>
          <p:cNvSpPr txBox="1"/>
          <p:nvPr/>
        </p:nvSpPr>
        <p:spPr>
          <a:xfrm>
            <a:off x="5667194" y="1871097"/>
            <a:ext cx="843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ABox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F2BF95E-082E-8C32-BCA8-30A1296948F3}"/>
              </a:ext>
            </a:extLst>
          </p:cNvPr>
          <p:cNvSpPr txBox="1"/>
          <p:nvPr/>
        </p:nvSpPr>
        <p:spPr>
          <a:xfrm>
            <a:off x="8308494" y="1871097"/>
            <a:ext cx="830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RBox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5FDE54E-B8B6-2DFE-3545-C63265D18671}"/>
              </a:ext>
            </a:extLst>
          </p:cNvPr>
          <p:cNvSpPr txBox="1"/>
          <p:nvPr/>
        </p:nvSpPr>
        <p:spPr>
          <a:xfrm>
            <a:off x="5362306" y="2285989"/>
            <a:ext cx="149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Assertion Box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D81771A-AD04-E512-6CC5-1BBF5802C013}"/>
              </a:ext>
            </a:extLst>
          </p:cNvPr>
          <p:cNvSpPr txBox="1"/>
          <p:nvPr/>
        </p:nvSpPr>
        <p:spPr>
          <a:xfrm>
            <a:off x="8217571" y="2297959"/>
            <a:ext cx="101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Role Box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F1F7C5A-9F53-6FE0-9DFD-691296453702}"/>
              </a:ext>
            </a:extLst>
          </p:cNvPr>
          <p:cNvSpPr txBox="1"/>
          <p:nvPr/>
        </p:nvSpPr>
        <p:spPr>
          <a:xfrm>
            <a:off x="5324895" y="2707079"/>
            <a:ext cx="1648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Facts about individuals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89E9325-2CB7-5A8A-22CA-096ABB5B7EFD}"/>
              </a:ext>
            </a:extLst>
          </p:cNvPr>
          <p:cNvSpPr txBox="1"/>
          <p:nvPr/>
        </p:nvSpPr>
        <p:spPr>
          <a:xfrm>
            <a:off x="7939250" y="2683949"/>
            <a:ext cx="1397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Relationship Rules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F3F48B1-30CE-2A33-3BE3-1F078DC958E0}"/>
              </a:ext>
            </a:extLst>
          </p:cNvPr>
          <p:cNvSpPr txBox="1"/>
          <p:nvPr/>
        </p:nvSpPr>
        <p:spPr>
          <a:xfrm>
            <a:off x="3757472" y="1010764"/>
            <a:ext cx="4254498" cy="6080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tx2">
                    <a:lumMod val="50000"/>
                  </a:schemeClr>
                </a:solidFill>
              </a:rPr>
              <a:t>Description Logic (OWL)</a:t>
            </a:r>
          </a:p>
          <a:p>
            <a:endParaRPr lang="pt-BR" sz="3200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A6DC3A0-A6A6-E2FF-A13D-CDE4E1E6C661}"/>
              </a:ext>
            </a:extLst>
          </p:cNvPr>
          <p:cNvSpPr/>
          <p:nvPr/>
        </p:nvSpPr>
        <p:spPr>
          <a:xfrm>
            <a:off x="2336501" y="1691219"/>
            <a:ext cx="2434370" cy="21513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F7BADB2-F5B9-2A33-0955-80B67938CBB3}"/>
              </a:ext>
            </a:extLst>
          </p:cNvPr>
          <p:cNvSpPr txBox="1"/>
          <p:nvPr/>
        </p:nvSpPr>
        <p:spPr>
          <a:xfrm>
            <a:off x="2338342" y="3058113"/>
            <a:ext cx="24343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Person ⊑ Mammal</a:t>
            </a:r>
            <a:r>
              <a:rPr lang="pt-BR" sz="1200" b="1" baseline="30000" dirty="0">
                <a:solidFill>
                  <a:srgbClr val="7030A0"/>
                </a:solidFill>
              </a:rPr>
              <a:t>(1)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2">
                    <a:lumMod val="50000"/>
                  </a:schemeClr>
                </a:solidFill>
              </a:rPr>
              <a:t>Car ⊑ Vehicle</a:t>
            </a:r>
            <a:r>
              <a:rPr lang="pt-BR" sz="1200" b="1" baseline="30000" dirty="0">
                <a:solidFill>
                  <a:srgbClr val="7030A0"/>
                </a:solidFill>
              </a:rPr>
              <a:t>(2)</a:t>
            </a:r>
            <a:r>
              <a:rPr lang="pt-BR" sz="1200" b="1" baseline="30000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50000"/>
                  </a:schemeClr>
                </a:solidFill>
              </a:rPr>
              <a:t>Driver ≡ Person who drives a vehicle</a:t>
            </a:r>
            <a:endParaRPr lang="pt-BR" sz="1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26F0EB3-62B7-4E9B-D33D-3EEA4FE9D10D}"/>
              </a:ext>
            </a:extLst>
          </p:cNvPr>
          <p:cNvSpPr txBox="1"/>
          <p:nvPr/>
        </p:nvSpPr>
        <p:spPr>
          <a:xfrm>
            <a:off x="3026920" y="1871097"/>
            <a:ext cx="810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TBox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2C0145C-279C-8931-7B19-106F3525E030}"/>
              </a:ext>
            </a:extLst>
          </p:cNvPr>
          <p:cNvSpPr txBox="1"/>
          <p:nvPr/>
        </p:nvSpPr>
        <p:spPr>
          <a:xfrm>
            <a:off x="2440477" y="2297959"/>
            <a:ext cx="198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Terminological Box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B5AC183-5F39-0F54-3E15-3E687B826B2D}"/>
              </a:ext>
            </a:extLst>
          </p:cNvPr>
          <p:cNvSpPr txBox="1"/>
          <p:nvPr/>
        </p:nvSpPr>
        <p:spPr>
          <a:xfrm>
            <a:off x="2768291" y="2771492"/>
            <a:ext cx="1446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Concept Definitions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B77F8C9-6A86-9D07-7FE9-25F5EDED370D}"/>
              </a:ext>
            </a:extLst>
          </p:cNvPr>
          <p:cNvSpPr txBox="1"/>
          <p:nvPr/>
        </p:nvSpPr>
        <p:spPr>
          <a:xfrm>
            <a:off x="3773545" y="181320"/>
            <a:ext cx="4992200" cy="552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B0F0"/>
                </a:solidFill>
              </a:rPr>
              <a:t>Knowledge Base (Ontology)</a:t>
            </a:r>
          </a:p>
          <a:p>
            <a:endParaRPr lang="pt-BR" sz="3200" dirty="0">
              <a:solidFill>
                <a:srgbClr val="00B0F0"/>
              </a:solidFill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5FB3608-6A5C-FE11-59DC-EE7B5E7FFC7B}"/>
              </a:ext>
            </a:extLst>
          </p:cNvPr>
          <p:cNvSpPr txBox="1"/>
          <p:nvPr/>
        </p:nvSpPr>
        <p:spPr>
          <a:xfrm>
            <a:off x="2152439" y="5031098"/>
            <a:ext cx="2677807" cy="10156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indent="-228600">
              <a:buAutoNum type="arabicParenBoth"/>
            </a:pPr>
            <a:r>
              <a:rPr lang="pt-BR" sz="1000" b="1" dirty="0">
                <a:solidFill>
                  <a:schemeClr val="bg1"/>
                </a:solidFill>
              </a:rPr>
              <a:t>    </a:t>
            </a:r>
            <a:r>
              <a:rPr lang="en-US" sz="1000" b="1" dirty="0">
                <a:solidFill>
                  <a:schemeClr val="bg1"/>
                </a:solidFill>
              </a:rPr>
              <a:t>Every person is a mammal</a:t>
            </a:r>
            <a:endParaRPr lang="pt-BR" sz="1000" b="1" dirty="0">
              <a:solidFill>
                <a:schemeClr val="bg1"/>
              </a:solidFill>
            </a:endParaRPr>
          </a:p>
          <a:p>
            <a:pPr marL="342900" indent="-342900">
              <a:buAutoNum type="arabicParenBoth"/>
            </a:pPr>
            <a:r>
              <a:rPr lang="en-US" sz="1000" b="1" dirty="0">
                <a:solidFill>
                  <a:schemeClr val="bg1"/>
                </a:solidFill>
              </a:rPr>
              <a:t>Every car is a vehicle</a:t>
            </a:r>
          </a:p>
          <a:p>
            <a:pPr marL="342900" indent="-342900">
              <a:buAutoNum type="arabicParenBoth"/>
            </a:pPr>
            <a:r>
              <a:rPr lang="en-US" sz="1000" b="1" dirty="0">
                <a:solidFill>
                  <a:schemeClr val="bg1"/>
                </a:solidFill>
              </a:rPr>
              <a:t>Driving is a type of interaction</a:t>
            </a:r>
          </a:p>
          <a:p>
            <a:pPr marL="342900" indent="-342900">
              <a:buAutoNum type="arabicParenBoth"/>
            </a:pPr>
            <a:r>
              <a:rPr lang="en-US" sz="1000" b="1" dirty="0">
                <a:solidFill>
                  <a:schemeClr val="bg1"/>
                </a:solidFill>
              </a:rPr>
              <a:t>If A is B's brother, then B is A's brother</a:t>
            </a:r>
            <a:endParaRPr lang="pt-BR" sz="1000" b="1" dirty="0">
              <a:solidFill>
                <a:schemeClr val="bg1"/>
              </a:solidFill>
            </a:endParaRPr>
          </a:p>
          <a:p>
            <a:pPr marL="342900" indent="-342900">
              <a:buAutoNum type="arabicParenBoth"/>
            </a:pPr>
            <a:r>
              <a:rPr lang="en-US" sz="1000" b="1" dirty="0">
                <a:solidFill>
                  <a:schemeClr val="bg1"/>
                </a:solidFill>
              </a:rPr>
              <a:t>Each person is married to at most one other person</a:t>
            </a:r>
            <a:endParaRPr lang="pt-BR" sz="1000" dirty="0">
              <a:solidFill>
                <a:schemeClr val="bg1"/>
              </a:solidFill>
            </a:endParaRP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A426A4A8-5E89-2516-2B9D-DF36AF2BF823}"/>
              </a:ext>
            </a:extLst>
          </p:cNvPr>
          <p:cNvSpPr/>
          <p:nvPr/>
        </p:nvSpPr>
        <p:spPr>
          <a:xfrm>
            <a:off x="5129326" y="4209762"/>
            <a:ext cx="2032513" cy="7402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7C60373-DEE4-2A6D-FF73-F4A031A165BB}"/>
              </a:ext>
            </a:extLst>
          </p:cNvPr>
          <p:cNvSpPr/>
          <p:nvPr/>
        </p:nvSpPr>
        <p:spPr>
          <a:xfrm>
            <a:off x="4895600" y="5516025"/>
            <a:ext cx="2495219" cy="45519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C191178-A625-95AC-EEBA-DE0F2E78D0BD}"/>
              </a:ext>
            </a:extLst>
          </p:cNvPr>
          <p:cNvSpPr txBox="1"/>
          <p:nvPr/>
        </p:nvSpPr>
        <p:spPr>
          <a:xfrm>
            <a:off x="5186074" y="5550361"/>
            <a:ext cx="1973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FF00"/>
                </a:solidFill>
              </a:rPr>
              <a:t>Mary is a Mammal</a:t>
            </a:r>
          </a:p>
        </p:txBody>
      </p:sp>
      <p:sp>
        <p:nvSpPr>
          <p:cNvPr id="47" name="Seta: para Baixo 46">
            <a:extLst>
              <a:ext uri="{FF2B5EF4-FFF2-40B4-BE49-F238E27FC236}">
                <a16:creationId xmlns:a16="http://schemas.microsoft.com/office/drawing/2014/main" id="{7B2CC361-EF6C-F503-264E-54FB93928E0D}"/>
              </a:ext>
            </a:extLst>
          </p:cNvPr>
          <p:cNvSpPr/>
          <p:nvPr/>
        </p:nvSpPr>
        <p:spPr>
          <a:xfrm>
            <a:off x="5971019" y="4952542"/>
            <a:ext cx="344385" cy="52249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163AFEF6-969D-2FB1-D636-3C9394CFFB6E}"/>
              </a:ext>
            </a:extLst>
          </p:cNvPr>
          <p:cNvCxnSpPr>
            <a:cxnSpLocks/>
            <a:stCxn id="33" idx="2"/>
            <a:endCxn id="44" idx="1"/>
          </p:cNvCxnSpPr>
          <p:nvPr/>
        </p:nvCxnSpPr>
        <p:spPr>
          <a:xfrm rot="16200000" flipH="1">
            <a:off x="3997043" y="3447593"/>
            <a:ext cx="690767" cy="1573799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2FB2F149-9EEF-7D92-0795-7493B9DFDF24}"/>
              </a:ext>
            </a:extLst>
          </p:cNvPr>
          <p:cNvCxnSpPr>
            <a:cxnSpLocks/>
            <a:stCxn id="15" idx="2"/>
            <a:endCxn id="44" idx="3"/>
          </p:cNvCxnSpPr>
          <p:nvPr/>
        </p:nvCxnSpPr>
        <p:spPr>
          <a:xfrm rot="5400000">
            <a:off x="7530140" y="3487437"/>
            <a:ext cx="724139" cy="146074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BD89C5C4-941B-C7CB-A822-6E5E0FE6AD7A}"/>
              </a:ext>
            </a:extLst>
          </p:cNvPr>
          <p:cNvCxnSpPr>
            <a:cxnSpLocks/>
          </p:cNvCxnSpPr>
          <p:nvPr/>
        </p:nvCxnSpPr>
        <p:spPr>
          <a:xfrm flipH="1">
            <a:off x="6145583" y="3887587"/>
            <a:ext cx="343" cy="35969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080C4AAC-E291-CAA4-BA81-11E50E2E271C}"/>
              </a:ext>
            </a:extLst>
          </p:cNvPr>
          <p:cNvSpPr txBox="1"/>
          <p:nvPr/>
        </p:nvSpPr>
        <p:spPr>
          <a:xfrm>
            <a:off x="5155074" y="4394751"/>
            <a:ext cx="2021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 err="1"/>
              <a:t>Reasoner</a:t>
            </a:r>
            <a:r>
              <a:rPr lang="pt-BR" sz="1600" b="1" dirty="0"/>
              <a:t> (</a:t>
            </a:r>
            <a:r>
              <a:rPr lang="pt-BR" sz="1600" b="1" dirty="0" err="1"/>
              <a:t>Inference</a:t>
            </a:r>
            <a:r>
              <a:rPr lang="pt-BR" sz="1600" b="1" dirty="0"/>
              <a:t>)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C758166-C12B-4700-CFA6-F7BA633007A7}"/>
              </a:ext>
            </a:extLst>
          </p:cNvPr>
          <p:cNvSpPr txBox="1"/>
          <p:nvPr/>
        </p:nvSpPr>
        <p:spPr>
          <a:xfrm>
            <a:off x="54677" y="2510518"/>
            <a:ext cx="1602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Knowledge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Base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8F03967-AC15-1CB8-717E-63C2C16310EE}"/>
              </a:ext>
            </a:extLst>
          </p:cNvPr>
          <p:cNvSpPr txBox="1"/>
          <p:nvPr/>
        </p:nvSpPr>
        <p:spPr>
          <a:xfrm>
            <a:off x="267261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10" name="Slide Number Placeholder 0">
            <a:extLst>
              <a:ext uri="{FF2B5EF4-FFF2-40B4-BE49-F238E27FC236}">
                <a16:creationId xmlns:a16="http://schemas.microsoft.com/office/drawing/2014/main" id="{881ADAE8-7FA9-0948-9DCB-BB7445FE7BB2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6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65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73317" y="2767701"/>
            <a:ext cx="1813686" cy="682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Why UFO?</a:t>
            </a:r>
            <a:endParaRPr lang="en-US" sz="2600" dirty="0"/>
          </a:p>
        </p:txBody>
      </p:sp>
      <p:sp>
        <p:nvSpPr>
          <p:cNvPr id="3" name="Upper (foundational) ontology"/>
          <p:cNvSpPr/>
          <p:nvPr/>
        </p:nvSpPr>
        <p:spPr>
          <a:xfrm>
            <a:off x="2514600" y="41148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51760" y="4114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Upper (foundational) ontology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General, domain-independent categories: object, event, quality, time… e.g. BFO, DOLCE, UFO, SUMO, GFO</a:t>
            </a:r>
            <a:endParaRPr lang="en-US" sz="1500" dirty="0"/>
          </a:p>
        </p:txBody>
      </p:sp>
      <p:sp>
        <p:nvSpPr>
          <p:cNvPr id="5" name="Domain ontology"/>
          <p:cNvSpPr/>
          <p:nvPr/>
        </p:nvSpPr>
        <p:spPr>
          <a:xfrm>
            <a:off x="7772400" y="41148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9560" y="4114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Domain ontology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Concepts of a specific area, e.g. the Internet Infrastructure: AS, link, peering agreement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01968" y="978408"/>
            <a:ext cx="1060704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6492240" y="484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2"/>
                </a:solidFill>
              </a:rPr>
              <a:t>guides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50876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FOUR ADVANTAGES — EVERYDAY ANALOGY → INTERNET INFRASTRUCTURE</a:t>
            </a:r>
            <a:endParaRPr lang="en-US" sz="1200" dirty="0"/>
          </a:p>
        </p:txBody>
      </p:sp>
      <p:sp>
        <p:nvSpPr>
          <p:cNvPr id="10" name="Advantage 1"/>
          <p:cNvSpPr/>
          <p:nvPr/>
        </p:nvSpPr>
        <p:spPr>
          <a:xfrm>
            <a:off x="2514600" y="1874520"/>
            <a:ext cx="450799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9192" y="203911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919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27832" y="20116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What it is vs. the role it plays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227832" y="25146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A person is a student only while enrolled.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27832" y="283464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AS is a provider to one neighbour and a client of another, at the same time.</a:t>
            </a:r>
            <a:endParaRPr lang="en-US" sz="1400" dirty="0"/>
          </a:p>
        </p:txBody>
      </p:sp>
      <p:sp>
        <p:nvSpPr>
          <p:cNvPr id="16" name="Advantage 2"/>
          <p:cNvSpPr/>
          <p:nvPr/>
        </p:nvSpPr>
        <p:spPr>
          <a:xfrm>
            <a:off x="7242048" y="1874520"/>
            <a:ext cx="450799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203911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0116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What keeps it “the same”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5146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A football team survives a full change of players.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83464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 AS keeps its identity as routers and links change: the RIR assignment sustains it.</a:t>
            </a:r>
            <a:endParaRPr lang="en-US" sz="1400" dirty="0"/>
          </a:p>
        </p:txBody>
      </p:sp>
      <p:sp>
        <p:nvSpPr>
          <p:cNvPr id="22" name="Advantage 3"/>
          <p:cNvSpPr/>
          <p:nvPr/>
        </p:nvSpPr>
        <p:spPr>
          <a:xfrm>
            <a:off x="2514600" y="3749040"/>
            <a:ext cx="450799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79192" y="391363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79192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227832" y="38862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Agreements as real things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227832" y="43891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A marriage has a start date, rules and an end.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227832" y="47091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peering agreement has a start, terms and an end: “since when are these ASes partners?”</a:t>
            </a:r>
            <a:endParaRPr lang="en-US" sz="1400" dirty="0"/>
          </a:p>
        </p:txBody>
      </p:sp>
      <p:sp>
        <p:nvSpPr>
          <p:cNvPr id="28" name="Advantage 4"/>
          <p:cNvSpPr/>
          <p:nvPr/>
        </p:nvSpPr>
        <p:spPr>
          <a:xfrm>
            <a:off x="7242048" y="3749040"/>
            <a:ext cx="450799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391363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38862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 common foundation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3891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</a:rPr>
              <a:t>One socket standard: every appliance fits.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47091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AS ontology plugs into existing ontologies of contracts, services and risk.</a:t>
            </a:r>
            <a:endParaRPr lang="en-US" sz="1400" dirty="0"/>
          </a:p>
        </p:txBody>
      </p:sp>
      <p:sp>
        <p:nvSpPr>
          <p:cNvPr id="34" name="Takeaway"/>
          <p:cNvSpPr/>
          <p:nvPr/>
        </p:nvSpPr>
        <p:spPr>
          <a:xfrm>
            <a:off x="2514600" y="5623560"/>
            <a:ext cx="8138160" cy="502920"/>
          </a:xfrm>
          <a:prstGeom prst="roundRect">
            <a:avLst>
              <a:gd name="adj" fmla="val 145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5623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Higher initial cost, fewer costly errors: </a:t>
            </a:r>
            <a:r>
              <a:rPr lang="en-US" sz="1400" dirty="0">
                <a:solidFill>
                  <a:schemeClr val="tx1"/>
                </a:solidFill>
              </a:rPr>
              <a:t>worthwhile for complex, relation-rich, long-lived domains such as the Internet Infrastructure.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00800"/>
            <a:ext cx="228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606C0709-4993-37C4-7221-7A14452DE068}"/>
              </a:ext>
            </a:extLst>
          </p:cNvPr>
          <p:cNvSpPr txBox="1">
            <a:spLocks/>
          </p:cNvSpPr>
          <p:nvPr/>
        </p:nvSpPr>
        <p:spPr>
          <a:xfrm>
            <a:off x="327597" y="527420"/>
            <a:ext cx="1813686" cy="682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Types of Ontologies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59CA-1774-B99E-C06C-608C6EFD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B9D67278-D73C-D4FA-5214-A9D47ADE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6988D3F-3026-22FD-935F-C0DDA6900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695" y="3313215"/>
            <a:ext cx="2427647" cy="180672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E0CE477-6F79-BB47-9BFA-19CC0FE70305}"/>
              </a:ext>
            </a:extLst>
          </p:cNvPr>
          <p:cNvSpPr txBox="1"/>
          <p:nvPr/>
        </p:nvSpPr>
        <p:spPr>
          <a:xfrm>
            <a:off x="378476" y="2510518"/>
            <a:ext cx="12398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Project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33A830-DE84-B564-14D7-69F972E3EED1}"/>
              </a:ext>
            </a:extLst>
          </p:cNvPr>
          <p:cNvSpPr txBox="1"/>
          <p:nvPr/>
        </p:nvSpPr>
        <p:spPr>
          <a:xfrm>
            <a:off x="267261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9" name="Slide Number Placeholder 0">
            <a:extLst>
              <a:ext uri="{FF2B5EF4-FFF2-40B4-BE49-F238E27FC236}">
                <a16:creationId xmlns:a16="http://schemas.microsoft.com/office/drawing/2014/main" id="{CBB37EAB-4739-76D2-8AC2-AEC67E99029F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8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50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EF39-E1EC-6EE6-C698-2AA21F8E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5E7C548D-E245-9C75-B913-4D39FD6C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A02D3E2-A599-A0B8-A9D7-77AF00511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719" y="200517"/>
            <a:ext cx="3657601" cy="165116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3B102D5-0D03-A10A-BA0A-D63B2A355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695" y="3313215"/>
            <a:ext cx="2427647" cy="1806722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B0CC7219-0224-546E-0A14-2B63BA25D626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8966519" y="1851682"/>
            <a:ext cx="1" cy="146153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784E91-DDCD-C7BE-CFFD-D87558244E87}"/>
              </a:ext>
            </a:extLst>
          </p:cNvPr>
          <p:cNvSpPr txBox="1"/>
          <p:nvPr/>
        </p:nvSpPr>
        <p:spPr>
          <a:xfrm>
            <a:off x="378476" y="2510518"/>
            <a:ext cx="12398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Project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5E9444-7417-A8C7-725B-B99D0E46B6A6}"/>
              </a:ext>
            </a:extLst>
          </p:cNvPr>
          <p:cNvSpPr txBox="1"/>
          <p:nvPr/>
        </p:nvSpPr>
        <p:spPr>
          <a:xfrm>
            <a:off x="326636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11" name="Slide Number Placeholder 0">
            <a:extLst>
              <a:ext uri="{FF2B5EF4-FFF2-40B4-BE49-F238E27FC236}">
                <a16:creationId xmlns:a16="http://schemas.microsoft.com/office/drawing/2014/main" id="{842ABD88-4029-820B-ED7B-48902A839816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9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01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52F7-0FEC-675C-B0D8-14AC483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18072988-5CBF-C852-E91D-A54424F1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C21EC975-8063-1B74-D25E-8423C7C8D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719" y="200517"/>
            <a:ext cx="3657601" cy="165116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4240204-E14A-7187-E59D-1E674008BA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695" y="3313215"/>
            <a:ext cx="2427647" cy="180672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F71047-4129-E81C-27E7-5862E1A17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902" y="200517"/>
            <a:ext cx="2166004" cy="1622527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E2239FE-CE2B-80F4-CEE2-B5A1F7540D82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8966519" y="1851682"/>
            <a:ext cx="1" cy="146153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3F3B1AE-C671-E257-4A25-CA9AA5D9D307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6008906" y="1011781"/>
            <a:ext cx="1128813" cy="1431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3E81A0-76D6-C891-FD35-EF7D6B7F6F4C}"/>
              </a:ext>
            </a:extLst>
          </p:cNvPr>
          <p:cNvSpPr txBox="1"/>
          <p:nvPr/>
        </p:nvSpPr>
        <p:spPr>
          <a:xfrm>
            <a:off x="378476" y="2510518"/>
            <a:ext cx="12398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Project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E21408-4B55-0FB4-B9A3-18F95FB8C110}"/>
              </a:ext>
            </a:extLst>
          </p:cNvPr>
          <p:cNvSpPr txBox="1"/>
          <p:nvPr/>
        </p:nvSpPr>
        <p:spPr>
          <a:xfrm>
            <a:off x="326636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13" name="Slide Number Placeholder 0">
            <a:extLst>
              <a:ext uri="{FF2B5EF4-FFF2-40B4-BE49-F238E27FC236}">
                <a16:creationId xmlns:a16="http://schemas.microsoft.com/office/drawing/2014/main" id="{C8210923-B568-92CC-AB8E-DB9D1C6EA802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10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04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2A25-8901-2F05-0633-F575C3FD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816D727B-3B76-DACC-773D-2F5DB33F4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977064D-E900-F161-2D8F-8AF91AA15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719" y="200517"/>
            <a:ext cx="3657601" cy="165116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2B359A-8E90-AA84-9AC8-2DF6297F4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695" y="3313215"/>
            <a:ext cx="2427647" cy="180672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494D3A3-A637-3DE7-46C1-048B7401BA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902" y="1934650"/>
            <a:ext cx="2166004" cy="219942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8671918-DA97-FFF9-C823-4F4B3E9E5D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902" y="200517"/>
            <a:ext cx="2166004" cy="1622527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3BCBBA3-1127-CD9D-75E2-7D3EC37FE1E5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8966519" y="1851682"/>
            <a:ext cx="1" cy="146153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708D059-01C6-B2E6-778A-465FF3C8B637}"/>
              </a:ext>
            </a:extLst>
          </p:cNvPr>
          <p:cNvCxnSpPr>
            <a:cxnSpLocks/>
            <a:stCxn id="6" idx="3"/>
            <a:endCxn id="2" idx="1"/>
          </p:cNvCxnSpPr>
          <p:nvPr/>
        </p:nvCxnSpPr>
        <p:spPr>
          <a:xfrm>
            <a:off x="6008906" y="1011781"/>
            <a:ext cx="1128813" cy="1431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EF796004-EB2E-6DED-F25F-84A464CCF015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6008906" y="3034362"/>
            <a:ext cx="1743789" cy="1182214"/>
          </a:xfrm>
          <a:prstGeom prst="bentConnector3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19477E22-DE46-FEE3-9DFF-DF6BE20489FA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 flipV="1">
            <a:off x="3842902" y="1011780"/>
            <a:ext cx="12700" cy="2022581"/>
          </a:xfrm>
          <a:prstGeom prst="bentConnector3">
            <a:avLst>
              <a:gd name="adj1" fmla="val 3389606"/>
            </a:avLst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A27B649-24A3-26AF-B4A3-7A217ED82BFD}"/>
              </a:ext>
            </a:extLst>
          </p:cNvPr>
          <p:cNvSpPr txBox="1"/>
          <p:nvPr/>
        </p:nvSpPr>
        <p:spPr>
          <a:xfrm>
            <a:off x="378476" y="2510518"/>
            <a:ext cx="12398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Project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670E766-E188-90B6-E3CD-0197811BDE74}"/>
              </a:ext>
            </a:extLst>
          </p:cNvPr>
          <p:cNvSpPr txBox="1"/>
          <p:nvPr/>
        </p:nvSpPr>
        <p:spPr>
          <a:xfrm>
            <a:off x="326636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16" name="Slide Number Placeholder 0">
            <a:extLst>
              <a:ext uri="{FF2B5EF4-FFF2-40B4-BE49-F238E27FC236}">
                <a16:creationId xmlns:a16="http://schemas.microsoft.com/office/drawing/2014/main" id="{0C9AD803-5C1A-3B14-9639-F60DE927D5A9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11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86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0442-C06E-20C2-1900-AEB603687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CAC0EE77-6443-9534-B948-7481A1DA6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6331951-1AB4-6FDA-F2EC-62439EC25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719" y="200517"/>
            <a:ext cx="3657601" cy="16511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FDE2731-62D6-322E-A418-738ABBA020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695" y="3313215"/>
            <a:ext cx="2427647" cy="180672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F61FF09-19CD-B929-59D8-913D0A8261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902" y="1934650"/>
            <a:ext cx="2166004" cy="219942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DD57108-BAEF-C8DD-41CF-AE843243A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902" y="4502354"/>
            <a:ext cx="2166004" cy="93933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CFA629B-0DB5-1E3A-8049-14A3A09665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110" y="4018361"/>
            <a:ext cx="2166004" cy="57800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7D5F9D3-0418-62CF-D6BD-AF9CD72E54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902" y="200517"/>
            <a:ext cx="2166004" cy="1622527"/>
          </a:xfrm>
          <a:prstGeom prst="rect">
            <a:avLst/>
          </a:prstGeom>
        </p:spPr>
      </p:pic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59FF80F6-7F61-46B9-F22B-D0B31ECB7C51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8966519" y="1851682"/>
            <a:ext cx="1" cy="146153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76C0EA9A-33A3-42D2-30AB-204D0B7F6AD4}"/>
              </a:ext>
            </a:extLst>
          </p:cNvPr>
          <p:cNvCxnSpPr>
            <a:cxnSpLocks/>
            <a:stCxn id="14" idx="3"/>
            <a:endCxn id="4" idx="1"/>
          </p:cNvCxnSpPr>
          <p:nvPr/>
        </p:nvCxnSpPr>
        <p:spPr>
          <a:xfrm>
            <a:off x="6008906" y="1011781"/>
            <a:ext cx="1128813" cy="1431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1C520CD3-4E1E-0B39-EABE-D8BA257EC21A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6008906" y="3034362"/>
            <a:ext cx="1743789" cy="1182214"/>
          </a:xfrm>
          <a:prstGeom prst="bentConnector3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43C00955-6C8D-024C-DF86-1C65FBFC1993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 flipV="1">
            <a:off x="6008906" y="4216576"/>
            <a:ext cx="1743789" cy="755447"/>
          </a:xfrm>
          <a:prstGeom prst="bentConnector3">
            <a:avLst>
              <a:gd name="adj1" fmla="val 50000"/>
            </a:avLst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F589D0D9-B99B-4F66-5819-20BE7F52A307}"/>
              </a:ext>
            </a:extLst>
          </p:cNvPr>
          <p:cNvCxnSpPr>
            <a:cxnSpLocks/>
            <a:stCxn id="14" idx="1"/>
            <a:endCxn id="8" idx="1"/>
          </p:cNvCxnSpPr>
          <p:nvPr/>
        </p:nvCxnSpPr>
        <p:spPr>
          <a:xfrm rot="10800000" flipV="1">
            <a:off x="3842902" y="1011780"/>
            <a:ext cx="12700" cy="2022581"/>
          </a:xfrm>
          <a:prstGeom prst="bentConnector3">
            <a:avLst>
              <a:gd name="adj1" fmla="val 3389606"/>
            </a:avLst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B86508AD-EEBB-7398-D3BA-A32AF49BE623}"/>
              </a:ext>
            </a:extLst>
          </p:cNvPr>
          <p:cNvCxnSpPr>
            <a:cxnSpLocks/>
            <a:stCxn id="8" idx="1"/>
            <a:endCxn id="10" idx="1"/>
          </p:cNvCxnSpPr>
          <p:nvPr/>
        </p:nvCxnSpPr>
        <p:spPr>
          <a:xfrm rot="10800000" flipV="1">
            <a:off x="3842902" y="3034361"/>
            <a:ext cx="12700" cy="1937661"/>
          </a:xfrm>
          <a:prstGeom prst="bentConnector3">
            <a:avLst>
              <a:gd name="adj1" fmla="val 3389614"/>
            </a:avLst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54CBF6F-DE84-0B00-9126-D395ECEF0571}"/>
              </a:ext>
            </a:extLst>
          </p:cNvPr>
          <p:cNvSpPr txBox="1"/>
          <p:nvPr/>
        </p:nvSpPr>
        <p:spPr>
          <a:xfrm>
            <a:off x="378476" y="2510518"/>
            <a:ext cx="12398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The </a:t>
            </a:r>
          </a:p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Project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4F1F1F-AFEA-9069-9FBA-1F96F64C3A54}"/>
              </a:ext>
            </a:extLst>
          </p:cNvPr>
          <p:cNvSpPr txBox="1"/>
          <p:nvPr/>
        </p:nvSpPr>
        <p:spPr>
          <a:xfrm>
            <a:off x="326636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9" name="Slide Number Placeholder 0">
            <a:extLst>
              <a:ext uri="{FF2B5EF4-FFF2-40B4-BE49-F238E27FC236}">
                <a16:creationId xmlns:a16="http://schemas.microsoft.com/office/drawing/2014/main" id="{D5991EE3-56B4-C9FA-DAF6-CFF223015FD1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12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647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82880" y="2844787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MVP Participants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62959" y="365760"/>
            <a:ext cx="6938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Classification of MVP participants by level of complexity</a:t>
            </a:r>
            <a:endParaRPr lang="en-US" sz="2200" dirty="0"/>
          </a:p>
        </p:txBody>
      </p:sp>
      <p:sp>
        <p:nvSpPr>
          <p:cNvPr id="4" name="ASN++ card"/>
          <p:cNvSpPr/>
          <p:nvPr/>
        </p:nvSpPr>
        <p:spPr>
          <a:xfrm>
            <a:off x="2514600" y="1005840"/>
            <a:ext cx="2926080" cy="49834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ASN++ header"/>
          <p:cNvSpPr/>
          <p:nvPr/>
        </p:nvSpPr>
        <p:spPr>
          <a:xfrm>
            <a:off x="2514600" y="1005840"/>
            <a:ext cx="2926080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97480" y="1005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ASN++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High complexity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9659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PROFILE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Highly specialised, critical demands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697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INFRASTRUCTURE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Robust, advanced technology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34290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SERVICES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 availability, redundancy, security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41605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SERVES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Large corporations, public bodies, strategic sectors</a:t>
            </a:r>
            <a:endParaRPr lang="en-US" sz="1000" dirty="0"/>
          </a:p>
        </p:txBody>
      </p:sp>
      <p:sp>
        <p:nvSpPr>
          <p:cNvPr id="11" name="ASN++ tests"/>
          <p:cNvSpPr/>
          <p:nvPr/>
        </p:nvSpPr>
        <p:spPr>
          <a:xfrm>
            <a:off x="2651760" y="493776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50109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TESTS IN THE ONTOLOGY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Global routes, transit policies and complex peering agreements</a:t>
            </a:r>
            <a:endParaRPr lang="en-US" sz="1000" dirty="0"/>
          </a:p>
        </p:txBody>
      </p:sp>
      <p:sp>
        <p:nvSpPr>
          <p:cNvPr id="13" name="ASN+ card"/>
          <p:cNvSpPr/>
          <p:nvPr/>
        </p:nvSpPr>
        <p:spPr>
          <a:xfrm>
            <a:off x="5669280" y="1005840"/>
            <a:ext cx="2926080" cy="49834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ASN+ header"/>
          <p:cNvSpPr/>
          <p:nvPr/>
        </p:nvSpPr>
        <p:spPr>
          <a:xfrm>
            <a:off x="5669280" y="1005840"/>
            <a:ext cx="292608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1005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ASN+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Medium complexity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9659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PROFILE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Intermediate demands, some specialisation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697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INFRASTRUCTURE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Adequate, less sophisticated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4290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SERVICES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Reliable, with less redundancy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41605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SERVES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Medium-sized companies</a:t>
            </a:r>
            <a:endParaRPr lang="en-US" sz="1000" dirty="0"/>
          </a:p>
        </p:txBody>
      </p:sp>
      <p:sp>
        <p:nvSpPr>
          <p:cNvPr id="20" name="ASN+ tests"/>
          <p:cNvSpPr/>
          <p:nvPr/>
        </p:nvSpPr>
        <p:spPr>
          <a:xfrm>
            <a:off x="5806440" y="493776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50109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TESTS IN THE ONTOLOGY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edge, where LGPD, SLAs and local access policies apply</a:t>
            </a:r>
            <a:endParaRPr lang="en-US" sz="1000" dirty="0"/>
          </a:p>
        </p:txBody>
      </p:sp>
      <p:sp>
        <p:nvSpPr>
          <p:cNvPr id="22" name="IX card"/>
          <p:cNvSpPr/>
          <p:nvPr/>
        </p:nvSpPr>
        <p:spPr>
          <a:xfrm>
            <a:off x="8823960" y="1005840"/>
            <a:ext cx="2926080" cy="49834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IX header"/>
          <p:cNvSpPr/>
          <p:nvPr/>
        </p:nvSpPr>
        <p:spPr>
          <a:xfrm>
            <a:off x="8823960" y="1005840"/>
            <a:ext cx="2926080" cy="822960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06840" y="1005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IX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Special domain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19659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PROFILE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Neutral point serving many ASes of varying complexity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2697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INFRASTRUCTURE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Very complex, highly diverse traffic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34290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SERVICES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 availability, differentiated per participant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41605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F7F7F"/>
                </a:solidFill>
              </a:rPr>
              <a:t>SERVES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Institutions of every size</a:t>
            </a:r>
            <a:endParaRPr lang="en-US" sz="1000" dirty="0"/>
          </a:p>
        </p:txBody>
      </p:sp>
      <p:sp>
        <p:nvSpPr>
          <p:cNvPr id="29" name="IX tests"/>
          <p:cNvSpPr/>
          <p:nvPr/>
        </p:nvSpPr>
        <p:spPr>
          <a:xfrm>
            <a:off x="8961120" y="493776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98280" y="50109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TESTS IN THE ONTOLOGY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Relators at their limit: multilateral BGP sessions and exchange agreements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00800"/>
            <a:ext cx="228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21B9D257-2676-5022-264F-1C6F24804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" y="182880"/>
            <a:ext cx="1514687" cy="23672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0F18-8BA8-E0ED-D964-23155EDE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D3059821-3AAD-F1AA-9778-354F9C6D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9396BAA-1CD4-B71F-580D-75F56BB6B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87" y="606410"/>
            <a:ext cx="1118173" cy="83217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2E179A6-9730-B7F2-FCC7-4119A17FB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913" y="0"/>
            <a:ext cx="8257781" cy="502254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9F70F8C-2A26-6718-3F57-78BD25F07BB2}"/>
              </a:ext>
            </a:extLst>
          </p:cNvPr>
          <p:cNvSpPr txBox="1"/>
          <p:nvPr/>
        </p:nvSpPr>
        <p:spPr>
          <a:xfrm>
            <a:off x="378476" y="5261641"/>
            <a:ext cx="1217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MAPE-K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E7D0F20-6ECD-373F-600A-5BD13D8D5778}"/>
              </a:ext>
            </a:extLst>
          </p:cNvPr>
          <p:cNvSpPr txBox="1"/>
          <p:nvPr/>
        </p:nvSpPr>
        <p:spPr>
          <a:xfrm>
            <a:off x="2249913" y="5261641"/>
            <a:ext cx="805443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/>
              <a:t>Jeffrey O. Kephart and David M. Chess. “The Vision of Autonomic Computing”. In: Computer. Vol. 36. 1. IEEE,2003, pp. 41–50. doi: 10.1109/MCOM.2003.1160055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7DF3DA-2599-634A-0EB6-2563FB4AE389}"/>
              </a:ext>
            </a:extLst>
          </p:cNvPr>
          <p:cNvSpPr txBox="1"/>
          <p:nvPr/>
        </p:nvSpPr>
        <p:spPr>
          <a:xfrm>
            <a:off x="314761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7" name="Slide Number Placeholder 0">
            <a:extLst>
              <a:ext uri="{FF2B5EF4-FFF2-40B4-BE49-F238E27FC236}">
                <a16:creationId xmlns:a16="http://schemas.microsoft.com/office/drawing/2014/main" id="{0EAA6EA5-68C3-5935-C7B5-F00C801D1144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14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102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F836-369B-E2BE-A9DA-0B969D28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AF859228-DAD5-5885-7DE6-325FC9EB1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4CD3A11-84DD-832A-4680-BFCDB4BD9AFB}"/>
              </a:ext>
            </a:extLst>
          </p:cNvPr>
          <p:cNvSpPr/>
          <p:nvPr/>
        </p:nvSpPr>
        <p:spPr>
          <a:xfrm>
            <a:off x="2836391" y="1348820"/>
            <a:ext cx="1939268" cy="75210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Identity Layer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E9A055B-9F5B-044F-8968-93B9E80F0ECE}"/>
              </a:ext>
            </a:extLst>
          </p:cNvPr>
          <p:cNvSpPr/>
          <p:nvPr/>
        </p:nvSpPr>
        <p:spPr>
          <a:xfrm>
            <a:off x="2836391" y="515567"/>
            <a:ext cx="1939268" cy="75210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Ontological Layer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438F775-EA78-9A13-469A-B700A32A0E9C}"/>
              </a:ext>
            </a:extLst>
          </p:cNvPr>
          <p:cNvSpPr/>
          <p:nvPr/>
        </p:nvSpPr>
        <p:spPr>
          <a:xfrm>
            <a:off x="2836391" y="5486400"/>
            <a:ext cx="1939268" cy="7521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Exposure Layer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9F82D12-D6FF-D94F-EA22-966A7E9405AC}"/>
              </a:ext>
            </a:extLst>
          </p:cNvPr>
          <p:cNvSpPr/>
          <p:nvPr/>
        </p:nvSpPr>
        <p:spPr>
          <a:xfrm>
            <a:off x="2836391" y="2157335"/>
            <a:ext cx="1939268" cy="7521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Ingestion Layer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17F80C3-3305-6E4B-64EA-260D8F8C56E3}"/>
              </a:ext>
            </a:extLst>
          </p:cNvPr>
          <p:cNvSpPr/>
          <p:nvPr/>
        </p:nvSpPr>
        <p:spPr>
          <a:xfrm>
            <a:off x="2836391" y="2992569"/>
            <a:ext cx="1939268" cy="7521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Persistence Layer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FEE1DF-D327-00A5-CFFC-E8F1F2CFAA47}"/>
              </a:ext>
            </a:extLst>
          </p:cNvPr>
          <p:cNvSpPr/>
          <p:nvPr/>
        </p:nvSpPr>
        <p:spPr>
          <a:xfrm>
            <a:off x="2836391" y="3811971"/>
            <a:ext cx="1939268" cy="7521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Validation Layer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4561F02-3A3B-D099-9C24-4D113D4747D9}"/>
              </a:ext>
            </a:extLst>
          </p:cNvPr>
          <p:cNvSpPr/>
          <p:nvPr/>
        </p:nvSpPr>
        <p:spPr>
          <a:xfrm>
            <a:off x="2836391" y="4655123"/>
            <a:ext cx="1939268" cy="75210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Reasoning Layer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B9E1DCF-505B-B063-689B-56D1A836CB90}"/>
              </a:ext>
            </a:extLst>
          </p:cNvPr>
          <p:cNvSpPr/>
          <p:nvPr/>
        </p:nvSpPr>
        <p:spPr>
          <a:xfrm>
            <a:off x="4750125" y="515567"/>
            <a:ext cx="5767447" cy="752103"/>
          </a:xfrm>
          <a:prstGeom prst="rect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600" b="1" dirty="0" err="1">
                <a:solidFill>
                  <a:srgbClr val="FF0000"/>
                </a:solidFill>
              </a:rPr>
              <a:t>Tbox</a:t>
            </a:r>
            <a:r>
              <a:rPr lang="pt-BR" sz="1600" b="1" dirty="0">
                <a:solidFill>
                  <a:srgbClr val="FF0000"/>
                </a:solidFill>
              </a:rPr>
              <a:t>:</a:t>
            </a:r>
            <a:r>
              <a:rPr lang="pt-BR" sz="1600" b="1" dirty="0">
                <a:solidFill>
                  <a:schemeClr val="tx1"/>
                </a:solidFill>
              </a:rPr>
              <a:t> define core classes (</a:t>
            </a:r>
            <a:r>
              <a:rPr lang="pt-BR" sz="1600" b="1" dirty="0">
                <a:solidFill>
                  <a:srgbClr val="FF0000"/>
                </a:solidFill>
              </a:rPr>
              <a:t>NetworkNode, Connection, Channel</a:t>
            </a:r>
            <a:r>
              <a:rPr lang="pt-BR" sz="1600" b="1" dirty="0">
                <a:solidFill>
                  <a:schemeClr val="tx1"/>
                </a:solidFill>
              </a:rPr>
              <a:t>)  and constraints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4B3E5CE-E1BC-5D0D-53B0-6E19C4102323}"/>
              </a:ext>
            </a:extLst>
          </p:cNvPr>
          <p:cNvSpPr/>
          <p:nvPr/>
        </p:nvSpPr>
        <p:spPr>
          <a:xfrm>
            <a:off x="4773880" y="1337424"/>
            <a:ext cx="5767450" cy="752103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</a:rPr>
              <a:t>Assigns stable IRIs to instances, separating identity from state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B767E6A-7195-6AF6-0B03-1033BFCBC910}"/>
              </a:ext>
            </a:extLst>
          </p:cNvPr>
          <p:cNvSpPr/>
          <p:nvPr/>
        </p:nvSpPr>
        <p:spPr>
          <a:xfrm>
            <a:off x="4773879" y="2168478"/>
            <a:ext cx="5767449" cy="752103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600" b="1" dirty="0">
                <a:solidFill>
                  <a:schemeClr val="tx1"/>
                </a:solidFill>
              </a:rPr>
              <a:t>Collects telemetry (</a:t>
            </a:r>
            <a:r>
              <a:rPr lang="pt-BR" sz="1600" b="1" dirty="0">
                <a:solidFill>
                  <a:srgbClr val="FF0000"/>
                </a:solidFill>
              </a:rPr>
              <a:t>YANG-</a:t>
            </a:r>
            <a:r>
              <a:rPr lang="pt-BR" sz="1600" b="1" dirty="0" err="1">
                <a:solidFill>
                  <a:srgbClr val="FF0000"/>
                </a:solidFill>
              </a:rPr>
              <a:t>Push</a:t>
            </a:r>
            <a:r>
              <a:rPr lang="pt-BR" sz="1600" b="1" dirty="0">
                <a:solidFill>
                  <a:srgbClr val="FF0000"/>
                </a:solidFill>
              </a:rPr>
              <a:t>, gNMI, SNMP, </a:t>
            </a:r>
            <a:r>
              <a:rPr lang="pt-BR" sz="1600" b="1" dirty="0" err="1">
                <a:solidFill>
                  <a:srgbClr val="FF0000"/>
                </a:solidFill>
              </a:rPr>
              <a:t>syslog</a:t>
            </a:r>
            <a:r>
              <a:rPr lang="pt-BR" sz="1600" b="1" dirty="0">
                <a:solidFill>
                  <a:schemeClr val="tx1"/>
                </a:solidFill>
              </a:rPr>
              <a:t>) </a:t>
            </a:r>
            <a:r>
              <a:rPr lang="en-US" sz="1600" b="1" dirty="0">
                <a:solidFill>
                  <a:schemeClr val="tx1"/>
                </a:solidFill>
              </a:rPr>
              <a:t>and normalises data into the </a:t>
            </a:r>
            <a:r>
              <a:rPr lang="en-US" sz="1600" b="1" dirty="0">
                <a:solidFill>
                  <a:srgbClr val="FF0000"/>
                </a:solidFill>
              </a:rPr>
              <a:t>Node–Connection–Channel</a:t>
            </a:r>
            <a:r>
              <a:rPr lang="en-US" sz="1600" b="1" dirty="0">
                <a:solidFill>
                  <a:schemeClr val="tx1"/>
                </a:solidFill>
              </a:rPr>
              <a:t> triad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4DD9622-12E6-B423-15B6-3040DE45A8E9}"/>
              </a:ext>
            </a:extLst>
          </p:cNvPr>
          <p:cNvSpPr/>
          <p:nvPr/>
        </p:nvSpPr>
        <p:spPr>
          <a:xfrm>
            <a:off x="4773879" y="2992569"/>
            <a:ext cx="5767448" cy="752103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600" b="1" dirty="0">
                <a:solidFill>
                  <a:srgbClr val="FF0000"/>
                </a:solidFill>
              </a:rPr>
              <a:t>ABox + </a:t>
            </a:r>
            <a:r>
              <a:rPr lang="pt-BR" sz="1600" b="1" dirty="0" err="1">
                <a:solidFill>
                  <a:srgbClr val="FF0000"/>
                </a:solidFill>
              </a:rPr>
              <a:t>Rbox</a:t>
            </a:r>
            <a:r>
              <a:rPr lang="pt-BR" sz="1600" b="1" dirty="0">
                <a:solidFill>
                  <a:srgbClr val="FF0000"/>
                </a:solidFill>
              </a:rPr>
              <a:t>: </a:t>
            </a:r>
            <a:r>
              <a:rPr lang="en-US" sz="1600" b="1" dirty="0">
                <a:solidFill>
                  <a:schemeClr val="tx1"/>
                </a:solidFill>
              </a:rPr>
              <a:t>stores facts in RDF/OWL and maintains temporal history via observations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3E63BD3-C927-51EF-119B-9B158070B255}"/>
              </a:ext>
            </a:extLst>
          </p:cNvPr>
          <p:cNvSpPr/>
          <p:nvPr/>
        </p:nvSpPr>
        <p:spPr>
          <a:xfrm>
            <a:off x="4773878" y="3835721"/>
            <a:ext cx="5767447" cy="752103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</a:rPr>
              <a:t>Applies structural constraints and logical consistency checks with </a:t>
            </a:r>
            <a:r>
              <a:rPr lang="en-US" sz="1600" b="1" dirty="0">
                <a:solidFill>
                  <a:srgbClr val="FF0000"/>
                </a:solidFill>
              </a:rPr>
              <a:t>DL and DeL</a:t>
            </a:r>
            <a:r>
              <a:rPr lang="en-US" sz="1600" b="1" dirty="0">
                <a:solidFill>
                  <a:schemeClr val="tx1"/>
                </a:solidFill>
              </a:rPr>
              <a:t> reasoners </a:t>
            </a:r>
            <a:endParaRPr lang="pt-BR" sz="1600" b="1" dirty="0">
              <a:solidFill>
                <a:srgbClr val="FF0000"/>
              </a:solidFill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83F50B2-2EC9-A861-A0B4-5546FBC15DA0}"/>
              </a:ext>
            </a:extLst>
          </p:cNvPr>
          <p:cNvSpPr/>
          <p:nvPr/>
        </p:nvSpPr>
        <p:spPr>
          <a:xfrm>
            <a:off x="4773877" y="4655123"/>
            <a:ext cx="5767447" cy="752103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600" b="1" dirty="0">
                <a:solidFill>
                  <a:schemeClr val="tx1"/>
                </a:solidFill>
              </a:rPr>
              <a:t>Infers states and propagates failures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D332786-68CA-52F6-F485-28D45E26E5EB}"/>
              </a:ext>
            </a:extLst>
          </p:cNvPr>
          <p:cNvSpPr/>
          <p:nvPr/>
        </p:nvSpPr>
        <p:spPr>
          <a:xfrm>
            <a:off x="4773876" y="5477033"/>
            <a:ext cx="5767447" cy="752103"/>
          </a:xfrm>
          <a:prstGeom prst="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</a:rPr>
              <a:t>Provides SPARQL queries, dashboards, alerts, and integration with NOC/orchestration systems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D46D417-DDE2-4597-F019-6CD12404AB49}"/>
              </a:ext>
            </a:extLst>
          </p:cNvPr>
          <p:cNvSpPr txBox="1"/>
          <p:nvPr/>
        </p:nvSpPr>
        <p:spPr>
          <a:xfrm>
            <a:off x="378476" y="3084882"/>
            <a:ext cx="18751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DT Reference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 Architecture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21EEB9-0BE2-3874-7819-AA5085A8CAAD}"/>
              </a:ext>
            </a:extLst>
          </p:cNvPr>
          <p:cNvSpPr txBox="1"/>
          <p:nvPr/>
        </p:nvSpPr>
        <p:spPr>
          <a:xfrm>
            <a:off x="338511" y="6371893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10" name="Slide Number Placeholder 0">
            <a:extLst>
              <a:ext uri="{FF2B5EF4-FFF2-40B4-BE49-F238E27FC236}">
                <a16:creationId xmlns:a16="http://schemas.microsoft.com/office/drawing/2014/main" id="{0EDA2DC2-09E7-BC24-9ECE-E5259F99FB37}"/>
              </a:ext>
            </a:extLst>
          </p:cNvPr>
          <p:cNvSpPr txBox="1">
            <a:spLocks/>
          </p:cNvSpPr>
          <p:nvPr/>
        </p:nvSpPr>
        <p:spPr>
          <a:xfrm>
            <a:off x="138001" y="6348143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15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985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891046" y="244836"/>
            <a:ext cx="7000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</a:rPr>
              <a:t>Meaning-Driven Regulatory Compliance</a:t>
            </a:r>
            <a:endParaRPr lang="en-US" sz="3400" dirty="0"/>
          </a:p>
        </p:txBody>
      </p:sp>
      <p:sp>
        <p:nvSpPr>
          <p:cNvPr id="3" name="Key idea"/>
          <p:cNvSpPr txBox="1"/>
          <p:nvPr/>
        </p:nvSpPr>
        <p:spPr>
          <a:xfrm>
            <a:off x="754075" y="1063435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tx1"/>
                </a:solidFill>
              </a:rPr>
              <a:t>Jurisdiction is no longer a property of hardware but a </a:t>
            </a:r>
            <a:r>
              <a:rPr lang="en-US" sz="1700" b="1" i="1" dirty="0">
                <a:solidFill>
                  <a:schemeClr val="accent1"/>
                </a:solidFill>
              </a:rPr>
              <a:t>normative relationship</a:t>
            </a:r>
            <a:r>
              <a:rPr lang="en-US" sz="1700" i="1" dirty="0">
                <a:solidFill>
                  <a:schemeClr val="tx1"/>
                </a:solidFill>
              </a:rPr>
              <a:t> (a relator) linking a norm, the parties and the network resources.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54075" y="16898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SCENARIO</a:t>
            </a:r>
            <a:endParaRPr lang="en-US" sz="1200" dirty="0"/>
          </a:p>
        </p:txBody>
      </p:sp>
      <p:sp>
        <p:nvSpPr>
          <p:cNvPr id="5" name="Path node 1"/>
          <p:cNvSpPr/>
          <p:nvPr/>
        </p:nvSpPr>
        <p:spPr>
          <a:xfrm>
            <a:off x="941527" y="20556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527" y="2055620"/>
            <a:ext cx="18288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Hospital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São Paulo</a:t>
            </a:r>
            <a:endParaRPr lang="en-US" sz="1600" dirty="0"/>
          </a:p>
        </p:txBody>
      </p:sp>
      <p:sp>
        <p:nvSpPr>
          <p:cNvPr id="7" name="Path arrow 1"/>
          <p:cNvSpPr/>
          <p:nvPr/>
        </p:nvSpPr>
        <p:spPr>
          <a:xfrm>
            <a:off x="2825191" y="2489960"/>
            <a:ext cx="32918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Path node 2"/>
          <p:cNvSpPr/>
          <p:nvPr/>
        </p:nvSpPr>
        <p:spPr>
          <a:xfrm>
            <a:off x="3209239" y="20556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239" y="2055620"/>
            <a:ext cx="18288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AS-A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Brazil</a:t>
            </a:r>
            <a:endParaRPr lang="en-US" sz="1600" dirty="0"/>
          </a:p>
        </p:txBody>
      </p:sp>
      <p:sp>
        <p:nvSpPr>
          <p:cNvPr id="10" name="Path arrow 2"/>
          <p:cNvSpPr/>
          <p:nvPr/>
        </p:nvSpPr>
        <p:spPr>
          <a:xfrm>
            <a:off x="5092903" y="2489960"/>
            <a:ext cx="32918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Path node 3"/>
          <p:cNvSpPr/>
          <p:nvPr/>
        </p:nvSpPr>
        <p:spPr>
          <a:xfrm>
            <a:off x="5476951" y="20556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76951" y="2055620"/>
            <a:ext cx="18288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AS-B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International transit</a:t>
            </a:r>
            <a:endParaRPr lang="en-US" sz="1600" dirty="0"/>
          </a:p>
        </p:txBody>
      </p:sp>
      <p:sp>
        <p:nvSpPr>
          <p:cNvPr id="13" name="Path arrow 3"/>
          <p:cNvSpPr/>
          <p:nvPr/>
        </p:nvSpPr>
        <p:spPr>
          <a:xfrm>
            <a:off x="7360615" y="2489960"/>
            <a:ext cx="32918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Path node 4"/>
          <p:cNvSpPr/>
          <p:nvPr/>
        </p:nvSpPr>
        <p:spPr>
          <a:xfrm>
            <a:off x="7744663" y="20556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44663" y="2055620"/>
            <a:ext cx="18288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AS-C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Europe</a:t>
            </a:r>
            <a:endParaRPr lang="en-US" sz="1600" dirty="0"/>
          </a:p>
        </p:txBody>
      </p:sp>
      <p:sp>
        <p:nvSpPr>
          <p:cNvPr id="16" name="Path arrow 4"/>
          <p:cNvSpPr/>
          <p:nvPr/>
        </p:nvSpPr>
        <p:spPr>
          <a:xfrm>
            <a:off x="9628327" y="2489960"/>
            <a:ext cx="32918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Path node 5"/>
          <p:cNvSpPr/>
          <p:nvPr/>
        </p:nvSpPr>
        <p:spPr>
          <a:xfrm>
            <a:off x="10012375" y="20556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12375" y="2055620"/>
            <a:ext cx="18288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Analysis service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Europe</a:t>
            </a:r>
            <a:endParaRPr lang="en-US" sz="1600" dirty="0"/>
          </a:p>
        </p:txBody>
      </p:sp>
      <p:sp>
        <p:nvSpPr>
          <p:cNvPr id="19" name="Rule callout"/>
          <p:cNvSpPr/>
          <p:nvPr/>
        </p:nvSpPr>
        <p:spPr>
          <a:xfrm>
            <a:off x="2308555" y="3152900"/>
            <a:ext cx="8165592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08555" y="3152900"/>
            <a:ext cx="81655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Rule (LGPD + GDPR): </a:t>
            </a:r>
            <a:r>
              <a:rPr lang="en-US" sz="1500" dirty="0">
                <a:solidFill>
                  <a:schemeClr val="tx1"/>
                </a:solidFill>
              </a:rPr>
              <a:t>health data may only traverse adequately protected jurisdictions.</a:t>
            </a:r>
            <a:endParaRPr lang="en-US" sz="1500" dirty="0"/>
          </a:p>
        </p:txBody>
      </p:sp>
      <p:sp>
        <p:nvSpPr>
          <p:cNvPr id="21" name="TBox card"/>
          <p:cNvSpPr/>
          <p:nvPr/>
        </p:nvSpPr>
        <p:spPr>
          <a:xfrm>
            <a:off x="754075" y="4021580"/>
            <a:ext cx="357530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28395" y="42959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8395" y="4295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T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851355" y="4250180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TBox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General rules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77062" y="5353747"/>
            <a:ext cx="3329330" cy="490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Health-data flows only traverse adequately protected jurisdictions.</a:t>
            </a:r>
            <a:endParaRPr lang="en-US" sz="1400" dirty="0"/>
          </a:p>
        </p:txBody>
      </p:sp>
      <p:sp>
        <p:nvSpPr>
          <p:cNvPr id="26" name="RBox card"/>
          <p:cNvSpPr/>
          <p:nvPr/>
        </p:nvSpPr>
        <p:spPr>
          <a:xfrm>
            <a:off x="4603699" y="4021580"/>
            <a:ext cx="357530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78019" y="42959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78019" y="4295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R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5700979" y="4250180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RBox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How relations propagate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726686" y="5329229"/>
            <a:ext cx="3329330" cy="539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If a node is subject to the LGPD, so are the channels and connections passing through it.</a:t>
            </a:r>
            <a:endParaRPr lang="en-US" sz="1400" dirty="0"/>
          </a:p>
        </p:txBody>
      </p:sp>
      <p:sp>
        <p:nvSpPr>
          <p:cNvPr id="31" name="ABox card"/>
          <p:cNvSpPr/>
          <p:nvPr/>
        </p:nvSpPr>
        <p:spPr>
          <a:xfrm>
            <a:off x="8453323" y="4021580"/>
            <a:ext cx="357530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727643" y="42959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27643" y="4295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9550603" y="4250180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ABox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Facts of the moment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576310" y="5329229"/>
            <a:ext cx="3329330" cy="539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Flow F carries health data · F passes through node N3 · N3 is under jurisdiction J.</a:t>
            </a:r>
            <a:endParaRPr lang="en-US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402AA09-FB1F-1BDA-8997-9277EEFDE490}"/>
              </a:ext>
            </a:extLst>
          </p:cNvPr>
          <p:cNvSpPr txBox="1"/>
          <p:nvPr/>
        </p:nvSpPr>
        <p:spPr>
          <a:xfrm>
            <a:off x="-93181" y="3064555"/>
            <a:ext cx="779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Use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Case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(I)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F24405F-F4D3-5B57-EF06-459B00A9A8DF}"/>
              </a:ext>
            </a:extLst>
          </p:cNvPr>
          <p:cNvSpPr txBox="1"/>
          <p:nvPr/>
        </p:nvSpPr>
        <p:spPr>
          <a:xfrm>
            <a:off x="338511" y="6526268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42" name="Slide Number Placeholder 0">
            <a:extLst>
              <a:ext uri="{FF2B5EF4-FFF2-40B4-BE49-F238E27FC236}">
                <a16:creationId xmlns:a16="http://schemas.microsoft.com/office/drawing/2014/main" id="{6E3C5336-6341-9FC2-9CE2-1214ABE6E92F}"/>
              </a:ext>
            </a:extLst>
          </p:cNvPr>
          <p:cNvSpPr txBox="1">
            <a:spLocks/>
          </p:cNvSpPr>
          <p:nvPr/>
        </p:nvSpPr>
        <p:spPr>
          <a:xfrm>
            <a:off x="138001" y="650251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16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6" name="Imagem 45" descr="Logo CGI.br">
            <a:extLst>
              <a:ext uri="{FF2B5EF4-FFF2-40B4-BE49-F238E27FC236}">
                <a16:creationId xmlns:a16="http://schemas.microsoft.com/office/drawing/2014/main" id="{D4886075-971C-1B5C-6081-B5156CCA5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249" y="6202875"/>
            <a:ext cx="105727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898664" y="167135"/>
            <a:ext cx="63641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</a:rPr>
              <a:t>The Digital Twin in Action (Use Case I)</a:t>
            </a:r>
            <a:endParaRPr lang="en-US" sz="3400" dirty="0"/>
          </a:p>
        </p:txBody>
      </p:sp>
      <p:sp>
        <p:nvSpPr>
          <p:cNvPr id="3" name="Pipeline Telemetry"/>
          <p:cNvSpPr/>
          <p:nvPr/>
        </p:nvSpPr>
        <p:spPr>
          <a:xfrm>
            <a:off x="768681" y="1046220"/>
            <a:ext cx="25146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681" y="1046220"/>
            <a:ext cx="2514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Telemetry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gNMI · YANG-Push · SNMP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8145" y="1434840"/>
            <a:ext cx="30175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Pipeline Semantic Elevation"/>
          <p:cNvSpPr/>
          <p:nvPr/>
        </p:nvSpPr>
        <p:spPr>
          <a:xfrm>
            <a:off x="3694761" y="1046220"/>
            <a:ext cx="251460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94761" y="1046220"/>
            <a:ext cx="2514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Semantic Elevation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raw data → meaning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4225" y="1434840"/>
            <a:ext cx="30175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Pipeline ABox"/>
          <p:cNvSpPr/>
          <p:nvPr/>
        </p:nvSpPr>
        <p:spPr>
          <a:xfrm>
            <a:off x="6620841" y="1046220"/>
            <a:ext cx="25146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0841" y="1046220"/>
            <a:ext cx="2514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ABox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facts with meaning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90305" y="1434840"/>
            <a:ext cx="30175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Pipeline Reasoner"/>
          <p:cNvSpPr/>
          <p:nvPr/>
        </p:nvSpPr>
        <p:spPr>
          <a:xfrm>
            <a:off x="9546921" y="1046220"/>
            <a:ext cx="25146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46921" y="1046220"/>
            <a:ext cx="2514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Reasoner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checks the rules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17714" y="2097780"/>
            <a:ext cx="3406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MAPE-K LOOP AFTER A BGP FAILURE</a:t>
            </a:r>
            <a:endParaRPr lang="en-US" sz="1200" dirty="0"/>
          </a:p>
        </p:txBody>
      </p:sp>
      <p:sp>
        <p:nvSpPr>
          <p:cNvPr id="15" name="Knowledge"/>
          <p:cNvSpPr/>
          <p:nvPr/>
        </p:nvSpPr>
        <p:spPr>
          <a:xfrm>
            <a:off x="2771217" y="3359652"/>
            <a:ext cx="1133856" cy="113385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71217" y="335965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Knowledge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(ontology)</a:t>
            </a:r>
            <a:endParaRPr lang="en-US" sz="1300" dirty="0"/>
          </a:p>
        </p:txBody>
      </p:sp>
      <p:sp>
        <p:nvSpPr>
          <p:cNvPr id="17" name="Stage M"/>
          <p:cNvSpPr/>
          <p:nvPr/>
        </p:nvSpPr>
        <p:spPr>
          <a:xfrm>
            <a:off x="2926665" y="2417820"/>
            <a:ext cx="822960" cy="82296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26665" y="24178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M</a:t>
            </a:r>
            <a:endParaRPr lang="en-US" sz="2200" dirty="0"/>
          </a:p>
        </p:txBody>
      </p:sp>
      <p:sp>
        <p:nvSpPr>
          <p:cNvPr id="19" name="Stage A"/>
          <p:cNvSpPr/>
          <p:nvPr/>
        </p:nvSpPr>
        <p:spPr>
          <a:xfrm>
            <a:off x="4023945" y="3515100"/>
            <a:ext cx="822960" cy="82296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945" y="35151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21" name="Stage P"/>
          <p:cNvSpPr/>
          <p:nvPr/>
        </p:nvSpPr>
        <p:spPr>
          <a:xfrm>
            <a:off x="2926665" y="4612380"/>
            <a:ext cx="822960" cy="8229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26665" y="46123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P</a:t>
            </a:r>
            <a:endParaRPr lang="en-US" sz="2200" dirty="0"/>
          </a:p>
        </p:txBody>
      </p:sp>
      <p:sp>
        <p:nvSpPr>
          <p:cNvPr id="23" name="Stage E"/>
          <p:cNvSpPr/>
          <p:nvPr/>
        </p:nvSpPr>
        <p:spPr>
          <a:xfrm>
            <a:off x="1829385" y="3515100"/>
            <a:ext cx="822960" cy="82296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29385" y="35151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E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74825" y="3165980"/>
            <a:ext cx="423919" cy="423919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3674825" y="4263260"/>
            <a:ext cx="423919" cy="423919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577545" y="4263260"/>
            <a:ext cx="423919" cy="423919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2577545" y="3165980"/>
            <a:ext cx="423919" cy="423919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355665" y="26647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665" y="26647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95745" y="255498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Monitor: </a:t>
            </a:r>
            <a:r>
              <a:rPr lang="en-US" sz="1600" dirty="0">
                <a:solidFill>
                  <a:schemeClr val="tx1"/>
                </a:solidFill>
              </a:rPr>
              <a:t>Flow F has changed route.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5665" y="341451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665" y="34145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95745" y="3304788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Analyse: </a:t>
            </a:r>
            <a:r>
              <a:rPr lang="en-US" sz="1600" dirty="0">
                <a:solidFill>
                  <a:schemeClr val="tx1"/>
                </a:solidFill>
              </a:rPr>
              <a:t>F now traverses a non-compliant jurisdiction.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5665" y="416432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665" y="41643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95745" y="4054596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Plan: </a:t>
            </a:r>
            <a:r>
              <a:rPr lang="en-US" sz="1600" dirty="0">
                <a:solidFill>
                  <a:schemeClr val="tx1"/>
                </a:solidFill>
              </a:rPr>
              <a:t>A compliant alternative via AS-D is found.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5665" y="4914132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55665" y="49141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95745" y="4804404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Execute: </a:t>
            </a:r>
            <a:r>
              <a:rPr lang="en-US" sz="1600" dirty="0">
                <a:solidFill>
                  <a:schemeClr val="tx1"/>
                </a:solidFill>
              </a:rPr>
              <a:t>Applied via NETCONF, only after logical validation.</a:t>
            </a:r>
            <a:endParaRPr lang="en-US" sz="1600" dirty="0"/>
          </a:p>
        </p:txBody>
      </p:sp>
      <p:sp>
        <p:nvSpPr>
          <p:cNvPr id="41" name="Takeaway"/>
          <p:cNvSpPr/>
          <p:nvPr/>
        </p:nvSpPr>
        <p:spPr>
          <a:xfrm>
            <a:off x="777825" y="5663940"/>
            <a:ext cx="11274552" cy="594360"/>
          </a:xfrm>
          <a:prstGeom prst="roundRect">
            <a:avLst>
              <a:gd name="adj" fmla="val 15385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0705" y="56639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Takeaway: </a:t>
            </a:r>
            <a:r>
              <a:rPr lang="en-US" sz="1600" dirty="0">
                <a:solidFill>
                  <a:schemeClr val="tx1"/>
                </a:solidFill>
              </a:rPr>
              <a:t>the network becomes jurisdiction-aware; compliance is checked by logical inference, not manual audits.</a:t>
            </a:r>
            <a:endParaRPr lang="en-US" sz="16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61A4E49-FB9B-1640-3C06-C47F98F03042}"/>
              </a:ext>
            </a:extLst>
          </p:cNvPr>
          <p:cNvSpPr txBox="1"/>
          <p:nvPr/>
        </p:nvSpPr>
        <p:spPr>
          <a:xfrm>
            <a:off x="29664" y="3387106"/>
            <a:ext cx="779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Use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Case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(I)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D3E7774-FE39-BD4C-45E6-C57111F5D1F4}"/>
              </a:ext>
            </a:extLst>
          </p:cNvPr>
          <p:cNvSpPr txBox="1"/>
          <p:nvPr/>
        </p:nvSpPr>
        <p:spPr>
          <a:xfrm>
            <a:off x="338511" y="6526268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50" name="Slide Number Placeholder 0">
            <a:extLst>
              <a:ext uri="{FF2B5EF4-FFF2-40B4-BE49-F238E27FC236}">
                <a16:creationId xmlns:a16="http://schemas.microsoft.com/office/drawing/2014/main" id="{BE73B3D2-0354-F703-1178-EA5D6902178D}"/>
              </a:ext>
            </a:extLst>
          </p:cNvPr>
          <p:cNvSpPr txBox="1">
            <a:spLocks/>
          </p:cNvSpPr>
          <p:nvPr/>
        </p:nvSpPr>
        <p:spPr>
          <a:xfrm>
            <a:off x="138001" y="650251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17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3" name="Imagem 52" descr="Logo CGI.br">
            <a:extLst>
              <a:ext uri="{FF2B5EF4-FFF2-40B4-BE49-F238E27FC236}">
                <a16:creationId xmlns:a16="http://schemas.microsoft.com/office/drawing/2014/main" id="{EAFEE2DB-3FF8-CDCB-0A65-57CBE75EB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749" y="6250375"/>
            <a:ext cx="105727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761520" y="320040"/>
            <a:ext cx="52596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</a:rPr>
              <a:t>Responding to a DDoS Attack</a:t>
            </a:r>
            <a:endParaRPr lang="en-US" sz="3400" dirty="0"/>
          </a:p>
        </p:txBody>
      </p:sp>
      <p:sp>
        <p:nvSpPr>
          <p:cNvPr id="3" name="Key idea"/>
          <p:cNvSpPr txBox="1"/>
          <p:nvPr/>
        </p:nvSpPr>
        <p:spPr>
          <a:xfrm>
            <a:off x="754075" y="1051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tx1"/>
                </a:solidFill>
              </a:rPr>
              <a:t>Conventional defences react to the </a:t>
            </a:r>
            <a:r>
              <a:rPr lang="en-US" sz="1700" b="1" i="1" dirty="0">
                <a:solidFill>
                  <a:schemeClr val="accent3"/>
                </a:solidFill>
              </a:rPr>
              <a:t>symptom</a:t>
            </a:r>
            <a:r>
              <a:rPr lang="en-US" sz="1700" i="1" dirty="0">
                <a:solidFill>
                  <a:schemeClr val="tx1"/>
                </a:solidFill>
              </a:rPr>
              <a:t> (suspicious IPs). DT-II reacts to the </a:t>
            </a:r>
            <a:r>
              <a:rPr lang="en-US" sz="1700" b="1" i="1" dirty="0">
                <a:solidFill>
                  <a:schemeClr val="accent1"/>
                </a:solidFill>
              </a:rPr>
              <a:t>meaning</a:t>
            </a:r>
            <a:r>
              <a:rPr lang="en-US" sz="1700" i="1" dirty="0">
                <a:solidFill>
                  <a:schemeClr val="tx1"/>
                </a:solidFill>
              </a:rPr>
              <a:t>: which services depend on what, and which agreements apply.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54075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SCENARIO</a:t>
            </a:r>
            <a:endParaRPr lang="en-US" sz="1200" dirty="0"/>
          </a:p>
        </p:txBody>
      </p:sp>
      <p:sp>
        <p:nvSpPr>
          <p:cNvPr id="5" name="Scenario External botnet"/>
          <p:cNvSpPr/>
          <p:nvPr/>
        </p:nvSpPr>
        <p:spPr>
          <a:xfrm>
            <a:off x="722071" y="2103120"/>
            <a:ext cx="2423160" cy="868680"/>
          </a:xfrm>
          <a:prstGeom prst="roundRect">
            <a:avLst>
              <a:gd name="adj" fmla="val 1263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071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External botnet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attack source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18383" y="2537460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cenario Link_01"/>
          <p:cNvSpPr/>
          <p:nvPr/>
        </p:nvSpPr>
        <p:spPr>
          <a:xfrm>
            <a:off x="3693871" y="2103120"/>
            <a:ext cx="242316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93871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Link_01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1 → 100 Gbps · saturated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0183" y="2537460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cenario DNS service"/>
          <p:cNvSpPr/>
          <p:nvPr/>
        </p:nvSpPr>
        <p:spPr>
          <a:xfrm>
            <a:off x="6665671" y="2103120"/>
            <a:ext cx="2423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65671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DNS service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critical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61983" y="2537460"/>
            <a:ext cx="4023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cenario Users"/>
          <p:cNvSpPr/>
          <p:nvPr/>
        </p:nvSpPr>
        <p:spPr>
          <a:xfrm>
            <a:off x="9637471" y="2103120"/>
            <a:ext cx="2423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37471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Users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everything else depends on DNS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54075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THE MAPE-K RESPONSE</a:t>
            </a:r>
            <a:endParaRPr lang="en-US" sz="1200" dirty="0"/>
          </a:p>
        </p:txBody>
      </p:sp>
      <p:sp>
        <p:nvSpPr>
          <p:cNvPr id="17" name="Monitor card"/>
          <p:cNvSpPr/>
          <p:nvPr/>
        </p:nvSpPr>
        <p:spPr>
          <a:xfrm>
            <a:off x="754075" y="361188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2675" y="3840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2675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759915" y="381304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Monitor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1–2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2675" y="46634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Telemetry becomes ABox facts: the flow is anomalous, Link_01 is saturated.</a:t>
            </a:r>
            <a:endParaRPr lang="en-US" sz="1400" dirty="0"/>
          </a:p>
        </p:txBody>
      </p:sp>
      <p:sp>
        <p:nvSpPr>
          <p:cNvPr id="22" name="Analyse card"/>
          <p:cNvSpPr/>
          <p:nvPr/>
        </p:nvSpPr>
        <p:spPr>
          <a:xfrm>
            <a:off x="3643579" y="361188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72179" y="3840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72179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49419" y="381304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Analyse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3–4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872179" y="46634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reasoner infers that DNS is at risk and identifies the source AS and its agreement.</a:t>
            </a:r>
            <a:endParaRPr lang="en-US" sz="1400" dirty="0"/>
          </a:p>
        </p:txBody>
      </p:sp>
      <p:sp>
        <p:nvSpPr>
          <p:cNvPr id="27" name="Plan card"/>
          <p:cNvSpPr/>
          <p:nvPr/>
        </p:nvSpPr>
        <p:spPr>
          <a:xfrm>
            <a:off x="6533083" y="361188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1683" y="3840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1683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P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538923" y="381304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5–7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761683" y="46634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TBox rule: critical service at risk + external source → mitigate at the edge. The plan is validated first.</a:t>
            </a:r>
            <a:endParaRPr lang="en-US" sz="1400" dirty="0"/>
          </a:p>
        </p:txBody>
      </p:sp>
      <p:sp>
        <p:nvSpPr>
          <p:cNvPr id="32" name="Execute card"/>
          <p:cNvSpPr/>
          <p:nvPr/>
        </p:nvSpPr>
        <p:spPr>
          <a:xfrm>
            <a:off x="9422587" y="3611880"/>
            <a:ext cx="26060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51187" y="384048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51187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E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10428427" y="381304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Execute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Steps 8–10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651187" y="46634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Filter applied via NETCONF, confirmed, and the ABox updated to “protected”.</a:t>
            </a:r>
            <a:endParaRPr lang="en-US" sz="1400" dirty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81E467D-F7E5-9CE1-8740-547B58AFE0D8}"/>
              </a:ext>
            </a:extLst>
          </p:cNvPr>
          <p:cNvSpPr txBox="1"/>
          <p:nvPr/>
        </p:nvSpPr>
        <p:spPr>
          <a:xfrm>
            <a:off x="338511" y="6526268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45" name="Slide Number Placeholder 0">
            <a:extLst>
              <a:ext uri="{FF2B5EF4-FFF2-40B4-BE49-F238E27FC236}">
                <a16:creationId xmlns:a16="http://schemas.microsoft.com/office/drawing/2014/main" id="{AA85C177-415A-89A6-B1C0-620C1A441ADA}"/>
              </a:ext>
            </a:extLst>
          </p:cNvPr>
          <p:cNvSpPr txBox="1">
            <a:spLocks/>
          </p:cNvSpPr>
          <p:nvPr/>
        </p:nvSpPr>
        <p:spPr>
          <a:xfrm>
            <a:off x="138001" y="650251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18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7" name="Imagem 46" descr="Logo CGI.br">
            <a:extLst>
              <a:ext uri="{FF2B5EF4-FFF2-40B4-BE49-F238E27FC236}">
                <a16:creationId xmlns:a16="http://schemas.microsoft.com/office/drawing/2014/main" id="{D1594D7B-3A75-FCCE-B68C-92BD74D7B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749" y="6250375"/>
            <a:ext cx="1057275" cy="60960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B5A74FF9-79DE-4FFC-EF7D-A8A7E2C4E45F}"/>
              </a:ext>
            </a:extLst>
          </p:cNvPr>
          <p:cNvSpPr txBox="1"/>
          <p:nvPr/>
        </p:nvSpPr>
        <p:spPr>
          <a:xfrm>
            <a:off x="-17836" y="3387106"/>
            <a:ext cx="779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Use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Case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(II)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749645" y="320040"/>
            <a:ext cx="52596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Sequence Flow of the Mitigation</a:t>
            </a:r>
            <a:endParaRPr lang="en-US" sz="3400" dirty="0"/>
          </a:p>
        </p:txBody>
      </p:sp>
      <p:pic>
        <p:nvPicPr>
          <p:cNvPr id="3" name="Sequence diagram" descr="Sequence diagram of the DDoS mitigation: telemetry, ABox declaration, reasoning, inference of DNS at risk, plan validation against the compliance regime, mitigation deduction, NETCONF filter, confirmation and ABox upda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49" y="1188720"/>
            <a:ext cx="10034455" cy="4114800"/>
          </a:xfrm>
          <a:prstGeom prst="rect">
            <a:avLst/>
          </a:prstGeom>
        </p:spPr>
      </p:pic>
      <p:sp>
        <p:nvSpPr>
          <p:cNvPr id="4" name="Chip Monitor"/>
          <p:cNvSpPr/>
          <p:nvPr/>
        </p:nvSpPr>
        <p:spPr>
          <a:xfrm>
            <a:off x="742200" y="5532120"/>
            <a:ext cx="2606040" cy="594360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2200" y="5532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Monitor  </a:t>
            </a:r>
            <a:r>
              <a:rPr lang="en-US" sz="1600" dirty="0">
                <a:solidFill>
                  <a:schemeClr val="bg1"/>
                </a:solidFill>
              </a:rPr>
              <a:t>Steps 1–2</a:t>
            </a:r>
            <a:endParaRPr lang="en-US" sz="1600" dirty="0"/>
          </a:p>
        </p:txBody>
      </p:sp>
      <p:sp>
        <p:nvSpPr>
          <p:cNvPr id="6" name="Chip Analyse"/>
          <p:cNvSpPr/>
          <p:nvPr/>
        </p:nvSpPr>
        <p:spPr>
          <a:xfrm>
            <a:off x="3631704" y="5532120"/>
            <a:ext cx="2606040" cy="594360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31704" y="5532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Analyse  </a:t>
            </a:r>
            <a:r>
              <a:rPr lang="en-US" sz="1600" dirty="0">
                <a:solidFill>
                  <a:schemeClr val="bg1"/>
                </a:solidFill>
              </a:rPr>
              <a:t>Steps 3–4</a:t>
            </a:r>
            <a:endParaRPr lang="en-US" sz="1600" dirty="0"/>
          </a:p>
        </p:txBody>
      </p:sp>
      <p:sp>
        <p:nvSpPr>
          <p:cNvPr id="8" name="Chip Plan"/>
          <p:cNvSpPr/>
          <p:nvPr/>
        </p:nvSpPr>
        <p:spPr>
          <a:xfrm>
            <a:off x="6521208" y="5532120"/>
            <a:ext cx="260604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21208" y="5532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Plan  </a:t>
            </a:r>
            <a:r>
              <a:rPr lang="en-US" sz="1600" dirty="0">
                <a:solidFill>
                  <a:schemeClr val="bg1"/>
                </a:solidFill>
              </a:rPr>
              <a:t>Steps 5–7</a:t>
            </a:r>
            <a:endParaRPr lang="en-US" sz="1600" dirty="0"/>
          </a:p>
        </p:txBody>
      </p:sp>
      <p:sp>
        <p:nvSpPr>
          <p:cNvPr id="10" name="Chip Execute"/>
          <p:cNvSpPr/>
          <p:nvPr/>
        </p:nvSpPr>
        <p:spPr>
          <a:xfrm>
            <a:off x="9410712" y="5532120"/>
            <a:ext cx="2606040" cy="594360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0712" y="5532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Execute  </a:t>
            </a:r>
            <a:r>
              <a:rPr lang="en-US" sz="1600" dirty="0">
                <a:solidFill>
                  <a:schemeClr val="bg1"/>
                </a:solidFill>
              </a:rPr>
              <a:t>Steps 8–10</a:t>
            </a:r>
            <a:endParaRPr lang="en-US" sz="16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4EFD91-81C5-5D9F-4254-41CED61DCD19}"/>
              </a:ext>
            </a:extLst>
          </p:cNvPr>
          <p:cNvSpPr txBox="1"/>
          <p:nvPr/>
        </p:nvSpPr>
        <p:spPr>
          <a:xfrm>
            <a:off x="338511" y="6526268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15" name="Slide Number Placeholder 0">
            <a:extLst>
              <a:ext uri="{FF2B5EF4-FFF2-40B4-BE49-F238E27FC236}">
                <a16:creationId xmlns:a16="http://schemas.microsoft.com/office/drawing/2014/main" id="{2F6AE0A8-A039-36A1-175A-41F07772EA94}"/>
              </a:ext>
            </a:extLst>
          </p:cNvPr>
          <p:cNvSpPr txBox="1">
            <a:spLocks/>
          </p:cNvSpPr>
          <p:nvPr/>
        </p:nvSpPr>
        <p:spPr>
          <a:xfrm>
            <a:off x="138001" y="650251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19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7" name="Imagem 16" descr="Logo CGI.br">
            <a:extLst>
              <a:ext uri="{FF2B5EF4-FFF2-40B4-BE49-F238E27FC236}">
                <a16:creationId xmlns:a16="http://schemas.microsoft.com/office/drawing/2014/main" id="{350397A9-A337-EB6F-426C-13E344AB1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749" y="6250375"/>
            <a:ext cx="1057275" cy="60960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172FAC8A-9E61-65BA-84D4-7DBD53114918}"/>
              </a:ext>
            </a:extLst>
          </p:cNvPr>
          <p:cNvSpPr txBox="1"/>
          <p:nvPr/>
        </p:nvSpPr>
        <p:spPr>
          <a:xfrm>
            <a:off x="127560" y="2828835"/>
            <a:ext cx="779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Use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Case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(II)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737779" y="173088"/>
            <a:ext cx="5259662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</a:rPr>
              <a:t>Why a Semantic Defence?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0334" y="101059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HOW THE REASONER INFERS THE RISK</a:t>
            </a:r>
            <a:endParaRPr lang="en-US" sz="1200" dirty="0"/>
          </a:p>
        </p:txBody>
      </p:sp>
      <p:sp>
        <p:nvSpPr>
          <p:cNvPr id="4" name="Chain Flow"/>
          <p:cNvSpPr/>
          <p:nvPr/>
        </p:nvSpPr>
        <p:spPr>
          <a:xfrm>
            <a:off x="730334" y="1513515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0334" y="1513515"/>
            <a:ext cx="14173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Flow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anomalous</a:t>
            </a:r>
            <a:endParaRPr lang="en-US" sz="1600" dirty="0"/>
          </a:p>
        </p:txBody>
      </p:sp>
      <p:sp>
        <p:nvSpPr>
          <p:cNvPr id="6" name="Chain Link_01"/>
          <p:cNvSpPr/>
          <p:nvPr/>
        </p:nvSpPr>
        <p:spPr>
          <a:xfrm>
            <a:off x="2897462" y="1513515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97462" y="1513515"/>
            <a:ext cx="14173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Link_01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edge link</a:t>
            </a:r>
            <a:endParaRPr lang="en-US" sz="1600" dirty="0"/>
          </a:p>
        </p:txBody>
      </p:sp>
      <p:sp>
        <p:nvSpPr>
          <p:cNvPr id="8" name="Chain DNS"/>
          <p:cNvSpPr/>
          <p:nvPr/>
        </p:nvSpPr>
        <p:spPr>
          <a:xfrm>
            <a:off x="5064590" y="1513515"/>
            <a:ext cx="14173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64590" y="1513515"/>
            <a:ext cx="14173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DNS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critical service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02518" y="1902135"/>
            <a:ext cx="6400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056214" y="1531803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1"/>
                </a:solidFill>
              </a:rPr>
              <a:t>saturates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9646" y="1902135"/>
            <a:ext cx="6400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223342" y="1531803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1"/>
                </a:solidFill>
              </a:rPr>
              <a:t>supports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38994" y="2290755"/>
            <a:ext cx="0" cy="3200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438994" y="2610795"/>
            <a:ext cx="433425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5773250" y="2290755"/>
            <a:ext cx="0" cy="3200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353394" y="265651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3"/>
                </a:solidFill>
              </a:rPr>
              <a:t>inferred: </a:t>
            </a:r>
            <a:r>
              <a:rPr lang="en-US" sz="1200" b="1" i="1" dirty="0">
                <a:solidFill>
                  <a:schemeClr val="accent3"/>
                </a:solidFill>
              </a:rPr>
              <a:t>threatens</a:t>
            </a:r>
            <a:endParaRPr lang="en-US" sz="1200" dirty="0"/>
          </a:p>
        </p:txBody>
      </p:sp>
      <p:sp>
        <p:nvSpPr>
          <p:cNvPr id="18" name="Property chain"/>
          <p:cNvSpPr txBox="1"/>
          <p:nvPr/>
        </p:nvSpPr>
        <p:spPr>
          <a:xfrm>
            <a:off x="730334" y="3159435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saturates ∘ supports ⊑ threatens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0334" y="3570915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If a flow saturates a link and the link supports a service, the flow threatens the service. Nobody declares that DNS is at risk: the reasoner concludes it.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48254" y="1010595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ADVANTAGES OVER IP BLOCKING</a:t>
            </a:r>
            <a:endParaRPr lang="en-US" sz="1200" dirty="0"/>
          </a:p>
        </p:txBody>
      </p:sp>
      <p:sp>
        <p:nvSpPr>
          <p:cNvPr id="21" name="Context awareness"/>
          <p:cNvSpPr/>
          <p:nvPr/>
        </p:nvSpPr>
        <p:spPr>
          <a:xfrm>
            <a:off x="6948254" y="1376355"/>
            <a:ext cx="24505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1134" y="1577523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1134" y="15775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06622" y="1486083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Context awareness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31134" y="2153595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If the source AS has a cooperation agreement, ask it to filter at source instead of just blocking.</a:t>
            </a:r>
            <a:endParaRPr lang="en-US" sz="1400" dirty="0"/>
          </a:p>
        </p:txBody>
      </p:sp>
      <p:sp>
        <p:nvSpPr>
          <p:cNvPr id="26" name="Mereological resilience"/>
          <p:cNvSpPr/>
          <p:nvPr/>
        </p:nvSpPr>
        <p:spPr>
          <a:xfrm>
            <a:off x="9581726" y="1376355"/>
            <a:ext cx="24505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64606" y="1577523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64606" y="15775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240094" y="1486083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Mereological resilience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764606" y="2153595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knows the parts of the network and their roles: sacrifice non-vital channels, keep DNS.</a:t>
            </a:r>
            <a:endParaRPr lang="en-US" sz="1400" dirty="0"/>
          </a:p>
        </p:txBody>
      </p:sp>
      <p:sp>
        <p:nvSpPr>
          <p:cNvPr id="31" name="Traceability"/>
          <p:cNvSpPr/>
          <p:nvPr/>
        </p:nvSpPr>
        <p:spPr>
          <a:xfrm>
            <a:off x="6948254" y="3388035"/>
            <a:ext cx="24505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1134" y="3589203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1134" y="358920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606622" y="3497763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Traceability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131134" y="4165275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action is explained by the axioms that justified it.</a:t>
            </a:r>
            <a:endParaRPr lang="en-US" sz="1400" dirty="0"/>
          </a:p>
        </p:txBody>
      </p:sp>
      <p:sp>
        <p:nvSpPr>
          <p:cNvPr id="36" name="Compliance"/>
          <p:cNvSpPr/>
          <p:nvPr/>
        </p:nvSpPr>
        <p:spPr>
          <a:xfrm>
            <a:off x="9581726" y="3388035"/>
            <a:ext cx="245059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64606" y="3589203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64606" y="358920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240094" y="3497763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Compliance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764606" y="4165275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configuration is applied before it is validated against the compliance regime (Use Case I).</a:t>
            </a:r>
            <a:endParaRPr lang="en-US" sz="1400" dirty="0"/>
          </a:p>
        </p:txBody>
      </p:sp>
      <p:sp>
        <p:nvSpPr>
          <p:cNvPr id="41" name="Takeaway"/>
          <p:cNvSpPr/>
          <p:nvPr/>
        </p:nvSpPr>
        <p:spPr>
          <a:xfrm>
            <a:off x="730334" y="5628315"/>
            <a:ext cx="11274552" cy="594360"/>
          </a:xfrm>
          <a:prstGeom prst="roundRect">
            <a:avLst>
              <a:gd name="adj" fmla="val 15385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3214" y="5628315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Takeaway: </a:t>
            </a:r>
            <a:r>
              <a:rPr lang="en-US" sz="1600" dirty="0">
                <a:solidFill>
                  <a:schemeClr val="tx1"/>
                </a:solidFill>
              </a:rPr>
              <a:t>the defence knows what is at stake and why it acts, not just which IPs to block.</a:t>
            </a:r>
            <a:endParaRPr lang="en-US" sz="16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4518B934-686D-A851-A150-80ED1B11AD7C}"/>
              </a:ext>
            </a:extLst>
          </p:cNvPr>
          <p:cNvSpPr txBox="1"/>
          <p:nvPr/>
        </p:nvSpPr>
        <p:spPr>
          <a:xfrm>
            <a:off x="338511" y="6526268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1E97173D-F7FF-ABEF-4D00-E5B162C8142F}"/>
              </a:ext>
            </a:extLst>
          </p:cNvPr>
          <p:cNvSpPr txBox="1">
            <a:spLocks/>
          </p:cNvSpPr>
          <p:nvPr/>
        </p:nvSpPr>
        <p:spPr>
          <a:xfrm>
            <a:off x="138001" y="650251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20</a:t>
            </a:fld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9" name="Imagem 48" descr="Logo CGI.br">
            <a:extLst>
              <a:ext uri="{FF2B5EF4-FFF2-40B4-BE49-F238E27FC236}">
                <a16:creationId xmlns:a16="http://schemas.microsoft.com/office/drawing/2014/main" id="{EB28D2F2-20C0-59C3-CA0E-88AEA648B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749" y="6250375"/>
            <a:ext cx="1057275" cy="609600"/>
          </a:xfrm>
          <a:prstGeom prst="rect">
            <a:avLst/>
          </a:prstGeom>
        </p:spPr>
      </p:pic>
      <p:sp>
        <p:nvSpPr>
          <p:cNvPr id="51" name="CaixaDeTexto 50">
            <a:extLst>
              <a:ext uri="{FF2B5EF4-FFF2-40B4-BE49-F238E27FC236}">
                <a16:creationId xmlns:a16="http://schemas.microsoft.com/office/drawing/2014/main" id="{FD51BF71-7DA3-7D5E-AD52-0F41915AA4ED}"/>
              </a:ext>
            </a:extLst>
          </p:cNvPr>
          <p:cNvSpPr txBox="1"/>
          <p:nvPr/>
        </p:nvSpPr>
        <p:spPr>
          <a:xfrm>
            <a:off x="12895" y="3936675"/>
            <a:ext cx="779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Use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Case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(II)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82880" y="2377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Contributions</a:t>
            </a:r>
            <a:endParaRPr lang="en-US" sz="2600" dirty="0"/>
          </a:p>
        </p:txBody>
      </p:sp>
      <p:sp>
        <p:nvSpPr>
          <p:cNvPr id="3" name="Reference model"/>
          <p:cNvSpPr/>
          <p:nvPr/>
        </p:nvSpPr>
        <p:spPr>
          <a:xfrm>
            <a:off x="2514600" y="502920"/>
            <a:ext cx="6309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79192" y="731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679192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50292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Reference model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Ontology-driven model of the Internet Infrastructure, centred on Node–Connection–Channel, grounded in UFO and built in OntoUML.</a:t>
            </a:r>
            <a:endParaRPr lang="en-US" sz="1600" dirty="0"/>
          </a:p>
        </p:txBody>
      </p:sp>
      <p:sp>
        <p:nvSpPr>
          <p:cNvPr id="7" name="Automated reasoning"/>
          <p:cNvSpPr/>
          <p:nvPr/>
        </p:nvSpPr>
        <p:spPr>
          <a:xfrm>
            <a:off x="2514600" y="1572768"/>
            <a:ext cx="6309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9192" y="18013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9192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57276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Automated reasoning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Operationalisation in DL/OWL, with reasoning over the TBox, RBox and ABox.</a:t>
            </a:r>
            <a:endParaRPr lang="en-US" sz="1600" dirty="0"/>
          </a:p>
        </p:txBody>
      </p:sp>
      <p:sp>
        <p:nvSpPr>
          <p:cNvPr id="11" name="Live synchronisation"/>
          <p:cNvSpPr/>
          <p:nvPr/>
        </p:nvSpPr>
        <p:spPr>
          <a:xfrm>
            <a:off x="2514600" y="2642616"/>
            <a:ext cx="6309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9192" y="28712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9192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642616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Live synchronisation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Knowledge graph kept aligned with model-driven telemetry (e.g. YANG-Push) in near real time.</a:t>
            </a:r>
            <a:endParaRPr lang="en-US" sz="1600" dirty="0"/>
          </a:p>
        </p:txBody>
      </p:sp>
      <p:sp>
        <p:nvSpPr>
          <p:cNvPr id="15" name="Governance"/>
          <p:cNvSpPr/>
          <p:nvPr/>
        </p:nvSpPr>
        <p:spPr>
          <a:xfrm>
            <a:off x="2514600" y="3712464"/>
            <a:ext cx="6309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9192" y="394106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79192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712464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Governance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Ontological Compliance Regime and SLA constraints for auditable, explainable compliance checks.</a:t>
            </a:r>
            <a:endParaRPr lang="en-US" sz="1600" dirty="0"/>
          </a:p>
        </p:txBody>
      </p:sp>
      <p:sp>
        <p:nvSpPr>
          <p:cNvPr id="19" name="Autonomic action"/>
          <p:cNvSpPr/>
          <p:nvPr/>
        </p:nvSpPr>
        <p:spPr>
          <a:xfrm>
            <a:off x="2514600" y="4782312"/>
            <a:ext cx="6309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79192" y="50109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9192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782312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Autonomic action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Multi-agent Digital Twin following the MAPE-K loop for policy-driven actions.</a:t>
            </a:r>
            <a:endParaRPr lang="en-US" sz="1600" dirty="0"/>
          </a:p>
        </p:txBody>
      </p:sp>
      <p:sp>
        <p:nvSpPr>
          <p:cNvPr id="23" name="Book panel"/>
          <p:cNvSpPr/>
          <p:nvPr/>
        </p:nvSpPr>
        <p:spPr>
          <a:xfrm>
            <a:off x="9189720" y="502920"/>
            <a:ext cx="2560320" cy="5239512"/>
          </a:xfrm>
          <a:prstGeom prst="roundRect">
            <a:avLst>
              <a:gd name="adj" fmla="val 3571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72600" y="640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ALSO FROM THE PROJECT</a:t>
            </a:r>
            <a:endParaRPr lang="en-US" sz="1100" dirty="0"/>
          </a:p>
        </p:txBody>
      </p:sp>
      <p:pic>
        <p:nvPicPr>
          <p:cNvPr id="25" name="Book cover" descr="Cover of the book Bases de Conhecimen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545" y="1005840"/>
            <a:ext cx="2300671" cy="329184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372600" y="4434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Knowledge Bases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2nd edition, now also in English, incorporating what the project learned.</a:t>
            </a:r>
            <a:endParaRPr lang="en-US" sz="1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00800"/>
            <a:ext cx="2286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/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8426E-8400-F165-DDF2-F69C4713C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708E1B8D-6D69-7F7D-494C-F70A0CC98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4D02A1D-8F77-AE8D-1904-B52AB4D52DB0}"/>
              </a:ext>
            </a:extLst>
          </p:cNvPr>
          <p:cNvSpPr txBox="1"/>
          <p:nvPr/>
        </p:nvSpPr>
        <p:spPr>
          <a:xfrm>
            <a:off x="78293" y="697951"/>
            <a:ext cx="21716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Project</a:t>
            </a:r>
            <a:b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Documentation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714268-86B5-CB34-CFEF-660BD949A371}"/>
              </a:ext>
            </a:extLst>
          </p:cNvPr>
          <p:cNvSpPr txBox="1"/>
          <p:nvPr/>
        </p:nvSpPr>
        <p:spPr>
          <a:xfrm>
            <a:off x="475013" y="2274838"/>
            <a:ext cx="114240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Project Digital Twin for Internet Infrastructure</a:t>
            </a:r>
          </a:p>
          <a:p>
            <a:br>
              <a:rPr lang="pt-BR" dirty="0"/>
            </a:br>
            <a:r>
              <a:rPr lang="pt-BR" dirty="0" err="1"/>
              <a:t>Main</a:t>
            </a:r>
            <a:r>
              <a:rPr lang="pt-BR" dirty="0"/>
              <a:t>: </a:t>
            </a:r>
            <a:r>
              <a:rPr lang="pt-BR" dirty="0">
                <a:hlinkClick r:id="rId3"/>
              </a:rPr>
              <a:t>https://github.com/LJuliaoBraga/dtii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English</a:t>
            </a:r>
            <a:r>
              <a:rPr lang="pt-BR" dirty="0"/>
              <a:t>: </a:t>
            </a:r>
            <a:r>
              <a:rPr lang="pt-BR" dirty="0">
                <a:hlinkClick r:id="rId4"/>
              </a:rPr>
              <a:t>https://github.com/LJuliaoBraga/dtii/blob/main/docs/en-us/2026-ProjectDT-II-EN.pdf</a:t>
            </a:r>
            <a:endParaRPr lang="pt-BR" dirty="0"/>
          </a:p>
          <a:p>
            <a:r>
              <a:rPr lang="pt-BR" dirty="0" err="1"/>
              <a:t>Portuguese</a:t>
            </a:r>
            <a:r>
              <a:rPr lang="pt-BR" dirty="0"/>
              <a:t>: </a:t>
            </a:r>
            <a:r>
              <a:rPr lang="pt-BR" dirty="0">
                <a:hlinkClick r:id="rId5"/>
              </a:rPr>
              <a:t>https://github.com/LJuliaoBraga/dtii/blob/main/docs/pt-br/2026-ProjectDT-II-PT.pdf</a:t>
            </a:r>
            <a:endParaRPr lang="pt-BR" dirty="0"/>
          </a:p>
          <a:p>
            <a:br>
              <a:rPr lang="pt-BR" dirty="0"/>
            </a:br>
            <a:r>
              <a:rPr lang="pt-BR" dirty="0"/>
              <a:t>ANMS 2006: </a:t>
            </a:r>
            <a:r>
              <a:rPr lang="pt-BR" dirty="0">
                <a:hlinkClick r:id="rId6"/>
              </a:rPr>
              <a:t>https://github.com/LJuliaoBraga/dtii/blob/main/docs/events/anms%202026/AporesentacaoANMS</a:t>
            </a:r>
            <a:r>
              <a:rPr lang="pt-BR">
                <a:hlinkClick r:id="rId6"/>
              </a:rPr>
              <a:t>.pdf</a:t>
            </a:r>
            <a:r>
              <a:rPr lang="pt-BR"/>
              <a:t> </a:t>
            </a:r>
            <a:endParaRPr lang="pt-BR" dirty="0"/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FC2FB8-A65D-6A63-C30F-CF325389B32F}"/>
              </a:ext>
            </a:extLst>
          </p:cNvPr>
          <p:cNvSpPr txBox="1"/>
          <p:nvPr/>
        </p:nvSpPr>
        <p:spPr>
          <a:xfrm>
            <a:off x="338511" y="6526268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8" name="Slide Number Placeholder 0">
            <a:extLst>
              <a:ext uri="{FF2B5EF4-FFF2-40B4-BE49-F238E27FC236}">
                <a16:creationId xmlns:a16="http://schemas.microsoft.com/office/drawing/2014/main" id="{BA12059E-3406-D20F-9C57-F3406301A595}"/>
              </a:ext>
            </a:extLst>
          </p:cNvPr>
          <p:cNvSpPr txBox="1">
            <a:spLocks/>
          </p:cNvSpPr>
          <p:nvPr/>
        </p:nvSpPr>
        <p:spPr>
          <a:xfrm>
            <a:off x="138001" y="650251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22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249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263CF-1A57-F522-3BC7-CF91DB68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 CGI.br">
            <a:extLst>
              <a:ext uri="{FF2B5EF4-FFF2-40B4-BE49-F238E27FC236}">
                <a16:creationId xmlns:a16="http://schemas.microsoft.com/office/drawing/2014/main" id="{0622C1ED-D9EF-59E1-9BF7-73783F834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9" y="6084125"/>
            <a:ext cx="1057275" cy="6096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C21CDF0-FA0D-4265-4C44-5647DB257467}"/>
              </a:ext>
            </a:extLst>
          </p:cNvPr>
          <p:cNvSpPr txBox="1"/>
          <p:nvPr/>
        </p:nvSpPr>
        <p:spPr>
          <a:xfrm>
            <a:off x="4231707" y="2766951"/>
            <a:ext cx="382559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b="1" dirty="0">
                <a:solidFill>
                  <a:schemeClr val="accent4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5A7D6F3-5BB9-24D1-F6C9-49227AC29054}"/>
              </a:ext>
            </a:extLst>
          </p:cNvPr>
          <p:cNvSpPr txBox="1"/>
          <p:nvPr/>
        </p:nvSpPr>
        <p:spPr>
          <a:xfrm>
            <a:off x="338511" y="6526268"/>
            <a:ext cx="2112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0070C0"/>
                </a:solidFill>
              </a:rPr>
              <a:t>IFSPe, ITA, UFABC, UFRGS, UNICAP</a:t>
            </a:r>
          </a:p>
        </p:txBody>
      </p:sp>
      <p:sp>
        <p:nvSpPr>
          <p:cNvPr id="8" name="Slide Number Placeholder 0">
            <a:extLst>
              <a:ext uri="{FF2B5EF4-FFF2-40B4-BE49-F238E27FC236}">
                <a16:creationId xmlns:a16="http://schemas.microsoft.com/office/drawing/2014/main" id="{2E2CD4A4-2D06-A478-FDC7-46D2B4CCBDC3}"/>
              </a:ext>
            </a:extLst>
          </p:cNvPr>
          <p:cNvSpPr txBox="1">
            <a:spLocks/>
          </p:cNvSpPr>
          <p:nvPr/>
        </p:nvSpPr>
        <p:spPr>
          <a:xfrm>
            <a:off x="138001" y="650251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>
                <a:solidFill>
                  <a:srgbClr val="0070C0"/>
                </a:solidFill>
              </a:rPr>
              <a:pPr algn="l"/>
              <a:t>23</a:t>
            </a:fld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0049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10367</TotalTime>
  <Words>2532</Words>
  <Application>Microsoft Office PowerPoint</Application>
  <PresentationFormat>Widescreen</PresentationFormat>
  <Paragraphs>370</Paragraphs>
  <Slides>23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Why UFO?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MVP Participants</vt:lpstr>
      <vt:lpstr>Apresentação do PowerPoint</vt:lpstr>
      <vt:lpstr>Apresentação do PowerPoint</vt:lpstr>
      <vt:lpstr>Meaning-Driven Regulatory Compliance</vt:lpstr>
      <vt:lpstr>The Digital Twin in Action (Use Case I)</vt:lpstr>
      <vt:lpstr>Responding to a DDoS Attack</vt:lpstr>
      <vt:lpstr>Sequence Flow of the Mitigation</vt:lpstr>
      <vt:lpstr>Why a Semantic Defence?</vt:lpstr>
      <vt:lpstr>Contributions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Juliao Braga</dc:creator>
  <cp:lastModifiedBy>Juliao Braga</cp:lastModifiedBy>
  <cp:revision>50</cp:revision>
  <dcterms:created xsi:type="dcterms:W3CDTF">2026-10-15T12:45:15Z</dcterms:created>
  <dcterms:modified xsi:type="dcterms:W3CDTF">2026-10-22T17:43:58Z</dcterms:modified>
</cp:coreProperties>
</file>